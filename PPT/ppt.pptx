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52"/>
  </p:notesMasterIdLst>
  <p:sldIdLst>
    <p:sldId id="256" r:id="rId2"/>
    <p:sldId id="343" r:id="rId3"/>
    <p:sldId id="257" r:id="rId4"/>
    <p:sldId id="344" r:id="rId5"/>
    <p:sldId id="322" r:id="rId6"/>
    <p:sldId id="345" r:id="rId7"/>
    <p:sldId id="392" r:id="rId8"/>
    <p:sldId id="393" r:id="rId9"/>
    <p:sldId id="394" r:id="rId10"/>
    <p:sldId id="323" r:id="rId11"/>
    <p:sldId id="324" r:id="rId12"/>
    <p:sldId id="325" r:id="rId13"/>
    <p:sldId id="326" r:id="rId14"/>
    <p:sldId id="395" r:id="rId15"/>
    <p:sldId id="427" r:id="rId16"/>
    <p:sldId id="428" r:id="rId17"/>
    <p:sldId id="429" r:id="rId18"/>
    <p:sldId id="430" r:id="rId19"/>
    <p:sldId id="431" r:id="rId20"/>
    <p:sldId id="432" r:id="rId21"/>
    <p:sldId id="433" r:id="rId22"/>
    <p:sldId id="307" r:id="rId23"/>
    <p:sldId id="414" r:id="rId24"/>
    <p:sldId id="331" r:id="rId25"/>
    <p:sldId id="333" r:id="rId26"/>
    <p:sldId id="334" r:id="rId27"/>
    <p:sldId id="359" r:id="rId28"/>
    <p:sldId id="415" r:id="rId29"/>
    <p:sldId id="416" r:id="rId30"/>
    <p:sldId id="417" r:id="rId31"/>
    <p:sldId id="418" r:id="rId32"/>
    <p:sldId id="419" r:id="rId33"/>
    <p:sldId id="420" r:id="rId34"/>
    <p:sldId id="421" r:id="rId35"/>
    <p:sldId id="422" r:id="rId36"/>
    <p:sldId id="360" r:id="rId37"/>
    <p:sldId id="362" r:id="rId38"/>
    <p:sldId id="363" r:id="rId39"/>
    <p:sldId id="408" r:id="rId40"/>
    <p:sldId id="409" r:id="rId41"/>
    <p:sldId id="410" r:id="rId42"/>
    <p:sldId id="411" r:id="rId43"/>
    <p:sldId id="412" r:id="rId44"/>
    <p:sldId id="413" r:id="rId45"/>
    <p:sldId id="424" r:id="rId46"/>
    <p:sldId id="425" r:id="rId47"/>
    <p:sldId id="426" r:id="rId48"/>
    <p:sldId id="372" r:id="rId49"/>
    <p:sldId id="407" r:id="rId50"/>
    <p:sldId id="287"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434" autoAdjust="0"/>
  </p:normalViewPr>
  <p:slideViewPr>
    <p:cSldViewPr snapToGrid="0">
      <p:cViewPr varScale="1">
        <p:scale>
          <a:sx n="74" d="100"/>
          <a:sy n="74" d="100"/>
        </p:scale>
        <p:origin x="54" y="10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CE501F-CD1C-4216-AE69-36E606679034}" type="datetimeFigureOut">
              <a:rPr lang="en-IN" smtClean="0"/>
              <a:t>04-07-2024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0FFE07-7815-44DB-B341-7D7708DAFEF0}" type="slidenum">
              <a:rPr lang="en-IN" smtClean="0"/>
              <a:t>‹#›</a:t>
            </a:fld>
            <a:endParaRPr lang="en-IN"/>
          </a:p>
        </p:txBody>
      </p:sp>
    </p:spTree>
    <p:extLst>
      <p:ext uri="{BB962C8B-B14F-4D97-AF65-F5344CB8AC3E}">
        <p14:creationId xmlns:p14="http://schemas.microsoft.com/office/powerpoint/2010/main" val="177909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AC61B8BA-8C01-4062-BDEE-CF2683840E9A}" type="datetimeFigureOut">
              <a:rPr lang="en-IN" smtClean="0"/>
              <a:t>04-07-2024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39590345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C61B8BA-8C01-4062-BDEE-CF2683840E9A}" type="datetimeFigureOut">
              <a:rPr lang="en-IN" smtClean="0"/>
              <a:t>04-07-2024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26387485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C61B8BA-8C01-4062-BDEE-CF2683840E9A}" type="datetimeFigureOut">
              <a:rPr lang="en-IN" smtClean="0"/>
              <a:t>04-07-2024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247634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AC61B8BA-8C01-4062-BDEE-CF2683840E9A}" type="datetimeFigureOut">
              <a:rPr lang="en-IN" smtClean="0"/>
              <a:t>04-07-2024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19316001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AC61B8BA-8C01-4062-BDEE-CF2683840E9A}" type="datetimeFigureOut">
              <a:rPr lang="en-IN" smtClean="0"/>
              <a:t>04-07-2024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4517884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AC61B8BA-8C01-4062-BDEE-CF2683840E9A}" type="datetimeFigureOut">
              <a:rPr lang="en-IN" smtClean="0"/>
              <a:t>04-07-2024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11786272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61B8BA-8C01-4062-BDEE-CF2683840E9A}" type="datetimeFigureOut">
              <a:rPr lang="en-IN" smtClean="0"/>
              <a:t>04-07-2024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3844702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C61B8BA-8C01-4062-BDEE-CF2683840E9A}" type="datetimeFigureOut">
              <a:rPr lang="en-IN" smtClean="0"/>
              <a:t>04-07-2024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1955398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C61B8BA-8C01-4062-BDEE-CF2683840E9A}" type="datetimeFigureOut">
              <a:rPr lang="en-IN" smtClean="0"/>
              <a:t>04-07-2024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6821641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C61B8BA-8C01-4062-BDEE-CF2683840E9A}" type="datetimeFigureOut">
              <a:rPr lang="en-IN" smtClean="0"/>
              <a:t>04-07-2024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23698014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C61B8BA-8C01-4062-BDEE-CF2683840E9A}" type="datetimeFigureOut">
              <a:rPr lang="en-IN" smtClean="0"/>
              <a:t>04-07-2024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4292316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61B8BA-8C01-4062-BDEE-CF2683840E9A}" type="datetimeFigureOut">
              <a:rPr lang="en-IN" smtClean="0"/>
              <a:t>04-07-2024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A2DE6C-0E8E-4FF2-9EF3-9145EE6F7FF6}" type="slidenum">
              <a:rPr lang="en-IN" smtClean="0"/>
              <a:t>‹#›</a:t>
            </a:fld>
            <a:endParaRPr lang="en-IN"/>
          </a:p>
        </p:txBody>
      </p:sp>
    </p:spTree>
    <p:extLst>
      <p:ext uri="{BB962C8B-B14F-4D97-AF65-F5344CB8AC3E}">
        <p14:creationId xmlns:p14="http://schemas.microsoft.com/office/powerpoint/2010/main" val="2320926326"/>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7373" y="1575808"/>
            <a:ext cx="11658600" cy="2387600"/>
          </a:xfrm>
        </p:spPr>
        <p:txBody>
          <a:bodyPr>
            <a:normAutofit/>
          </a:bodyPr>
          <a:lstStyle/>
          <a:p>
            <a:r>
              <a:rPr lang="en-IN" sz="3600" b="1" dirty="0">
                <a:latin typeface="Times New Roman" panose="02020603050405020304" pitchFamily="18" charset="0"/>
                <a:cs typeface="Times New Roman" panose="02020603050405020304" pitchFamily="18" charset="0"/>
              </a:rPr>
              <a:t>MEDICINAL PLANT IDENTIFICATION USING YOLOV8</a:t>
            </a:r>
            <a:endParaRPr lang="en-IN" sz="36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15004730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45705" y="12697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graphicFrame>
        <p:nvGraphicFramePr>
          <p:cNvPr id="5" name="Table 4"/>
          <p:cNvGraphicFramePr>
            <a:graphicFrameLocks noGrp="1"/>
          </p:cNvGraphicFramePr>
          <p:nvPr>
            <p:extLst>
              <p:ext uri="{D42A27DB-BD31-4B8C-83A1-F6EECF244321}">
                <p14:modId xmlns:p14="http://schemas.microsoft.com/office/powerpoint/2010/main" val="2768866949"/>
              </p:ext>
            </p:extLst>
          </p:nvPr>
        </p:nvGraphicFramePr>
        <p:xfrm>
          <a:off x="477527" y="476517"/>
          <a:ext cx="11036187" cy="5839028"/>
        </p:xfrm>
        <a:graphic>
          <a:graphicData uri="http://schemas.openxmlformats.org/drawingml/2006/table">
            <a:tbl>
              <a:tblPr firstRow="1" bandRow="1">
                <a:tableStyleId>{5940675A-B579-460E-94D1-54222C63F5DA}</a:tableStyleId>
              </a:tblPr>
              <a:tblGrid>
                <a:gridCol w="3678729"/>
                <a:gridCol w="3678729"/>
                <a:gridCol w="3678729"/>
              </a:tblGrid>
              <a:tr h="617371">
                <a:tc>
                  <a:txBody>
                    <a:bodyPr/>
                    <a:lstStyle/>
                    <a:p>
                      <a:pPr marL="0" indent="0">
                        <a:buFont typeface="+mj-lt"/>
                        <a:buNone/>
                      </a:pPr>
                      <a:r>
                        <a:rPr lang="en-US" sz="1800" b="1" dirty="0" smtClean="0">
                          <a:latin typeface="Times New Roman" panose="02020603050405020304" pitchFamily="18" charset="0"/>
                          <a:cs typeface="Times New Roman" panose="02020603050405020304" pitchFamily="18" charset="0"/>
                        </a:rPr>
                        <a:t>ABSTRACT</a:t>
                      </a:r>
                      <a:endParaRPr lang="en-IN" dirty="0"/>
                    </a:p>
                  </a:txBody>
                  <a:tcPr/>
                </a:tc>
                <a:tc>
                  <a:txBody>
                    <a:bodyPr/>
                    <a:lstStyle/>
                    <a:p>
                      <a:pPr marL="0" indent="0">
                        <a:buFont typeface="+mj-lt"/>
                        <a:buNone/>
                      </a:pPr>
                      <a:r>
                        <a:rPr lang="en-IN" sz="1800" b="1" dirty="0" smtClean="0">
                          <a:latin typeface="Times New Roman" panose="02020603050405020304" pitchFamily="18" charset="0"/>
                          <a:cs typeface="Times New Roman" panose="02020603050405020304" pitchFamily="18" charset="0"/>
                        </a:rPr>
                        <a:t>SYSTEM  ARCHITECTURE</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 typeface="+mj-lt"/>
                        <a:buNone/>
                        <a:tabLst/>
                        <a:defRPr/>
                      </a:pPr>
                      <a:r>
                        <a:rPr lang="en-IN" sz="1800" b="1" dirty="0" smtClean="0">
                          <a:latin typeface="Times New Roman" panose="02020603050405020304" pitchFamily="18" charset="0"/>
                          <a:cs typeface="Times New Roman" panose="02020603050405020304" pitchFamily="18" charset="0"/>
                        </a:rPr>
                        <a:t>HARDWARE</a:t>
                      </a:r>
                      <a:r>
                        <a:rPr lang="en-IN" sz="1800" b="1" baseline="0" dirty="0" smtClean="0">
                          <a:latin typeface="Times New Roman" panose="02020603050405020304" pitchFamily="18" charset="0"/>
                          <a:cs typeface="Times New Roman" panose="02020603050405020304" pitchFamily="18" charset="0"/>
                        </a:rPr>
                        <a:t> /SOFTWARE </a:t>
                      </a:r>
                      <a:r>
                        <a:rPr lang="en-IN" sz="1800" b="1" dirty="0" smtClean="0">
                          <a:latin typeface="Times New Roman" panose="02020603050405020304" pitchFamily="18" charset="0"/>
                          <a:cs typeface="Times New Roman" panose="02020603050405020304" pitchFamily="18" charset="0"/>
                        </a:rPr>
                        <a:t>REQUIREMENT </a:t>
                      </a:r>
                      <a:endParaRPr lang="en-IN" dirty="0" smtClean="0"/>
                    </a:p>
                  </a:txBody>
                  <a:tcPr/>
                </a:tc>
              </a:tr>
              <a:tr h="617371">
                <a:tc>
                  <a:txBody>
                    <a:bodyPr/>
                    <a:lstStyle/>
                    <a:p>
                      <a:pPr marL="0" indent="0">
                        <a:buFont typeface="+mj-lt"/>
                        <a:buNone/>
                      </a:pPr>
                      <a:r>
                        <a:rPr lang="en-IN" sz="1800" b="1" dirty="0" smtClean="0">
                          <a:latin typeface="Times New Roman" panose="02020603050405020304" pitchFamily="18" charset="0"/>
                          <a:cs typeface="Times New Roman" panose="02020603050405020304" pitchFamily="18" charset="0"/>
                        </a:rPr>
                        <a:t>DOMAIN INTRODUCTION</a:t>
                      </a:r>
                      <a:endParaRPr lang="en-IN" dirty="0"/>
                    </a:p>
                  </a:txBody>
                  <a:tcPr/>
                </a:tc>
                <a:tc>
                  <a:txBody>
                    <a:bodyPr/>
                    <a:lstStyle/>
                    <a:p>
                      <a:pPr marL="0" indent="0">
                        <a:buFont typeface="+mj-lt"/>
                        <a:buNone/>
                      </a:pPr>
                      <a:r>
                        <a:rPr lang="en-IN" sz="1800" b="1" dirty="0" smtClean="0">
                          <a:latin typeface="Times New Roman" panose="02020603050405020304" pitchFamily="18" charset="0"/>
                          <a:cs typeface="Times New Roman" panose="02020603050405020304" pitchFamily="18" charset="0"/>
                        </a:rPr>
                        <a:t>FLOWCHART</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 typeface="+mj-lt"/>
                        <a:buNone/>
                        <a:tabLst/>
                        <a:defRPr/>
                      </a:pPr>
                      <a:r>
                        <a:rPr lang="en-IN" sz="1800" b="1" dirty="0" smtClean="0">
                          <a:latin typeface="Times New Roman" panose="02020603050405020304" pitchFamily="18" charset="0"/>
                          <a:cs typeface="Times New Roman" panose="02020603050405020304" pitchFamily="18" charset="0"/>
                        </a:rPr>
                        <a:t>SCOPE PROJECT</a:t>
                      </a:r>
                      <a:r>
                        <a:rPr lang="en-IN" sz="1800" dirty="0" smtClean="0">
                          <a:latin typeface="Times New Roman" panose="02020603050405020304" pitchFamily="18" charset="0"/>
                          <a:cs typeface="Times New Roman" panose="02020603050405020304" pitchFamily="18" charset="0"/>
                        </a:rPr>
                        <a:t/>
                      </a:r>
                      <a:br>
                        <a:rPr lang="en-IN" sz="1800" dirty="0" smtClean="0">
                          <a:latin typeface="Times New Roman" panose="02020603050405020304" pitchFamily="18" charset="0"/>
                          <a:cs typeface="Times New Roman" panose="02020603050405020304" pitchFamily="18" charset="0"/>
                        </a:rPr>
                      </a:br>
                      <a:endParaRPr lang="en-IN" dirty="0" smtClean="0"/>
                    </a:p>
                  </a:txBody>
                  <a:tcPr/>
                </a:tc>
              </a:tr>
              <a:tr h="617371">
                <a:tc>
                  <a:txBody>
                    <a:bodyPr/>
                    <a:lstStyle/>
                    <a:p>
                      <a:pPr marL="0" marR="0" indent="0" algn="l" defTabSz="914400" rtl="0" eaLnBrk="1" fontAlgn="auto" latinLnBrk="0" hangingPunct="1">
                        <a:lnSpc>
                          <a:spcPct val="100000"/>
                        </a:lnSpc>
                        <a:spcBef>
                          <a:spcPts val="0"/>
                        </a:spcBef>
                        <a:spcAft>
                          <a:spcPts val="0"/>
                        </a:spcAft>
                        <a:buClrTx/>
                        <a:buSzTx/>
                        <a:buFont typeface="+mj-lt"/>
                        <a:buNone/>
                        <a:tabLst/>
                        <a:defRPr/>
                      </a:pPr>
                      <a:r>
                        <a:rPr lang="en-IN" sz="1800" b="1" dirty="0" smtClean="0">
                          <a:latin typeface="Times New Roman" panose="02020603050405020304" pitchFamily="18" charset="0"/>
                          <a:cs typeface="Times New Roman" panose="02020603050405020304" pitchFamily="18" charset="0"/>
                        </a:rPr>
                        <a:t>INTRODUCTION</a:t>
                      </a:r>
                      <a:endParaRPr lang="en-IN" dirty="0" smtClean="0"/>
                    </a:p>
                    <a:p>
                      <a:pPr marL="0" indent="0">
                        <a:buFont typeface="+mj-lt"/>
                        <a:buNone/>
                      </a:pPr>
                      <a:endParaRPr lang="en-IN" dirty="0"/>
                    </a:p>
                  </a:txBody>
                  <a:tcPr/>
                </a:tc>
                <a:tc>
                  <a:txBody>
                    <a:bodyPr/>
                    <a:lstStyle/>
                    <a:p>
                      <a:pPr marL="0" indent="0">
                        <a:buFont typeface="+mj-lt"/>
                        <a:buNone/>
                      </a:pPr>
                      <a:r>
                        <a:rPr lang="en-IN" sz="1800" b="1" dirty="0" smtClean="0">
                          <a:latin typeface="Times New Roman" panose="02020603050405020304" pitchFamily="18" charset="0"/>
                          <a:cs typeface="Times New Roman" panose="02020603050405020304" pitchFamily="18" charset="0"/>
                        </a:rPr>
                        <a:t>USECASE- DIAGRAM </a:t>
                      </a:r>
                      <a:endParaRPr lang="en-IN" dirty="0"/>
                    </a:p>
                  </a:txBody>
                  <a:tcPr/>
                </a:tc>
                <a:tc>
                  <a:txBody>
                    <a:bodyPr/>
                    <a:lstStyle/>
                    <a:p>
                      <a:pPr marL="0" indent="0">
                        <a:buFont typeface="+mj-lt"/>
                        <a:buNone/>
                      </a:pPr>
                      <a:r>
                        <a:rPr lang="en-IN" sz="1800" b="1" dirty="0" smtClean="0">
                          <a:latin typeface="Times New Roman" panose="02020603050405020304" pitchFamily="18" charset="0"/>
                          <a:cs typeface="Times New Roman" panose="02020603050405020304" pitchFamily="18" charset="0"/>
                        </a:rPr>
                        <a:t>CONCLUSION </a:t>
                      </a:r>
                      <a:endParaRPr lang="en-IN" dirty="0"/>
                    </a:p>
                  </a:txBody>
                  <a:tcPr/>
                </a:tc>
              </a:tr>
              <a:tr h="617371">
                <a:tc>
                  <a:txBody>
                    <a:bodyPr/>
                    <a:lstStyle/>
                    <a:p>
                      <a:pPr marL="0" indent="0">
                        <a:buFont typeface="+mj-lt"/>
                        <a:buNone/>
                      </a:pPr>
                      <a:r>
                        <a:rPr lang="en-IN" sz="1800" b="1" dirty="0" smtClean="0">
                          <a:latin typeface="Times New Roman" panose="02020603050405020304" pitchFamily="18" charset="0"/>
                          <a:cs typeface="Times New Roman" panose="02020603050405020304" pitchFamily="18" charset="0"/>
                        </a:rPr>
                        <a:t>OBJECTIVES</a:t>
                      </a:r>
                      <a:endParaRPr lang="en-IN" dirty="0"/>
                    </a:p>
                  </a:txBody>
                  <a:tcPr/>
                </a:tc>
                <a:tc>
                  <a:txBody>
                    <a:bodyPr/>
                    <a:lstStyle/>
                    <a:p>
                      <a:pPr marL="0" indent="0">
                        <a:buFont typeface="+mj-lt"/>
                        <a:buNone/>
                      </a:pPr>
                      <a:r>
                        <a:rPr lang="en-IN" sz="1800" b="1" dirty="0" smtClean="0">
                          <a:latin typeface="Times New Roman" panose="02020603050405020304" pitchFamily="18" charset="0"/>
                          <a:cs typeface="Times New Roman" panose="02020603050405020304" pitchFamily="18" charset="0"/>
                        </a:rPr>
                        <a:t>ER DIAGRAM </a:t>
                      </a:r>
                      <a:r>
                        <a:rPr lang="en-IN" sz="1800" dirty="0" smtClean="0">
                          <a:latin typeface="Times New Roman" panose="02020603050405020304" pitchFamily="18" charset="0"/>
                          <a:cs typeface="Times New Roman" panose="02020603050405020304" pitchFamily="18" charset="0"/>
                        </a:rPr>
                        <a:t/>
                      </a:r>
                      <a:br>
                        <a:rPr lang="en-IN" sz="1800" dirty="0" smtClean="0">
                          <a:latin typeface="Times New Roman" panose="02020603050405020304" pitchFamily="18" charset="0"/>
                          <a:cs typeface="Times New Roman" panose="02020603050405020304" pitchFamily="18" charset="0"/>
                        </a:rPr>
                      </a:br>
                      <a:endParaRPr lang="en-IN" dirty="0"/>
                    </a:p>
                  </a:txBody>
                  <a:tcPr/>
                </a:tc>
                <a:tc>
                  <a:txBody>
                    <a:bodyPr/>
                    <a:lstStyle/>
                    <a:p>
                      <a:pPr marL="0" indent="0">
                        <a:buFont typeface="+mj-lt"/>
                        <a:buNone/>
                      </a:pPr>
                      <a:r>
                        <a:rPr lang="en-IN" sz="1800" b="1" dirty="0" smtClean="0">
                          <a:latin typeface="Times New Roman" panose="02020603050405020304" pitchFamily="18" charset="0"/>
                          <a:cs typeface="Times New Roman" panose="02020603050405020304" pitchFamily="18" charset="0"/>
                        </a:rPr>
                        <a:t>FUTURE ENCHANCEMENT </a:t>
                      </a:r>
                      <a:endParaRPr lang="en-IN" dirty="0"/>
                    </a:p>
                  </a:txBody>
                  <a:tcPr/>
                </a:tc>
              </a:tr>
              <a:tr h="878212">
                <a:tc>
                  <a:txBody>
                    <a:bodyPr/>
                    <a:lstStyle/>
                    <a:p>
                      <a:pPr marL="0" marR="0" indent="0" algn="l" defTabSz="914400" rtl="0" eaLnBrk="1" fontAlgn="auto" latinLnBrk="0" hangingPunct="1">
                        <a:lnSpc>
                          <a:spcPct val="100000"/>
                        </a:lnSpc>
                        <a:spcBef>
                          <a:spcPts val="0"/>
                        </a:spcBef>
                        <a:spcAft>
                          <a:spcPts val="0"/>
                        </a:spcAft>
                        <a:buClrTx/>
                        <a:buSzTx/>
                        <a:buFont typeface="+mj-lt"/>
                        <a:buNone/>
                        <a:tabLst/>
                        <a:defRPr/>
                      </a:pPr>
                      <a:r>
                        <a:rPr lang="en-IN" sz="1800" b="1" dirty="0" smtClean="0">
                          <a:latin typeface="Times New Roman" panose="02020603050405020304" pitchFamily="18" charset="0"/>
                          <a:cs typeface="Times New Roman" panose="02020603050405020304" pitchFamily="18" charset="0"/>
                        </a:rPr>
                        <a:t>EXISTING SYSTEM</a:t>
                      </a:r>
                    </a:p>
                    <a:p>
                      <a:pPr marL="0" marR="0" indent="0" algn="l" defTabSz="914400" rtl="0" eaLnBrk="1" fontAlgn="auto" latinLnBrk="0" hangingPunct="1">
                        <a:lnSpc>
                          <a:spcPct val="100000"/>
                        </a:lnSpc>
                        <a:spcBef>
                          <a:spcPts val="0"/>
                        </a:spcBef>
                        <a:spcAft>
                          <a:spcPts val="0"/>
                        </a:spcAft>
                        <a:buClrTx/>
                        <a:buSzTx/>
                        <a:buFont typeface="+mj-lt"/>
                        <a:buNone/>
                        <a:tabLst/>
                        <a:defRPr/>
                      </a:pPr>
                      <a:endParaRPr lang="en-IN"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 typeface="+mj-lt"/>
                        <a:buNone/>
                        <a:tabLst/>
                        <a:defRPr/>
                      </a:pPr>
                      <a:r>
                        <a:rPr lang="en-IN" sz="1800" b="1" dirty="0" smtClean="0">
                          <a:latin typeface="Times New Roman" panose="02020603050405020304" pitchFamily="18" charset="0"/>
                          <a:cs typeface="Times New Roman" panose="02020603050405020304" pitchFamily="18" charset="0"/>
                        </a:rPr>
                        <a:t>SEQUENCE DIAGRAM</a:t>
                      </a:r>
                      <a:endParaRPr lang="en-IN" sz="1800" dirty="0" smtClean="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 typeface="+mj-lt"/>
                        <a:buNone/>
                        <a:tabLst/>
                        <a:defRPr/>
                      </a:pPr>
                      <a:r>
                        <a:rPr lang="en-IN" sz="1800" b="1" dirty="0" smtClean="0">
                          <a:latin typeface="Times New Roman" panose="02020603050405020304" pitchFamily="18" charset="0"/>
                          <a:cs typeface="Times New Roman" panose="02020603050405020304" pitchFamily="18" charset="0"/>
                        </a:rPr>
                        <a:t>PROBLEM STATEMENT</a:t>
                      </a:r>
                      <a:endParaRPr lang="en-IN" dirty="0" smtClean="0"/>
                    </a:p>
                  </a:txBody>
                  <a:tcPr/>
                </a:tc>
              </a:tr>
              <a:tr h="644072">
                <a:tc>
                  <a:txBody>
                    <a:bodyPr/>
                    <a:lstStyle/>
                    <a:p>
                      <a:pPr marL="0" indent="0">
                        <a:buFont typeface="+mj-lt"/>
                        <a:buNone/>
                      </a:pPr>
                      <a:r>
                        <a:rPr lang="en-US" sz="1800" b="1" dirty="0" smtClean="0">
                          <a:latin typeface="Times New Roman" panose="02020603050405020304" pitchFamily="18" charset="0"/>
                          <a:cs typeface="Times New Roman" panose="02020603050405020304" pitchFamily="18" charset="0"/>
                        </a:rPr>
                        <a:t>DISADAVANTAGE</a:t>
                      </a:r>
                      <a:endParaRPr lang="en-IN" dirty="0"/>
                    </a:p>
                  </a:txBody>
                  <a:tcPr/>
                </a:tc>
                <a:tc>
                  <a:txBody>
                    <a:bodyPr/>
                    <a:lstStyle/>
                    <a:p>
                      <a:pPr marL="0" indent="0">
                        <a:buFont typeface="+mj-lt"/>
                        <a:buNone/>
                      </a:pPr>
                      <a:r>
                        <a:rPr lang="en-IN" sz="1800" b="1" dirty="0" smtClean="0">
                          <a:latin typeface="Times New Roman" panose="02020603050405020304" pitchFamily="18" charset="0"/>
                          <a:cs typeface="Times New Roman" panose="02020603050405020304" pitchFamily="18" charset="0"/>
                        </a:rPr>
                        <a:t>MODULES </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 typeface="+mj-lt"/>
                        <a:buNone/>
                        <a:tabLst/>
                        <a:defRPr/>
                      </a:pPr>
                      <a:r>
                        <a:rPr lang="en-US" sz="1800" b="1" dirty="0" smtClean="0">
                          <a:latin typeface="Times New Roman" panose="02020603050405020304" pitchFamily="18" charset="0"/>
                          <a:cs typeface="Times New Roman" panose="02020603050405020304" pitchFamily="18" charset="0"/>
                        </a:rPr>
                        <a:t>SAMPLE</a:t>
                      </a:r>
                      <a:r>
                        <a:rPr lang="en-US" sz="1800" b="1" baseline="0" dirty="0" smtClean="0">
                          <a:latin typeface="Times New Roman" panose="02020603050405020304" pitchFamily="18" charset="0"/>
                          <a:cs typeface="Times New Roman" panose="02020603050405020304" pitchFamily="18" charset="0"/>
                        </a:rPr>
                        <a:t> CODE</a:t>
                      </a:r>
                      <a:endParaRPr lang="en-IN" dirty="0" smtClean="0"/>
                    </a:p>
                    <a:p>
                      <a:pPr marL="0" indent="0">
                        <a:buFont typeface="+mj-lt"/>
                        <a:buNone/>
                      </a:pPr>
                      <a:endParaRPr lang="en-IN" dirty="0"/>
                    </a:p>
                  </a:txBody>
                  <a:tcPr/>
                </a:tc>
              </a:tr>
              <a:tr h="878212">
                <a:tc>
                  <a:txBody>
                    <a:bodyPr/>
                    <a:lstStyle/>
                    <a:p>
                      <a:pPr marL="0" marR="0" indent="0" algn="l" defTabSz="914400" rtl="0" eaLnBrk="1" fontAlgn="auto" latinLnBrk="0" hangingPunct="1">
                        <a:lnSpc>
                          <a:spcPct val="100000"/>
                        </a:lnSpc>
                        <a:spcBef>
                          <a:spcPts val="0"/>
                        </a:spcBef>
                        <a:spcAft>
                          <a:spcPts val="0"/>
                        </a:spcAft>
                        <a:buClrTx/>
                        <a:buSzTx/>
                        <a:buFont typeface="+mj-lt"/>
                        <a:buNone/>
                        <a:tabLst/>
                        <a:defRPr/>
                      </a:pPr>
                      <a:r>
                        <a:rPr lang="en-IN" sz="1800" b="1" dirty="0" smtClean="0">
                          <a:latin typeface="Times New Roman" panose="02020603050405020304" pitchFamily="18" charset="0"/>
                          <a:cs typeface="Times New Roman" panose="02020603050405020304" pitchFamily="18" charset="0"/>
                        </a:rPr>
                        <a:t>PROPOSED SYSTEM</a:t>
                      </a:r>
                      <a:r>
                        <a:rPr lang="en-IN" sz="1800" dirty="0" smtClean="0">
                          <a:latin typeface="Times New Roman" panose="02020603050405020304" pitchFamily="18" charset="0"/>
                          <a:cs typeface="Times New Roman" panose="02020603050405020304" pitchFamily="18" charset="0"/>
                        </a:rPr>
                        <a:t/>
                      </a:r>
                      <a:br>
                        <a:rPr lang="en-IN" sz="1800" dirty="0" smtClean="0">
                          <a:latin typeface="Times New Roman" panose="02020603050405020304" pitchFamily="18" charset="0"/>
                          <a:cs typeface="Times New Roman" panose="02020603050405020304" pitchFamily="18" charset="0"/>
                        </a:rPr>
                      </a:br>
                      <a:endParaRPr lang="en-IN" dirty="0" smtClean="0"/>
                    </a:p>
                  </a:txBody>
                  <a:tcPr/>
                </a:tc>
                <a:tc>
                  <a:txBody>
                    <a:bodyPr/>
                    <a:lstStyle/>
                    <a:p>
                      <a:pPr marL="0" indent="0">
                        <a:buFont typeface="+mj-lt"/>
                        <a:buNone/>
                      </a:pPr>
                      <a:r>
                        <a:rPr lang="en-IN" sz="1800" b="1" dirty="0" smtClean="0">
                          <a:latin typeface="Times New Roman" panose="02020603050405020304" pitchFamily="18" charset="0"/>
                          <a:cs typeface="Times New Roman" panose="02020603050405020304" pitchFamily="18" charset="0"/>
                        </a:rPr>
                        <a:t>MODULES DESCRIPTION </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 typeface="+mj-lt"/>
                        <a:buNone/>
                        <a:tabLst/>
                        <a:defRPr/>
                      </a:pPr>
                      <a:r>
                        <a:rPr lang="en-US" sz="1800" b="1" dirty="0" smtClean="0">
                          <a:latin typeface="Times New Roman" panose="02020603050405020304" pitchFamily="18" charset="0"/>
                          <a:cs typeface="Times New Roman" panose="02020603050405020304" pitchFamily="18" charset="0"/>
                        </a:rPr>
                        <a:t>SAMPLE</a:t>
                      </a:r>
                      <a:r>
                        <a:rPr lang="en-US" sz="1800" b="1" baseline="0" dirty="0" smtClean="0">
                          <a:latin typeface="Times New Roman" panose="02020603050405020304" pitchFamily="18" charset="0"/>
                          <a:cs typeface="Times New Roman" panose="02020603050405020304" pitchFamily="18" charset="0"/>
                        </a:rPr>
                        <a:t> SCREENSHOT </a:t>
                      </a:r>
                      <a:endParaRPr lang="en-IN" dirty="0" smtClean="0"/>
                    </a:p>
                    <a:p>
                      <a:pPr marL="0" marR="0" indent="0" algn="l" defTabSz="914400" rtl="0" eaLnBrk="1" fontAlgn="auto" latinLnBrk="0" hangingPunct="1">
                        <a:lnSpc>
                          <a:spcPct val="100000"/>
                        </a:lnSpc>
                        <a:spcBef>
                          <a:spcPts val="0"/>
                        </a:spcBef>
                        <a:spcAft>
                          <a:spcPts val="0"/>
                        </a:spcAft>
                        <a:buClrTx/>
                        <a:buSzTx/>
                        <a:buFont typeface="+mj-lt"/>
                        <a:buNone/>
                        <a:tabLst/>
                        <a:defRPr/>
                      </a:pPr>
                      <a:endParaRPr lang="en-IN" dirty="0" smtClean="0"/>
                    </a:p>
                  </a:txBody>
                  <a:tcPr/>
                </a:tc>
              </a:tr>
              <a:tr h="878212">
                <a:tc>
                  <a:txBody>
                    <a:bodyPr/>
                    <a:lstStyle/>
                    <a:p>
                      <a:pPr marL="0" marR="0" indent="0" algn="l" defTabSz="914400" rtl="0" eaLnBrk="1" fontAlgn="auto" latinLnBrk="0" hangingPunct="1">
                        <a:lnSpc>
                          <a:spcPct val="100000"/>
                        </a:lnSpc>
                        <a:spcBef>
                          <a:spcPts val="0"/>
                        </a:spcBef>
                        <a:spcAft>
                          <a:spcPts val="0"/>
                        </a:spcAft>
                        <a:buClrTx/>
                        <a:buSzTx/>
                        <a:buFont typeface="+mj-lt"/>
                        <a:buNone/>
                        <a:tabLst/>
                        <a:defRPr/>
                      </a:pPr>
                      <a:r>
                        <a:rPr lang="en-US" sz="1800" b="1" dirty="0" smtClean="0">
                          <a:latin typeface="Times New Roman" panose="02020603050405020304" pitchFamily="18" charset="0"/>
                          <a:cs typeface="Times New Roman" panose="02020603050405020304" pitchFamily="18" charset="0"/>
                        </a:rPr>
                        <a:t>ADAVANTAGE</a:t>
                      </a:r>
                      <a:endParaRPr lang="en-IN" dirty="0" smtClean="0"/>
                    </a:p>
                  </a:txBody>
                  <a:tcPr/>
                </a:tc>
                <a:tc>
                  <a:txBody>
                    <a:bodyPr/>
                    <a:lstStyle/>
                    <a:p>
                      <a:pPr marL="0" marR="0" indent="0" algn="l" defTabSz="914400" rtl="0" eaLnBrk="1" fontAlgn="auto" latinLnBrk="0" hangingPunct="1">
                        <a:lnSpc>
                          <a:spcPct val="100000"/>
                        </a:lnSpc>
                        <a:spcBef>
                          <a:spcPts val="0"/>
                        </a:spcBef>
                        <a:spcAft>
                          <a:spcPts val="0"/>
                        </a:spcAft>
                        <a:buClrTx/>
                        <a:buSzTx/>
                        <a:buFont typeface="+mj-lt"/>
                        <a:buNone/>
                        <a:tabLst/>
                        <a:defRPr/>
                      </a:pPr>
                      <a:r>
                        <a:rPr lang="en-IN" sz="1800" b="1" dirty="0" smtClean="0">
                          <a:latin typeface="Times New Roman" panose="02020603050405020304" pitchFamily="18" charset="0"/>
                          <a:cs typeface="Times New Roman" panose="02020603050405020304" pitchFamily="18" charset="0"/>
                        </a:rPr>
                        <a:t>LITECTURE SURVEY(1-5) </a:t>
                      </a:r>
                      <a:endParaRPr lang="en-IN" dirty="0" smtClean="0"/>
                    </a:p>
                  </a:txBody>
                  <a:tcPr/>
                </a:tc>
                <a:tc>
                  <a:txBody>
                    <a:bodyPr/>
                    <a:lstStyle/>
                    <a:p>
                      <a:pPr marL="0" indent="0">
                        <a:buFont typeface="+mj-lt"/>
                        <a:buNone/>
                      </a:pPr>
                      <a:r>
                        <a:rPr lang="en-US" sz="1800" b="1" dirty="0" smtClean="0">
                          <a:latin typeface="Times New Roman" panose="02020603050405020304" pitchFamily="18" charset="0"/>
                          <a:cs typeface="Times New Roman" panose="02020603050405020304" pitchFamily="18" charset="0"/>
                        </a:rPr>
                        <a:t>REFERENCE</a:t>
                      </a:r>
                      <a:endParaRPr lang="en-IN" dirty="0"/>
                    </a:p>
                  </a:txBody>
                  <a:tcPr/>
                </a:tc>
              </a:tr>
            </a:tbl>
          </a:graphicData>
        </a:graphic>
      </p:graphicFrame>
    </p:spTree>
    <p:extLst>
      <p:ext uri="{BB962C8B-B14F-4D97-AF65-F5344CB8AC3E}">
        <p14:creationId xmlns:p14="http://schemas.microsoft.com/office/powerpoint/2010/main" val="35617258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 name="Title 1"/>
          <p:cNvSpPr>
            <a:spLocks noGrp="1"/>
          </p:cNvSpPr>
          <p:nvPr>
            <p:ph type="title"/>
          </p:nvPr>
        </p:nvSpPr>
        <p:spPr>
          <a:xfrm>
            <a:off x="842963" y="242888"/>
            <a:ext cx="10515600" cy="1325563"/>
          </a:xfrm>
        </p:spPr>
        <p:txBody>
          <a:bodyPr>
            <a:normAutofit/>
          </a:bodyPr>
          <a:lstStyle/>
          <a:p>
            <a:pPr algn="ctr"/>
            <a:r>
              <a:rPr lang="en-US" sz="3600" b="1" dirty="0" smtClean="0">
                <a:latin typeface="Times New Roman" panose="02020603050405020304" pitchFamily="18" charset="0"/>
                <a:cs typeface="Times New Roman" panose="02020603050405020304" pitchFamily="18" charset="0"/>
              </a:rPr>
              <a:t>ABSTRACT</a:t>
            </a:r>
            <a:endParaRPr lang="en-IN"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28034" y="1352281"/>
            <a:ext cx="11050074" cy="5277119"/>
          </a:xfrm>
        </p:spPr>
        <p:txBody>
          <a:bodyPr>
            <a:noAutofit/>
          </a:bodyPr>
          <a:lstStyle/>
          <a:p>
            <a:pPr lvl="0" algn="just">
              <a:lnSpc>
                <a:spcPct val="150000"/>
              </a:lnSpc>
              <a:buFont typeface="Wingdings" panose="05000000000000000000" pitchFamily="2" charset="2"/>
              <a:buChar char="§"/>
            </a:pPr>
            <a:r>
              <a:rPr lang="en-IN" sz="1800" dirty="0">
                <a:latin typeface="Times New Roman" panose="02020603050405020304" pitchFamily="18" charset="0"/>
                <a:cs typeface="Times New Roman" panose="02020603050405020304" pitchFamily="18" charset="0"/>
              </a:rPr>
              <a:t>In preserving the physical and psychological state of persons, </a:t>
            </a:r>
            <a:r>
              <a:rPr lang="en-IN" sz="1800" dirty="0" err="1">
                <a:latin typeface="Times New Roman" panose="02020603050405020304" pitchFamily="18" charset="0"/>
                <a:cs typeface="Times New Roman" panose="02020603050405020304" pitchFamily="18" charset="0"/>
              </a:rPr>
              <a:t>ayurvedic</a:t>
            </a:r>
            <a:r>
              <a:rPr lang="en-IN" sz="1800" dirty="0">
                <a:latin typeface="Times New Roman" panose="02020603050405020304" pitchFamily="18" charset="0"/>
                <a:cs typeface="Times New Roman" panose="02020603050405020304" pitchFamily="18" charset="0"/>
              </a:rPr>
              <a:t> medicines have an important role. The research aims to identify indigenous </a:t>
            </a:r>
            <a:r>
              <a:rPr lang="en-IN" sz="1800" dirty="0" err="1">
                <a:latin typeface="Times New Roman" panose="02020603050405020304" pitchFamily="18" charset="0"/>
                <a:cs typeface="Times New Roman" panose="02020603050405020304" pitchFamily="18" charset="0"/>
              </a:rPr>
              <a:t>ayurvedic</a:t>
            </a:r>
            <a:r>
              <a:rPr lang="en-IN" sz="1800" dirty="0">
                <a:latin typeface="Times New Roman" panose="02020603050405020304" pitchFamily="18" charset="0"/>
                <a:cs typeface="Times New Roman" panose="02020603050405020304" pitchFamily="18" charset="0"/>
              </a:rPr>
              <a:t> medicinal plant species using deep learning techniques. The social relevance of the proposal is so high as it would solve the problems of a wide range of stakeholders like physicians, pharmacy, government, and public. The identification of rare plant species may lead to a significant impact on the research associated with medical and other related areas. Another application can be the identification of plant species in forest and remote areas, where access to humans is limited. In such cases, the image of a particular plant species may be captured using drones and further </a:t>
            </a:r>
            <a:r>
              <a:rPr lang="en-IN" sz="1800" dirty="0" err="1">
                <a:latin typeface="Times New Roman" panose="02020603050405020304" pitchFamily="18" charset="0"/>
                <a:cs typeface="Times New Roman" panose="02020603050405020304" pitchFamily="18" charset="0"/>
              </a:rPr>
              <a:t>analyzed</a:t>
            </a:r>
            <a:r>
              <a:rPr lang="en-IN" sz="1800" dirty="0">
                <a:latin typeface="Times New Roman" panose="02020603050405020304" pitchFamily="18" charset="0"/>
                <a:cs typeface="Times New Roman" panose="02020603050405020304" pitchFamily="18" charset="0"/>
              </a:rPr>
              <a:t>. Currently, a lot of research work has been going on in the area of plant species identification using machine learning algorithms. The performance of Convolutional Neural Network (CNN), and </a:t>
            </a:r>
            <a:r>
              <a:rPr lang="en-IN" sz="1800" dirty="0" err="1">
                <a:latin typeface="Times New Roman" panose="02020603050405020304" pitchFamily="18" charset="0"/>
                <a:cs typeface="Times New Roman" panose="02020603050405020304" pitchFamily="18" charset="0"/>
              </a:rPr>
              <a:t>pretrained</a:t>
            </a:r>
            <a:r>
              <a:rPr lang="en-IN" sz="1800" dirty="0">
                <a:latin typeface="Times New Roman" panose="02020603050405020304" pitchFamily="18" charset="0"/>
                <a:cs typeface="Times New Roman" panose="02020603050405020304" pitchFamily="18" charset="0"/>
              </a:rPr>
              <a:t> models VGG16, and VGG19 has been compared for leaf identification problem. The dataset proposed in this research work contains indigenous medicinal plants of Kerala. The dataset consists of leaf images of 64 medicinal plants. CNN obtained a classification accuracy of 95.79%. VGG16 and VGG19 achieve an </a:t>
            </a:r>
            <a:r>
              <a:rPr lang="en-IN" sz="1800" dirty="0" smtClean="0">
                <a:latin typeface="Times New Roman" panose="02020603050405020304" pitchFamily="18" charset="0"/>
                <a:cs typeface="Times New Roman" panose="02020603050405020304" pitchFamily="18" charset="0"/>
              </a:rPr>
              <a:t>accuracy </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03078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1463" y="1825624"/>
            <a:ext cx="11658600" cy="4803775"/>
          </a:xfrm>
        </p:spPr>
        <p:txBody>
          <a:bodyPr>
            <a:normAutofit/>
          </a:bodyPr>
          <a:lstStyle/>
          <a:p>
            <a:pPr algn="just">
              <a:lnSpc>
                <a:spcPct val="16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It is a method of protecting information and communications through the use of codes, so that only those for whom the information is intended can read and process it. </a:t>
            </a:r>
          </a:p>
          <a:p>
            <a:pPr algn="just">
              <a:lnSpc>
                <a:spcPct val="16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There are two types of methods used for  processing namely,</a:t>
            </a:r>
          </a:p>
          <a:p>
            <a:pPr lvl="2" algn="just">
              <a:lnSpc>
                <a:spcPct val="160000"/>
              </a:lnSpc>
              <a:buClr>
                <a:schemeClr val="accent1"/>
              </a:buClr>
              <a:buSzPct val="70000"/>
              <a:buFont typeface="Wingdings" panose="05000000000000000000" pitchFamily="2" charset="2"/>
              <a:buChar char="§"/>
            </a:pPr>
            <a:r>
              <a:rPr lang="en-US" dirty="0">
                <a:latin typeface="Times New Roman" pitchFamily="18" charset="0"/>
                <a:cs typeface="Times New Roman" pitchFamily="18" charset="0"/>
              </a:rPr>
              <a:t>Image processing</a:t>
            </a:r>
          </a:p>
          <a:p>
            <a:pPr lvl="2" algn="just">
              <a:lnSpc>
                <a:spcPct val="160000"/>
              </a:lnSpc>
              <a:buClr>
                <a:schemeClr val="accent1"/>
              </a:buClr>
              <a:buSzPct val="70000"/>
              <a:buFont typeface="Wingdings" panose="05000000000000000000" pitchFamily="2" charset="2"/>
              <a:buChar char="§"/>
            </a:pPr>
            <a:r>
              <a:rPr lang="en-US" dirty="0">
                <a:latin typeface="Times New Roman" pitchFamily="18" charset="0"/>
                <a:cs typeface="Times New Roman" pitchFamily="18" charset="0"/>
              </a:rPr>
              <a:t>Data  processing</a:t>
            </a:r>
            <a:endParaRPr lang="en-IN" dirty="0">
              <a:latin typeface="Times New Roman" pitchFamily="18" charset="0"/>
              <a:cs typeface="Times New Roman" pitchFamily="18" charset="0"/>
            </a:endParaRPr>
          </a:p>
          <a:p>
            <a:pPr algn="just">
              <a:lnSpc>
                <a:spcPct val="160000"/>
              </a:lnSpc>
              <a:buFont typeface="Wingdings" panose="05000000000000000000" pitchFamily="2" charset="2"/>
              <a:buChar char="§"/>
            </a:pPr>
            <a:r>
              <a:rPr lang="en-IN" sz="2000" dirty="0">
                <a:latin typeface="Times New Roman" panose="02020603050405020304" pitchFamily="18" charset="0"/>
                <a:ea typeface="Tahoma" panose="020B0604030504040204" pitchFamily="34" charset="0"/>
                <a:cs typeface="Times New Roman" panose="02020603050405020304" pitchFamily="18" charset="0"/>
              </a:rPr>
              <a:t>The information obtained from Security processing is hopefully both new and useful.</a:t>
            </a:r>
            <a:endParaRPr lang="en-US" sz="2000" dirty="0">
              <a:latin typeface="Times New Roman" panose="02020603050405020304" pitchFamily="18" charset="0"/>
              <a:ea typeface="Tahoma" panose="020B0604030504040204" pitchFamily="34" charset="0"/>
              <a:cs typeface="Times New Roman" panose="02020603050405020304" pitchFamily="18" charset="0"/>
            </a:endParaRPr>
          </a:p>
          <a:p>
            <a:pPr>
              <a:lnSpc>
                <a:spcPct val="150000"/>
              </a:lnSpc>
              <a:buFont typeface="Wingdings" panose="05000000000000000000" pitchFamily="2" charset="2"/>
              <a:buChar char="q"/>
            </a:pPr>
            <a:endParaRPr lang="en-IN" sz="1800" dirty="0">
              <a:latin typeface="Times New Roman" panose="02020603050405020304" pitchFamily="18" charset="0"/>
              <a:cs typeface="Times New Roman" panose="02020603050405020304" pitchFamily="18" charset="0"/>
            </a:endParaRPr>
          </a:p>
        </p:txBody>
      </p:sp>
      <p:sp>
        <p:nvSpPr>
          <p:cNvPr id="4" name="Title 1"/>
          <p:cNvSpPr>
            <a:spLocks noGrp="1"/>
          </p:cNvSpPr>
          <p:nvPr>
            <p:ph type="title"/>
          </p:nvPr>
        </p:nvSpPr>
        <p:spPr>
          <a:xfrm>
            <a:off x="842963" y="500060"/>
            <a:ext cx="10515600" cy="1325563"/>
          </a:xfrm>
        </p:spPr>
        <p:txBody>
          <a:bodyPr>
            <a:normAutofit/>
          </a:bodyPr>
          <a:lstStyle/>
          <a:p>
            <a:pPr algn="ctr"/>
            <a:r>
              <a:rPr lang="en-IN" sz="3600" b="1" dirty="0" smtClean="0">
                <a:latin typeface="Times New Roman" panose="02020603050405020304" pitchFamily="18" charset="0"/>
                <a:cs typeface="Times New Roman" panose="02020603050405020304" pitchFamily="18" charset="0"/>
              </a:rPr>
              <a:t>DOMAIN INTRODUCTION</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5" name="Rectangle 4"/>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71526272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600" b="1" dirty="0">
                <a:latin typeface="Times New Roman" panose="02020603050405020304" pitchFamily="18" charset="0"/>
                <a:cs typeface="Times New Roman" panose="02020603050405020304" pitchFamily="18" charset="0"/>
              </a:rPr>
              <a:t>INTRODUCTION</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11173" y="1210614"/>
            <a:ext cx="11618890" cy="4773166"/>
          </a:xfrm>
        </p:spPr>
        <p:txBody>
          <a:bodyPr>
            <a:noAutofit/>
          </a:bodyPr>
          <a:lstStyle/>
          <a:p>
            <a:pPr algn="just">
              <a:lnSpc>
                <a:spcPct val="150000"/>
              </a:lnSpc>
              <a:buFont typeface="Wingdings" panose="05000000000000000000" pitchFamily="2" charset="2"/>
              <a:buChar char="§"/>
            </a:pPr>
            <a:r>
              <a:rPr lang="en-IN" sz="1800" dirty="0">
                <a:latin typeface="Times New Roman" panose="02020603050405020304" pitchFamily="18" charset="0"/>
                <a:cs typeface="Times New Roman" panose="02020603050405020304" pitchFamily="18" charset="0"/>
              </a:rPr>
              <a:t>Leaves being the most sensitive part of plants show disease symptoms at the earliest. The crops need to be monitored against diseases from the very first stage of their life-cycle to the time they are ready to be harvested. </a:t>
            </a:r>
          </a:p>
          <a:p>
            <a:pPr algn="just">
              <a:lnSpc>
                <a:spcPct val="150000"/>
              </a:lnSpc>
              <a:buFont typeface="Wingdings" panose="05000000000000000000" pitchFamily="2" charset="2"/>
              <a:buChar char="§"/>
            </a:pPr>
            <a:r>
              <a:rPr lang="en-IN" sz="1800" dirty="0">
                <a:latin typeface="Times New Roman" panose="02020603050405020304" pitchFamily="18" charset="0"/>
                <a:cs typeface="Times New Roman" panose="02020603050405020304" pitchFamily="18" charset="0"/>
              </a:rPr>
              <a:t>Initially,  the  method  used  to  monitor  the  plants  from diseases was the traditional naked eye observation that is a time-consuming  technique  which  requires  experts  to manually  monitor  the  crop  fields. </a:t>
            </a:r>
          </a:p>
          <a:p>
            <a:pPr algn="just">
              <a:lnSpc>
                <a:spcPct val="150000"/>
              </a:lnSpc>
              <a:buFont typeface="Wingdings" panose="05000000000000000000" pitchFamily="2" charset="2"/>
              <a:buChar char="§"/>
            </a:pPr>
            <a:r>
              <a:rPr lang="en-IN" sz="1800" dirty="0">
                <a:latin typeface="Times New Roman" panose="02020603050405020304" pitchFamily="18" charset="0"/>
                <a:cs typeface="Times New Roman" panose="02020603050405020304" pitchFamily="18" charset="0"/>
              </a:rPr>
              <a:t> In the  recent  years,  a number  of  techniques  have  been  applied  to  develop automatic  and  semi-automatic  plant  disease  detection systems  and  automatic  detection  of  the  diseases  by  just seeing the symptoms on the plant leaves makes it easier as well as cheaper. </a:t>
            </a:r>
          </a:p>
          <a:p>
            <a:pPr algn="just">
              <a:lnSpc>
                <a:spcPct val="150000"/>
              </a:lnSpc>
              <a:buFont typeface="Wingdings" panose="05000000000000000000" pitchFamily="2" charset="2"/>
              <a:buChar char="§"/>
            </a:pPr>
            <a:r>
              <a:rPr lang="en-IN" sz="1800" dirty="0">
                <a:latin typeface="Times New Roman" panose="02020603050405020304" pitchFamily="18" charset="0"/>
                <a:cs typeface="Times New Roman" panose="02020603050405020304" pitchFamily="18" charset="0"/>
              </a:rPr>
              <a:t>These systems  have so  far resulted to  be fast,  inexpensive  and  more  accurate  than  the  traditional method of manual observation by farmers   In most of the cases disease  symptoms are  seen on  the  leaves,  stem  and  fruit.  </a:t>
            </a:r>
          </a:p>
          <a:p>
            <a:pPr algn="just">
              <a:lnSpc>
                <a:spcPct val="150000"/>
              </a:lnSpc>
              <a:buFont typeface="Wingdings" panose="05000000000000000000" pitchFamily="2" charset="2"/>
              <a:buChar char="§"/>
            </a:pPr>
            <a:r>
              <a:rPr lang="en-IN" sz="1800" dirty="0">
                <a:latin typeface="Times New Roman" panose="02020603050405020304" pitchFamily="18" charset="0"/>
                <a:cs typeface="Times New Roman" panose="02020603050405020304" pitchFamily="18" charset="0"/>
              </a:rPr>
              <a:t>The plant leaf for the detection of disease is considered which shows the disease symptoms. </a:t>
            </a:r>
            <a:endParaRPr lang="en-US" sz="1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20321790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600" b="1" dirty="0" smtClean="0">
                <a:latin typeface="Times New Roman" panose="02020603050405020304" pitchFamily="18" charset="0"/>
                <a:cs typeface="Times New Roman" panose="02020603050405020304" pitchFamily="18" charset="0"/>
              </a:rPr>
              <a:t>OBJECTIVES</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lvl="0" algn="just">
              <a:lnSpc>
                <a:spcPct val="150000"/>
              </a:lnSpc>
            </a:pPr>
            <a:r>
              <a:rPr lang="en-US" sz="1800" dirty="0">
                <a:latin typeface="Times New Roman" panose="02020603050405020304" pitchFamily="18" charset="0"/>
                <a:cs typeface="Times New Roman" panose="02020603050405020304" pitchFamily="18" charset="0"/>
              </a:rPr>
              <a:t>The main objective of our project is </a:t>
            </a:r>
            <a:r>
              <a:rPr lang="en-US" sz="1800" dirty="0" smtClean="0">
                <a:latin typeface="Times New Roman" panose="02020603050405020304" pitchFamily="18" charset="0"/>
                <a:cs typeface="Times New Roman" panose="02020603050405020304" pitchFamily="18" charset="0"/>
              </a:rPr>
              <a:t>Medicinal plant Detection </a:t>
            </a:r>
            <a:r>
              <a:rPr lang="en-US" sz="1800" dirty="0">
                <a:latin typeface="Times New Roman" panose="02020603050405020304" pitchFamily="18" charset="0"/>
                <a:cs typeface="Times New Roman" panose="02020603050405020304" pitchFamily="18" charset="0"/>
              </a:rPr>
              <a:t>and Classification</a:t>
            </a:r>
            <a:endParaRPr lang="en-IN" sz="1800" dirty="0">
              <a:latin typeface="Times New Roman" panose="02020603050405020304" pitchFamily="18" charset="0"/>
              <a:cs typeface="Times New Roman" panose="02020603050405020304" pitchFamily="18" charset="0"/>
            </a:endParaRPr>
          </a:p>
          <a:p>
            <a:pPr lvl="0" algn="just">
              <a:lnSpc>
                <a:spcPct val="150000"/>
              </a:lnSpc>
            </a:pPr>
            <a:r>
              <a:rPr lang="en-US" sz="1800" dirty="0">
                <a:latin typeface="Times New Roman" panose="02020603050405020304" pitchFamily="18" charset="0"/>
                <a:cs typeface="Times New Roman" panose="02020603050405020304" pitchFamily="18" charset="0"/>
              </a:rPr>
              <a:t>To enhance the performance of the earliest possible prediction.</a:t>
            </a:r>
            <a:endParaRPr lang="en-IN" sz="1800" dirty="0">
              <a:latin typeface="Times New Roman" panose="02020603050405020304" pitchFamily="18" charset="0"/>
              <a:cs typeface="Times New Roman" panose="02020603050405020304" pitchFamily="18" charset="0"/>
            </a:endParaRPr>
          </a:p>
          <a:p>
            <a:pPr lvl="0" algn="just">
              <a:lnSpc>
                <a:spcPct val="150000"/>
              </a:lnSpc>
            </a:pPr>
            <a:r>
              <a:rPr lang="en-US" sz="1800" dirty="0">
                <a:latin typeface="Times New Roman" panose="02020603050405020304" pitchFamily="18" charset="0"/>
                <a:cs typeface="Times New Roman" panose="02020603050405020304" pitchFamily="18" charset="0"/>
              </a:rPr>
              <a:t>To increase the accuracy of the Classification results.</a:t>
            </a:r>
            <a:endParaRPr lang="en-IN" sz="1800" dirty="0">
              <a:latin typeface="Times New Roman" panose="02020603050405020304" pitchFamily="18" charset="0"/>
              <a:cs typeface="Times New Roman" panose="02020603050405020304" pitchFamily="18" charset="0"/>
            </a:endParaRPr>
          </a:p>
          <a:p>
            <a:pPr lvl="0" algn="just">
              <a:lnSpc>
                <a:spcPct val="150000"/>
              </a:lnSpc>
            </a:pPr>
            <a:r>
              <a:rPr lang="en-US" sz="1800" dirty="0">
                <a:latin typeface="Times New Roman" panose="02020603050405020304" pitchFamily="18" charset="0"/>
                <a:cs typeface="Times New Roman" panose="02020603050405020304" pitchFamily="18" charset="0"/>
              </a:rPr>
              <a:t>To enhance the performance of the overall prediction results.</a:t>
            </a:r>
            <a:endParaRPr lang="en-IN" sz="1800" dirty="0">
              <a:latin typeface="Times New Roman" panose="02020603050405020304" pitchFamily="18" charset="0"/>
              <a:cs typeface="Times New Roman" panose="02020603050405020304" pitchFamily="18" charset="0"/>
            </a:endParaRPr>
          </a:p>
          <a:p>
            <a:pPr lvl="0" algn="just">
              <a:lnSpc>
                <a:spcPct val="150000"/>
              </a:lnSpc>
            </a:pPr>
            <a:r>
              <a:rPr lang="en-US" sz="1800" dirty="0">
                <a:latin typeface="Times New Roman" panose="02020603050405020304" pitchFamily="18" charset="0"/>
                <a:cs typeface="Times New Roman" panose="02020603050405020304" pitchFamily="18" charset="0"/>
              </a:rPr>
              <a:t> To enhance the overall performance analysis.</a:t>
            </a:r>
            <a:endParaRPr lang="en-IN" sz="1800" dirty="0">
              <a:latin typeface="Times New Roman" panose="02020603050405020304" pitchFamily="18" charset="0"/>
              <a:cs typeface="Times New Roman" panose="02020603050405020304" pitchFamily="18" charset="0"/>
            </a:endParaRPr>
          </a:p>
          <a:p>
            <a:pPr lvl="0" algn="just">
              <a:lnSpc>
                <a:spcPct val="150000"/>
              </a:lnSpc>
            </a:pPr>
            <a:r>
              <a:rPr lang="en-US" sz="1800" dirty="0">
                <a:latin typeface="Times New Roman" panose="02020603050405020304" pitchFamily="18" charset="0"/>
                <a:cs typeface="Times New Roman" panose="02020603050405020304" pitchFamily="18" charset="0"/>
              </a:rPr>
              <a:t>Improved Performance Analysis </a:t>
            </a:r>
            <a:endParaRPr lang="en-IN" sz="1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678148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600" b="1" dirty="0" smtClean="0">
                <a:latin typeface="Times New Roman" panose="02020603050405020304" pitchFamily="18" charset="0"/>
                <a:cs typeface="Times New Roman" panose="02020603050405020304" pitchFamily="18" charset="0"/>
              </a:rPr>
              <a:t>PROBLEM STATEMENT </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lvl="0" algn="just">
              <a:lnSpc>
                <a:spcPct val="200000"/>
              </a:lnSpc>
            </a:pPr>
            <a:r>
              <a:rPr lang="en-US" sz="2000" dirty="0">
                <a:latin typeface="Times New Roman" panose="02020603050405020304" pitchFamily="18" charset="0"/>
                <a:cs typeface="Times New Roman" panose="02020603050405020304" pitchFamily="18" charset="0"/>
              </a:rPr>
              <a:t>Applied an image transformation technique Flipping and shifting to generate a new image from the Available data set. The more generalize capability of a Machine learning model can be achieved by training with the Original image and with the augmented image. In the past  Several researchers have used data augmentation technique to  Reduce the error rate of the machine learning model .In the present study data set is a collection of the different types Of the human Knee</a:t>
            </a:r>
            <a:endParaRPr lang="en-IN" sz="20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49193302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600" b="1" dirty="0" smtClean="0">
                <a:latin typeface="Times New Roman" panose="02020603050405020304" pitchFamily="18" charset="0"/>
                <a:cs typeface="Times New Roman" panose="02020603050405020304" pitchFamily="18" charset="0"/>
              </a:rPr>
              <a:t>SCOPE OF PROJECT </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lvl="0" algn="just">
              <a:lnSpc>
                <a:spcPct val="200000"/>
              </a:lnSpc>
            </a:pPr>
            <a:r>
              <a:rPr lang="en-US" sz="1800" dirty="0">
                <a:latin typeface="Times New Roman" panose="02020603050405020304" pitchFamily="18" charset="0"/>
                <a:cs typeface="Times New Roman" panose="02020603050405020304" pitchFamily="18" charset="0"/>
              </a:rPr>
              <a:t>Design and implement a deep learning architecture, such as a convolutional neural network (CNN), for the classification of </a:t>
            </a:r>
            <a:r>
              <a:rPr lang="en-US" sz="1800" dirty="0" smtClean="0">
                <a:latin typeface="Times New Roman" panose="02020603050405020304" pitchFamily="18" charset="0"/>
                <a:cs typeface="Times New Roman" panose="02020603050405020304" pitchFamily="18" charset="0"/>
              </a:rPr>
              <a:t>Medicinal </a:t>
            </a:r>
            <a:r>
              <a:rPr lang="en-US" sz="1800" dirty="0" err="1" smtClean="0">
                <a:latin typeface="Times New Roman" panose="02020603050405020304" pitchFamily="18" charset="0"/>
                <a:cs typeface="Times New Roman" panose="02020603050405020304" pitchFamily="18" charset="0"/>
              </a:rPr>
              <a:t>plantosteoarthritis</a:t>
            </a:r>
            <a:r>
              <a:rPr lang="en-US" sz="1800" dirty="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a:p>
            <a:pPr lvl="0" algn="just">
              <a:lnSpc>
                <a:spcPct val="200000"/>
              </a:lnSpc>
            </a:pPr>
            <a:r>
              <a:rPr lang="en-US" sz="1800" dirty="0">
                <a:latin typeface="Times New Roman" panose="02020603050405020304" pitchFamily="18" charset="0"/>
                <a:cs typeface="Times New Roman" panose="02020603050405020304" pitchFamily="18" charset="0"/>
              </a:rPr>
              <a:t>Train the model using the preprocessed X-ray images and the corresponding ground truth labels (healthy or osteoarthritis).</a:t>
            </a:r>
            <a:endParaRPr lang="en-IN" sz="1800" dirty="0">
              <a:latin typeface="Times New Roman" panose="02020603050405020304" pitchFamily="18" charset="0"/>
              <a:cs typeface="Times New Roman" panose="02020603050405020304" pitchFamily="18" charset="0"/>
            </a:endParaRPr>
          </a:p>
          <a:p>
            <a:pPr lvl="0" algn="just">
              <a:lnSpc>
                <a:spcPct val="200000"/>
              </a:lnSpc>
            </a:pPr>
            <a:r>
              <a:rPr lang="en-US" sz="1800" dirty="0">
                <a:latin typeface="Times New Roman" panose="02020603050405020304" pitchFamily="18" charset="0"/>
                <a:cs typeface="Times New Roman" panose="02020603050405020304" pitchFamily="18" charset="0"/>
              </a:rPr>
              <a:t>Optimize the model's </a:t>
            </a:r>
            <a:r>
              <a:rPr lang="en-US" sz="1800" dirty="0" err="1">
                <a:latin typeface="Times New Roman" panose="02020603050405020304" pitchFamily="18" charset="0"/>
                <a:cs typeface="Times New Roman" panose="02020603050405020304" pitchFamily="18" charset="0"/>
              </a:rPr>
              <a:t>hyperparameters</a:t>
            </a:r>
            <a:r>
              <a:rPr lang="en-US" sz="1800" dirty="0">
                <a:latin typeface="Times New Roman" panose="02020603050405020304" pitchFamily="18" charset="0"/>
                <a:cs typeface="Times New Roman" panose="02020603050405020304" pitchFamily="18" charset="0"/>
              </a:rPr>
              <a:t> and architecture to achieve the best possible performance.</a:t>
            </a:r>
            <a:endParaRPr lang="en-IN" sz="1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13680926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600" b="1" dirty="0" smtClean="0">
                <a:latin typeface="Times New Roman" panose="02020603050405020304" pitchFamily="18" charset="0"/>
                <a:cs typeface="Times New Roman" panose="02020603050405020304" pitchFamily="18" charset="0"/>
              </a:rPr>
              <a:t>ALGORITHM </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lvl="0">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Densenet121  Algorithm</a:t>
            </a:r>
            <a:endParaRPr lang="en-IN" sz="1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75007595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600" b="1" dirty="0">
                <a:latin typeface="Times New Roman" panose="02020603050405020304" pitchFamily="18" charset="0"/>
                <a:cs typeface="Times New Roman" panose="02020603050405020304" pitchFamily="18" charset="0"/>
              </a:rPr>
              <a:t>EXISTING SYSTEM</a:t>
            </a:r>
            <a:r>
              <a:rPr lang="en-IN" sz="3600" dirty="0">
                <a:latin typeface="Times New Roman" panose="02020603050405020304" pitchFamily="18" charset="0"/>
                <a:cs typeface="Times New Roman" panose="02020603050405020304" pitchFamily="18" charset="0"/>
              </a:rPr>
              <a:t/>
            </a:r>
            <a:br>
              <a:rPr lang="en-IN" sz="3600" dirty="0">
                <a:latin typeface="Times New Roman" panose="02020603050405020304" pitchFamily="18" charset="0"/>
                <a:cs typeface="Times New Roman" panose="02020603050405020304" pitchFamily="18" charset="0"/>
              </a:rPr>
            </a:b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274320" algn="just">
              <a:lnSpc>
                <a:spcPct val="150000"/>
              </a:lnSpc>
              <a:spcAft>
                <a:spcPts val="0"/>
              </a:spcAft>
            </a:pPr>
            <a:r>
              <a:rPr lang="en-IN" sz="1800" dirty="0">
                <a:latin typeface="Times New Roman" panose="02020603050405020304" pitchFamily="18" charset="0"/>
                <a:ea typeface="Times New Roman" panose="02020603050405020304" pitchFamily="18" charset="0"/>
              </a:rPr>
              <a:t>In existing system propose a Long Short Term Memory neural network algorithm to accomplish the leaf disease classiﬁcation task. </a:t>
            </a:r>
          </a:p>
          <a:p>
            <a:pPr marL="274320" algn="just">
              <a:lnSpc>
                <a:spcPct val="150000"/>
              </a:lnSpc>
              <a:spcAft>
                <a:spcPts val="0"/>
              </a:spcAft>
            </a:pPr>
            <a:r>
              <a:rPr lang="en-IN" sz="1800" dirty="0">
                <a:latin typeface="Times New Roman" panose="02020603050405020304" pitchFamily="18" charset="0"/>
                <a:ea typeface="Times New Roman" panose="02020603050405020304" pitchFamily="18" charset="0"/>
              </a:rPr>
              <a:t>Plant disease recognition is an interesting and practical topic. However, this problem has not been sufficiently explored due to the lack of systematically investigation and large-scale dataset. </a:t>
            </a:r>
          </a:p>
          <a:p>
            <a:pPr marL="274320" algn="just">
              <a:lnSpc>
                <a:spcPct val="150000"/>
              </a:lnSpc>
              <a:spcAft>
                <a:spcPts val="0"/>
              </a:spcAft>
            </a:pPr>
            <a:r>
              <a:rPr lang="en-IN" sz="1800" dirty="0">
                <a:latin typeface="Times New Roman" panose="02020603050405020304" pitchFamily="18" charset="0"/>
                <a:ea typeface="Times New Roman" panose="02020603050405020304" pitchFamily="18" charset="0"/>
              </a:rPr>
              <a:t>The most challenging step in constructing such a dataset is providing a reasonable structure from both the agriculture and image processing perspective.</a:t>
            </a:r>
            <a:endParaRPr lang="en-IN" sz="1600" dirty="0">
              <a:latin typeface="Times New Roman" panose="02020603050405020304" pitchFamily="18" charset="0"/>
              <a:ea typeface="Times New Roman" panose="02020603050405020304" pitchFamily="18" charset="0"/>
            </a:endParaRPr>
          </a:p>
        </p:txBody>
      </p:sp>
      <p:sp>
        <p:nvSpPr>
          <p:cNvPr id="5" name="Rectangle 4"/>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81905956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600" b="1" dirty="0" smtClean="0">
                <a:latin typeface="Times New Roman" panose="02020603050405020304" pitchFamily="18" charset="0"/>
                <a:cs typeface="Times New Roman" panose="02020603050405020304" pitchFamily="18" charset="0"/>
              </a:rPr>
              <a:t>DISADVANTAGE </a:t>
            </a:r>
            <a:endParaRPr lang="en-IN"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lvl="0" algn="just">
              <a:lnSpc>
                <a:spcPct val="20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No comparison is made between the accuracies of several algorithm</a:t>
            </a:r>
            <a:endParaRPr lang="en-IN" sz="1800" dirty="0">
              <a:latin typeface="Times New Roman" panose="02020603050405020304" pitchFamily="18" charset="0"/>
              <a:cs typeface="Times New Roman" panose="02020603050405020304" pitchFamily="18" charset="0"/>
            </a:endParaRPr>
          </a:p>
          <a:p>
            <a:pPr lvl="0" algn="just">
              <a:lnSpc>
                <a:spcPct val="20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It is not proper Segmentation</a:t>
            </a:r>
            <a:endParaRPr lang="en-IN" sz="1800" dirty="0">
              <a:latin typeface="Times New Roman" panose="02020603050405020304" pitchFamily="18" charset="0"/>
              <a:cs typeface="Times New Roman" panose="02020603050405020304" pitchFamily="18" charset="0"/>
            </a:endParaRPr>
          </a:p>
          <a:p>
            <a:pPr lvl="0" algn="just">
              <a:lnSpc>
                <a:spcPct val="20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The overall classification accuracy was found to be the same irrespective of the kernel types. Processing building the model requires fast and efficient processors which is cost consuming </a:t>
            </a:r>
            <a:endParaRPr lang="en-IN" sz="1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87147546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600" b="1" dirty="0">
                <a:latin typeface="Times New Roman" panose="02020603050405020304" pitchFamily="18" charset="0"/>
                <a:cs typeface="Times New Roman" panose="02020603050405020304" pitchFamily="18" charset="0"/>
              </a:rPr>
              <a:t>PROPOSED SYSTEM</a:t>
            </a:r>
            <a:r>
              <a:rPr lang="en-IN" sz="3600" dirty="0">
                <a:latin typeface="Times New Roman" panose="02020603050405020304" pitchFamily="18" charset="0"/>
                <a:cs typeface="Times New Roman" panose="02020603050405020304" pitchFamily="18" charset="0"/>
              </a:rPr>
              <a:t/>
            </a:r>
            <a:br>
              <a:rPr lang="en-IN" sz="3600" dirty="0">
                <a:latin typeface="Times New Roman" panose="02020603050405020304" pitchFamily="18" charset="0"/>
                <a:cs typeface="Times New Roman" panose="02020603050405020304" pitchFamily="18" charset="0"/>
              </a:rPr>
            </a:b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03350" y="1690688"/>
            <a:ext cx="10515600" cy="4351338"/>
          </a:xfrm>
        </p:spPr>
        <p:txBody>
          <a:bodyPr>
            <a:normAutofit/>
          </a:bodyPr>
          <a:lstStyle/>
          <a:p>
            <a:pPr marL="514350" indent="-285750" algn="just">
              <a:lnSpc>
                <a:spcPct val="150000"/>
              </a:lnSpc>
              <a:spcAft>
                <a:spcPts val="800"/>
              </a:spcAft>
              <a:buFont typeface="Wingdings" panose="05000000000000000000" pitchFamily="2" charset="2"/>
              <a:buChar char="§"/>
            </a:pPr>
            <a:r>
              <a:rPr lang="en-IN" sz="1800" dirty="0">
                <a:latin typeface="Times New Roman" panose="02020603050405020304" pitchFamily="18" charset="0"/>
                <a:ea typeface="Calibri" panose="020F0502020204030204" pitchFamily="34" charset="0"/>
                <a:cs typeface="Times New Roman" panose="02020603050405020304" pitchFamily="18" charset="0"/>
              </a:rPr>
              <a:t>The proposed model is introduced to overcome all the disadvantages that arise in the existing system. </a:t>
            </a:r>
          </a:p>
          <a:p>
            <a:pPr marL="514350" indent="-285750" algn="just">
              <a:lnSpc>
                <a:spcPct val="150000"/>
              </a:lnSpc>
              <a:spcAft>
                <a:spcPts val="800"/>
              </a:spcAft>
              <a:buFont typeface="Wingdings" panose="05000000000000000000" pitchFamily="2" charset="2"/>
              <a:buChar char="§"/>
            </a:pPr>
            <a:r>
              <a:rPr lang="en-IN" sz="1800" dirty="0">
                <a:latin typeface="Times New Roman" panose="02020603050405020304" pitchFamily="18" charset="0"/>
                <a:ea typeface="Calibri" panose="020F0502020204030204" pitchFamily="34" charset="0"/>
                <a:cs typeface="Times New Roman" panose="02020603050405020304" pitchFamily="18" charset="0"/>
              </a:rPr>
              <a:t>This system will increase the accuracy of the neural network results by classifying the leaf disease digital image dataset using Deep learning algorithm. </a:t>
            </a:r>
          </a:p>
          <a:p>
            <a:pPr marL="514350" indent="-285750" algn="just">
              <a:lnSpc>
                <a:spcPct val="150000"/>
              </a:lnSpc>
              <a:spcAft>
                <a:spcPts val="800"/>
              </a:spcAft>
              <a:buFont typeface="Wingdings" panose="05000000000000000000" pitchFamily="2" charset="2"/>
              <a:buChar char="§"/>
            </a:pPr>
            <a:r>
              <a:rPr lang="en-IN" sz="1800" dirty="0">
                <a:latin typeface="Times New Roman" panose="02020603050405020304" pitchFamily="18" charset="0"/>
                <a:ea typeface="Calibri" panose="020F0502020204030204" pitchFamily="34" charset="0"/>
                <a:cs typeface="Times New Roman" panose="02020603050405020304" pitchFamily="18" charset="0"/>
              </a:rPr>
              <a:t>It enhances the performance of the overall classification results. Predict the leaf disease image is to find the accuracy more reliable.</a:t>
            </a:r>
            <a:endParaRPr lang="en-IN" sz="1400" dirty="0">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01051745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600" b="1" dirty="0" smtClean="0">
                <a:latin typeface="Times New Roman" panose="02020603050405020304" pitchFamily="18" charset="0"/>
                <a:cs typeface="Times New Roman" panose="02020603050405020304" pitchFamily="18" charset="0"/>
              </a:rPr>
              <a:t>ADVANTAGE </a:t>
            </a:r>
            <a:endParaRPr lang="en-IN"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lvl="0" algn="just">
              <a:lnSpc>
                <a:spcPct val="150000"/>
              </a:lnSpc>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High performance.</a:t>
            </a:r>
            <a:endParaRPr lang="en-IN" sz="1800" dirty="0">
              <a:latin typeface="Times New Roman" panose="02020603050405020304" pitchFamily="18" charset="0"/>
              <a:cs typeface="Times New Roman" panose="02020603050405020304" pitchFamily="18" charset="0"/>
            </a:endParaRPr>
          </a:p>
          <a:p>
            <a:pPr lvl="0" algn="just">
              <a:lnSpc>
                <a:spcPct val="150000"/>
              </a:lnSpc>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Provide accurate prediction results.</a:t>
            </a:r>
            <a:endParaRPr lang="en-IN" sz="1800" dirty="0">
              <a:latin typeface="Times New Roman" panose="02020603050405020304" pitchFamily="18" charset="0"/>
              <a:cs typeface="Times New Roman" panose="02020603050405020304" pitchFamily="18" charset="0"/>
            </a:endParaRPr>
          </a:p>
          <a:p>
            <a:pPr lvl="0" algn="just">
              <a:lnSpc>
                <a:spcPct val="150000"/>
              </a:lnSpc>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It avoid </a:t>
            </a:r>
            <a:r>
              <a:rPr lang="en-US" sz="1800" dirty="0" err="1">
                <a:latin typeface="Times New Roman" panose="02020603050405020304" pitchFamily="18" charset="0"/>
                <a:cs typeface="Times New Roman" panose="02020603050405020304" pitchFamily="18" charset="0"/>
              </a:rPr>
              <a:t>sparsity</a:t>
            </a:r>
            <a:r>
              <a:rPr lang="en-US" sz="1800" dirty="0">
                <a:latin typeface="Times New Roman" panose="02020603050405020304" pitchFamily="18" charset="0"/>
                <a:cs typeface="Times New Roman" panose="02020603050405020304" pitchFamily="18" charset="0"/>
              </a:rPr>
              <a:t> problems.</a:t>
            </a:r>
            <a:endParaRPr lang="en-IN" sz="1800" dirty="0">
              <a:latin typeface="Times New Roman" panose="02020603050405020304" pitchFamily="18" charset="0"/>
              <a:cs typeface="Times New Roman" panose="02020603050405020304" pitchFamily="18" charset="0"/>
            </a:endParaRPr>
          </a:p>
          <a:p>
            <a:pPr lvl="0" algn="just">
              <a:lnSpc>
                <a:spcPct val="150000"/>
              </a:lnSpc>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Reduces the information Loss and the bias of the inference due to the multiple estimates.</a:t>
            </a:r>
            <a:endParaRPr lang="en-IN" sz="1800" dirty="0">
              <a:latin typeface="Times New Roman" panose="02020603050405020304" pitchFamily="18" charset="0"/>
              <a:cs typeface="Times New Roman" panose="02020603050405020304" pitchFamily="18" charset="0"/>
            </a:endParaRPr>
          </a:p>
          <a:p>
            <a:pPr algn="just">
              <a:lnSpc>
                <a:spcPct val="150000"/>
              </a:lnSpc>
            </a:pPr>
            <a:endParaRPr lang="en-IN" sz="1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36189170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1463" y="2425745"/>
            <a:ext cx="11658600" cy="1325563"/>
          </a:xfrm>
        </p:spPr>
        <p:txBody>
          <a:bodyPr/>
          <a:lstStyle/>
          <a:p>
            <a:pPr algn="ctr"/>
            <a:r>
              <a:rPr lang="en-US" b="1" dirty="0" smtClean="0">
                <a:latin typeface="Times New Roman" pitchFamily="18" charset="0"/>
                <a:cs typeface="Times New Roman" pitchFamily="18" charset="0"/>
              </a:rPr>
              <a:t>LITERATURE SURVEY</a:t>
            </a:r>
            <a:r>
              <a:rPr lang="en-US" b="1" dirty="0" smtClean="0"/>
              <a:t/>
            </a:r>
            <a:br>
              <a:rPr lang="en-US" b="1" dirty="0" smtClean="0"/>
            </a:br>
            <a:endParaRPr lang="en-IN" b="1" dirty="0"/>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82412474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2" y="6492877"/>
            <a:ext cx="2844799" cy="365125"/>
          </a:xfrm>
        </p:spPr>
        <p:txBody>
          <a:bodyPr/>
          <a:lstStyle/>
          <a:p>
            <a:fld id="{BFE06AB5-D6E9-4208-88FB-04C9A03F34A6}" type="datetime1">
              <a:rPr lang="en-US" sz="1100" smtClean="0">
                <a:latin typeface="Times New Roman" panose="02020603050405020304" pitchFamily="18" charset="0"/>
                <a:cs typeface="Times New Roman" panose="02020603050405020304" pitchFamily="18" charset="0"/>
              </a:rPr>
              <a:pPr/>
              <a:t>7/4/2024</a:t>
            </a:fld>
            <a:endParaRPr lang="en-US" sz="11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a:xfrm>
            <a:off x="10828759" y="6492893"/>
            <a:ext cx="1052508" cy="365125"/>
          </a:xfrm>
        </p:spPr>
        <p:txBody>
          <a:bodyPr/>
          <a:lstStyle/>
          <a:p>
            <a:fld id="{7DCB20AE-65C4-4F49-978F-B82EFE8D490C}" type="slidenum">
              <a:rPr lang="en-US" sz="1100" smtClean="0">
                <a:latin typeface="Times New Roman" panose="02020603050405020304" pitchFamily="18" charset="0"/>
                <a:cs typeface="Times New Roman" panose="02020603050405020304" pitchFamily="18" charset="0"/>
              </a:rPr>
              <a:pPr/>
              <a:t>15</a:t>
            </a:fld>
            <a:endParaRPr lang="en-US" sz="1100" dirty="0">
              <a:latin typeface="Times New Roman" panose="02020603050405020304" pitchFamily="18" charset="0"/>
              <a:cs typeface="Times New Roman" panose="02020603050405020304" pitchFamily="18" charset="0"/>
            </a:endParaRPr>
          </a:p>
        </p:txBody>
      </p:sp>
      <p:graphicFrame>
        <p:nvGraphicFramePr>
          <p:cNvPr id="8" name="Table 7"/>
          <p:cNvGraphicFramePr>
            <a:graphicFrameLocks noGrp="1"/>
          </p:cNvGraphicFramePr>
          <p:nvPr>
            <p:extLst/>
          </p:nvPr>
        </p:nvGraphicFramePr>
        <p:xfrm>
          <a:off x="0" y="-30480"/>
          <a:ext cx="12191999" cy="6634480"/>
        </p:xfrm>
        <a:graphic>
          <a:graphicData uri="http://schemas.openxmlformats.org/drawingml/2006/table">
            <a:tbl>
              <a:tblPr firstRow="1" bandRow="1">
                <a:tableStyleId>{5C22544A-7EE6-4342-B048-85BDC9FD1C3A}</a:tableStyleId>
              </a:tblPr>
              <a:tblGrid>
                <a:gridCol w="3048000"/>
                <a:gridCol w="2708129"/>
                <a:gridCol w="3167316"/>
                <a:gridCol w="3268554"/>
              </a:tblGrid>
              <a:tr h="740743">
                <a:tc>
                  <a:txBody>
                    <a:bodyPr/>
                    <a:lstStyle/>
                    <a:p>
                      <a:r>
                        <a:rPr lang="en-US" sz="2000" dirty="0" smtClean="0">
                          <a:solidFill>
                            <a:schemeClr val="tx1"/>
                          </a:solidFill>
                          <a:latin typeface="Times New Roman" pitchFamily="18" charset="0"/>
                          <a:cs typeface="Times New Roman" pitchFamily="18" charset="0"/>
                        </a:rPr>
                        <a:t>Title</a:t>
                      </a:r>
                      <a:endParaRPr lang="en-IN" sz="2000" dirty="0">
                        <a:solidFill>
                          <a:schemeClr val="tx1"/>
                        </a:solidFill>
                        <a:latin typeface="Times New Roman" pitchFamily="18" charset="0"/>
                        <a:cs typeface="Times New Roman" pitchFamily="18" charset="0"/>
                      </a:endParaRPr>
                    </a:p>
                  </a:txBody>
                  <a:tcPr/>
                </a:tc>
                <a:tc>
                  <a:txBody>
                    <a:bodyPr/>
                    <a:lstStyle/>
                    <a:p>
                      <a:r>
                        <a:rPr lang="en-US" sz="2000" dirty="0" smtClean="0">
                          <a:solidFill>
                            <a:schemeClr val="tx1"/>
                          </a:solidFill>
                          <a:latin typeface="Times New Roman" pitchFamily="18" charset="0"/>
                          <a:cs typeface="Times New Roman" pitchFamily="18" charset="0"/>
                        </a:rPr>
                        <a:t>Year</a:t>
                      </a:r>
                      <a:endParaRPr lang="en-IN" sz="2000" dirty="0">
                        <a:solidFill>
                          <a:schemeClr val="tx1"/>
                        </a:solidFill>
                        <a:latin typeface="Times New Roman" pitchFamily="18" charset="0"/>
                        <a:cs typeface="Times New Roman" pitchFamily="18" charset="0"/>
                      </a:endParaRPr>
                    </a:p>
                  </a:txBody>
                  <a:tcPr/>
                </a:tc>
                <a:tc>
                  <a:txBody>
                    <a:bodyPr/>
                    <a:lstStyle/>
                    <a:p>
                      <a:r>
                        <a:rPr lang="en-US" sz="2000" dirty="0" smtClean="0">
                          <a:solidFill>
                            <a:schemeClr val="tx1"/>
                          </a:solidFill>
                          <a:latin typeface="Times New Roman" pitchFamily="18" charset="0"/>
                          <a:cs typeface="Times New Roman" pitchFamily="18" charset="0"/>
                        </a:rPr>
                        <a:t>Author</a:t>
                      </a:r>
                      <a:endParaRPr lang="en-IN" sz="2000" dirty="0">
                        <a:solidFill>
                          <a:schemeClr val="tx1"/>
                        </a:solidFill>
                        <a:latin typeface="Times New Roman" pitchFamily="18" charset="0"/>
                        <a:cs typeface="Times New Roman" pitchFamily="18"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2000" b="1" kern="1200" dirty="0" smtClean="0">
                          <a:solidFill>
                            <a:schemeClr val="tx1"/>
                          </a:solidFill>
                          <a:effectLst/>
                          <a:latin typeface="Times New Roman" pitchFamily="18" charset="0"/>
                          <a:ea typeface="+mn-ea"/>
                          <a:cs typeface="Times New Roman" pitchFamily="18" charset="0"/>
                        </a:rPr>
                        <a:t>Methodology</a:t>
                      </a:r>
                    </a:p>
                    <a:p>
                      <a:endParaRPr lang="en-IN" sz="2000" dirty="0">
                        <a:solidFill>
                          <a:schemeClr val="tx1"/>
                        </a:solidFill>
                        <a:latin typeface="Times New Roman" pitchFamily="18" charset="0"/>
                        <a:cs typeface="Times New Roman" pitchFamily="18" charset="0"/>
                      </a:endParaRPr>
                    </a:p>
                  </a:txBody>
                  <a:tcPr/>
                </a:tc>
              </a:tr>
              <a:tr h="5893737">
                <a:tc>
                  <a:txBody>
                    <a:bodyPr/>
                    <a:lstStyle/>
                    <a:p>
                      <a:r>
                        <a:rPr lang="en-IN" sz="1800" kern="1200" dirty="0" smtClean="0">
                          <a:solidFill>
                            <a:schemeClr val="dk1"/>
                          </a:solidFill>
                          <a:effectLst/>
                          <a:latin typeface="Times New Roman" panose="02020603050405020304" pitchFamily="18" charset="0"/>
                          <a:ea typeface="+mn-ea"/>
                          <a:cs typeface="Times New Roman" panose="02020603050405020304" pitchFamily="18" charset="0"/>
                        </a:rPr>
                        <a:t>Plant Disease Prediction using Machine Learning Algorithms</a:t>
                      </a:r>
                      <a:endParaRPr kumimoji="0" lang="en-IN" sz="1800" kern="1200" dirty="0">
                        <a:solidFill>
                          <a:schemeClr val="dk1"/>
                        </a:solidFill>
                        <a:latin typeface="Times New Roman" pitchFamily="18" charset="0"/>
                        <a:ea typeface="+mn-ea"/>
                        <a:cs typeface="Times New Roman" pitchFamily="18" charset="0"/>
                      </a:endParaRPr>
                    </a:p>
                  </a:txBody>
                  <a:tcPr/>
                </a:tc>
                <a:tc>
                  <a:txBody>
                    <a:bodyPr/>
                    <a:lstStyle/>
                    <a:p>
                      <a:pPr marL="0" algn="ctr" defTabSz="457200" rtl="0" eaLnBrk="1" latinLnBrk="0" hangingPunct="1"/>
                      <a:r>
                        <a:rPr lang="en-US" sz="1800" kern="1200" dirty="0" smtClean="0">
                          <a:solidFill>
                            <a:schemeClr val="tx1"/>
                          </a:solidFill>
                          <a:latin typeface="Times New Roman" pitchFamily="18" charset="0"/>
                          <a:ea typeface="+mn-ea"/>
                          <a:cs typeface="Times New Roman" pitchFamily="18" charset="0"/>
                        </a:rPr>
                        <a:t>2018</a:t>
                      </a:r>
                      <a:endParaRPr lang="en-IN" sz="1800" kern="1200" dirty="0">
                        <a:solidFill>
                          <a:schemeClr val="tx1"/>
                        </a:solidFill>
                        <a:latin typeface="Times New Roman" pitchFamily="18" charset="0"/>
                        <a:ea typeface="+mn-ea"/>
                        <a:cs typeface="Times New Roman" pitchFamily="18" charset="0"/>
                      </a:endParaRPr>
                    </a:p>
                  </a:txBody>
                  <a:tcPr/>
                </a:tc>
                <a:tc>
                  <a:txBody>
                    <a:bodyPr/>
                    <a:lstStyle/>
                    <a:p>
                      <a:r>
                        <a:rPr lang="en-IN" sz="1800" kern="1200" dirty="0" smtClean="0">
                          <a:solidFill>
                            <a:schemeClr val="dk1"/>
                          </a:solidFill>
                          <a:effectLst/>
                          <a:latin typeface="Times New Roman" panose="02020603050405020304" pitchFamily="18" charset="0"/>
                          <a:ea typeface="+mn-ea"/>
                          <a:cs typeface="Times New Roman" panose="02020603050405020304" pitchFamily="18" charset="0"/>
                        </a:rPr>
                        <a:t>G. </a:t>
                      </a:r>
                      <a:r>
                        <a:rPr lang="en-IN" sz="1800" kern="1200" dirty="0" err="1" smtClean="0">
                          <a:solidFill>
                            <a:schemeClr val="dk1"/>
                          </a:solidFill>
                          <a:effectLst/>
                          <a:latin typeface="Times New Roman" panose="02020603050405020304" pitchFamily="18" charset="0"/>
                          <a:ea typeface="+mn-ea"/>
                          <a:cs typeface="Times New Roman" panose="02020603050405020304" pitchFamily="18" charset="0"/>
                        </a:rPr>
                        <a:t>Prem</a:t>
                      </a:r>
                      <a:r>
                        <a:rPr lang="en-IN" sz="1800" kern="1200" dirty="0" smtClean="0">
                          <a:solidFill>
                            <a:schemeClr val="dk1"/>
                          </a:solidFill>
                          <a:effectLst/>
                          <a:latin typeface="Times New Roman" panose="02020603050405020304" pitchFamily="18" charset="0"/>
                          <a:ea typeface="+mn-ea"/>
                          <a:cs typeface="Times New Roman" panose="02020603050405020304" pitchFamily="18" charset="0"/>
                        </a:rPr>
                        <a:t> Rishi </a:t>
                      </a:r>
                      <a:r>
                        <a:rPr lang="en-IN" sz="1800" kern="1200" dirty="0" err="1" smtClean="0">
                          <a:solidFill>
                            <a:schemeClr val="dk1"/>
                          </a:solidFill>
                          <a:effectLst/>
                          <a:latin typeface="Times New Roman" panose="02020603050405020304" pitchFamily="18" charset="0"/>
                          <a:ea typeface="+mn-ea"/>
                          <a:cs typeface="Times New Roman" panose="02020603050405020304" pitchFamily="18" charset="0"/>
                        </a:rPr>
                        <a:t>Kranth</a:t>
                      </a:r>
                      <a:r>
                        <a:rPr lang="en-IN" sz="1800" kern="1200" dirty="0" smtClean="0">
                          <a:solidFill>
                            <a:schemeClr val="dk1"/>
                          </a:solidFill>
                          <a:effectLst/>
                          <a:latin typeface="Times New Roman" panose="02020603050405020304" pitchFamily="18" charset="0"/>
                          <a:ea typeface="+mn-ea"/>
                          <a:cs typeface="Times New Roman" panose="02020603050405020304" pitchFamily="18" charset="0"/>
                        </a:rPr>
                        <a:t>, M. </a:t>
                      </a:r>
                      <a:r>
                        <a:rPr lang="en-IN" sz="1800" kern="1200" dirty="0" err="1" smtClean="0">
                          <a:solidFill>
                            <a:schemeClr val="dk1"/>
                          </a:solidFill>
                          <a:effectLst/>
                          <a:latin typeface="Times New Roman" panose="02020603050405020304" pitchFamily="18" charset="0"/>
                          <a:ea typeface="+mn-ea"/>
                          <a:cs typeface="Times New Roman" panose="02020603050405020304" pitchFamily="18" charset="0"/>
                        </a:rPr>
                        <a:t>Hema</a:t>
                      </a:r>
                      <a:r>
                        <a:rPr lang="en-IN" sz="1800" kern="1200" dirty="0" smtClean="0">
                          <a:solidFill>
                            <a:schemeClr val="dk1"/>
                          </a:solidFill>
                          <a:effectLst/>
                          <a:latin typeface="Times New Roman" panose="02020603050405020304" pitchFamily="18" charset="0"/>
                          <a:ea typeface="+mn-ea"/>
                          <a:cs typeface="Times New Roman" panose="02020603050405020304" pitchFamily="18" charset="0"/>
                        </a:rPr>
                        <a:t> </a:t>
                      </a:r>
                      <a:r>
                        <a:rPr lang="en-IN" sz="1800" kern="1200" dirty="0" err="1" smtClean="0">
                          <a:solidFill>
                            <a:schemeClr val="dk1"/>
                          </a:solidFill>
                          <a:effectLst/>
                          <a:latin typeface="Times New Roman" panose="02020603050405020304" pitchFamily="18" charset="0"/>
                          <a:ea typeface="+mn-ea"/>
                          <a:cs typeface="Times New Roman" panose="02020603050405020304" pitchFamily="18" charset="0"/>
                        </a:rPr>
                        <a:t>Lalitha</a:t>
                      </a:r>
                      <a:r>
                        <a:rPr lang="en-IN" sz="1800" kern="1200" dirty="0" smtClean="0">
                          <a:solidFill>
                            <a:schemeClr val="dk1"/>
                          </a:solidFill>
                          <a:effectLst/>
                          <a:latin typeface="Times New Roman" panose="02020603050405020304" pitchFamily="18" charset="0"/>
                          <a:ea typeface="+mn-ea"/>
                          <a:cs typeface="Times New Roman" panose="02020603050405020304" pitchFamily="18" charset="0"/>
                        </a:rPr>
                        <a:t>, </a:t>
                      </a:r>
                      <a:r>
                        <a:rPr lang="en-IN" sz="1800" kern="1200" dirty="0" err="1" smtClean="0">
                          <a:solidFill>
                            <a:schemeClr val="dk1"/>
                          </a:solidFill>
                          <a:effectLst/>
                          <a:latin typeface="Times New Roman" panose="02020603050405020304" pitchFamily="18" charset="0"/>
                          <a:ea typeface="+mn-ea"/>
                          <a:cs typeface="Times New Roman" panose="02020603050405020304" pitchFamily="18" charset="0"/>
                        </a:rPr>
                        <a:t>Laharika</a:t>
                      </a:r>
                      <a:r>
                        <a:rPr lang="en-IN" sz="1800" kern="1200" dirty="0" smtClean="0">
                          <a:solidFill>
                            <a:schemeClr val="dk1"/>
                          </a:solidFill>
                          <a:effectLst/>
                          <a:latin typeface="Times New Roman" panose="02020603050405020304" pitchFamily="18" charset="0"/>
                          <a:ea typeface="+mn-ea"/>
                          <a:cs typeface="Times New Roman" panose="02020603050405020304" pitchFamily="18" charset="0"/>
                        </a:rPr>
                        <a:t> </a:t>
                      </a:r>
                      <a:r>
                        <a:rPr lang="en-IN" sz="1800" kern="1200" dirty="0" err="1" smtClean="0">
                          <a:solidFill>
                            <a:schemeClr val="dk1"/>
                          </a:solidFill>
                          <a:effectLst/>
                          <a:latin typeface="Times New Roman" panose="02020603050405020304" pitchFamily="18" charset="0"/>
                          <a:ea typeface="+mn-ea"/>
                          <a:cs typeface="Times New Roman" panose="02020603050405020304" pitchFamily="18" charset="0"/>
                        </a:rPr>
                        <a:t>Basava</a:t>
                      </a:r>
                      <a:r>
                        <a:rPr lang="en-IN" sz="1800" kern="1200" dirty="0" smtClean="0">
                          <a:solidFill>
                            <a:schemeClr val="dk1"/>
                          </a:solidFill>
                          <a:effectLst/>
                          <a:latin typeface="Times New Roman" panose="02020603050405020304" pitchFamily="18" charset="0"/>
                          <a:ea typeface="+mn-ea"/>
                          <a:cs typeface="Times New Roman" panose="02020603050405020304" pitchFamily="18" charset="0"/>
                        </a:rPr>
                        <a:t> and Anjali </a:t>
                      </a:r>
                      <a:r>
                        <a:rPr lang="en-IN" sz="1800" kern="1200" dirty="0" err="1" smtClean="0">
                          <a:solidFill>
                            <a:schemeClr val="dk1"/>
                          </a:solidFill>
                          <a:effectLst/>
                          <a:latin typeface="Times New Roman" panose="02020603050405020304" pitchFamily="18" charset="0"/>
                          <a:ea typeface="+mn-ea"/>
                          <a:cs typeface="Times New Roman" panose="02020603050405020304" pitchFamily="18" charset="0"/>
                        </a:rPr>
                        <a:t>Mathur</a:t>
                      </a:r>
                      <a:endParaRPr kumimoji="0" lang="en-IN" sz="1800" kern="1200" dirty="0">
                        <a:solidFill>
                          <a:schemeClr val="dk1"/>
                        </a:solidFill>
                        <a:latin typeface="Times New Roman" pitchFamily="18" charset="0"/>
                        <a:ea typeface="+mn-ea"/>
                        <a:cs typeface="Times New Roman" pitchFamily="18" charset="0"/>
                      </a:endParaRPr>
                    </a:p>
                  </a:txBody>
                  <a:tcPr/>
                </a:tc>
                <a:tc>
                  <a:txBody>
                    <a:bodyPr/>
                    <a:lstStyle/>
                    <a:p>
                      <a:pPr marL="0" algn="just" defTabSz="457200" rtl="0" eaLnBrk="1" latinLnBrk="0" hangingPunct="1"/>
                      <a:r>
                        <a:rPr lang="en-IN" sz="1800" kern="1200" dirty="0" smtClean="0">
                          <a:solidFill>
                            <a:schemeClr val="dk1"/>
                          </a:solidFill>
                          <a:effectLst/>
                          <a:latin typeface="Times New Roman" panose="02020603050405020304" pitchFamily="18" charset="0"/>
                          <a:ea typeface="+mn-ea"/>
                          <a:cs typeface="Times New Roman" panose="02020603050405020304" pitchFamily="18" charset="0"/>
                        </a:rPr>
                        <a:t>In the above information about prediction of plant disease a dataset is taken with 11 attributes and 310 rows. With the data different techniques like decision tree, Naive Bayes, Neural network and different plots like box plot, bar plot are performed. By performing the techniques it is concluded that, Here some statistical tests are performed to find out possible output predictions with the help of some inbuilt dataset and compared with the techniques with the help of the data set. While techniques are compared, other techniques may be better or poor. But the accuracy differs from each sample taken from dataset.</a:t>
                      </a:r>
                      <a:endParaRPr lang="en-IN" sz="1800" kern="1200" dirty="0">
                        <a:solidFill>
                          <a:schemeClr val="tx1"/>
                        </a:solidFill>
                        <a:latin typeface="Times New Roman" pitchFamily="18" charset="0"/>
                        <a:ea typeface="+mn-ea"/>
                        <a:cs typeface="Times New Roman" pitchFamily="18" charset="0"/>
                      </a:endParaRPr>
                    </a:p>
                  </a:txBody>
                  <a:tcPr/>
                </a:tc>
              </a:tr>
            </a:tbl>
          </a:graphicData>
        </a:graphic>
      </p:graphicFrame>
    </p:spTree>
    <p:extLst>
      <p:ext uri="{BB962C8B-B14F-4D97-AF65-F5344CB8AC3E}">
        <p14:creationId xmlns:p14="http://schemas.microsoft.com/office/powerpoint/2010/main" val="104991948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2" y="6492877"/>
            <a:ext cx="2844799" cy="365125"/>
          </a:xfrm>
        </p:spPr>
        <p:txBody>
          <a:bodyPr/>
          <a:lstStyle/>
          <a:p>
            <a:fld id="{BFE06AB5-D6E9-4208-88FB-04C9A03F34A6}" type="datetime1">
              <a:rPr lang="en-US" sz="1100" smtClean="0">
                <a:latin typeface="Times New Roman" panose="02020603050405020304" pitchFamily="18" charset="0"/>
                <a:cs typeface="Times New Roman" panose="02020603050405020304" pitchFamily="18" charset="0"/>
              </a:rPr>
              <a:pPr/>
              <a:t>7/4/2024</a:t>
            </a:fld>
            <a:endParaRPr lang="en-US" sz="11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a:xfrm>
            <a:off x="10828759" y="6492893"/>
            <a:ext cx="1052508" cy="365125"/>
          </a:xfrm>
        </p:spPr>
        <p:txBody>
          <a:bodyPr/>
          <a:lstStyle/>
          <a:p>
            <a:fld id="{7DCB20AE-65C4-4F49-978F-B82EFE8D490C}" type="slidenum">
              <a:rPr lang="en-US" sz="1100" smtClean="0">
                <a:latin typeface="Times New Roman" panose="02020603050405020304" pitchFamily="18" charset="0"/>
                <a:cs typeface="Times New Roman" panose="02020603050405020304" pitchFamily="18" charset="0"/>
              </a:rPr>
              <a:pPr/>
              <a:t>16</a:t>
            </a:fld>
            <a:endParaRPr lang="en-US" sz="1100" dirty="0">
              <a:latin typeface="Times New Roman" panose="02020603050405020304" pitchFamily="18" charset="0"/>
              <a:cs typeface="Times New Roman" panose="02020603050405020304" pitchFamily="18" charset="0"/>
            </a:endParaRPr>
          </a:p>
        </p:txBody>
      </p:sp>
      <p:graphicFrame>
        <p:nvGraphicFramePr>
          <p:cNvPr id="8" name="Table 7"/>
          <p:cNvGraphicFramePr>
            <a:graphicFrameLocks noGrp="1"/>
          </p:cNvGraphicFramePr>
          <p:nvPr>
            <p:extLst/>
          </p:nvPr>
        </p:nvGraphicFramePr>
        <p:xfrm>
          <a:off x="0" y="-30480"/>
          <a:ext cx="12191999" cy="6867223"/>
        </p:xfrm>
        <a:graphic>
          <a:graphicData uri="http://schemas.openxmlformats.org/drawingml/2006/table">
            <a:tbl>
              <a:tblPr firstRow="1" bandRow="1">
                <a:tableStyleId>{5C22544A-7EE6-4342-B048-85BDC9FD1C3A}</a:tableStyleId>
              </a:tblPr>
              <a:tblGrid>
                <a:gridCol w="3048000"/>
                <a:gridCol w="2708129"/>
                <a:gridCol w="3019381"/>
                <a:gridCol w="3416489"/>
              </a:tblGrid>
              <a:tr h="740743">
                <a:tc>
                  <a:txBody>
                    <a:bodyPr/>
                    <a:lstStyle/>
                    <a:p>
                      <a:r>
                        <a:rPr lang="en-US" sz="2000" dirty="0" smtClean="0">
                          <a:solidFill>
                            <a:schemeClr val="tx1"/>
                          </a:solidFill>
                          <a:latin typeface="Times New Roman" pitchFamily="18" charset="0"/>
                          <a:cs typeface="Times New Roman" pitchFamily="18" charset="0"/>
                        </a:rPr>
                        <a:t>Title</a:t>
                      </a:r>
                      <a:endParaRPr lang="en-IN" sz="2000" dirty="0">
                        <a:solidFill>
                          <a:schemeClr val="tx1"/>
                        </a:solidFill>
                        <a:latin typeface="Times New Roman" pitchFamily="18" charset="0"/>
                        <a:cs typeface="Times New Roman" pitchFamily="18" charset="0"/>
                      </a:endParaRPr>
                    </a:p>
                  </a:txBody>
                  <a:tcPr/>
                </a:tc>
                <a:tc>
                  <a:txBody>
                    <a:bodyPr/>
                    <a:lstStyle/>
                    <a:p>
                      <a:r>
                        <a:rPr lang="en-US" sz="2000" dirty="0" smtClean="0">
                          <a:solidFill>
                            <a:schemeClr val="tx1"/>
                          </a:solidFill>
                          <a:latin typeface="Times New Roman" pitchFamily="18" charset="0"/>
                          <a:cs typeface="Times New Roman" pitchFamily="18" charset="0"/>
                        </a:rPr>
                        <a:t>Year</a:t>
                      </a:r>
                      <a:endParaRPr lang="en-IN" sz="2000" dirty="0">
                        <a:solidFill>
                          <a:schemeClr val="tx1"/>
                        </a:solidFill>
                        <a:latin typeface="Times New Roman" pitchFamily="18" charset="0"/>
                        <a:cs typeface="Times New Roman" pitchFamily="18" charset="0"/>
                      </a:endParaRPr>
                    </a:p>
                  </a:txBody>
                  <a:tcPr/>
                </a:tc>
                <a:tc>
                  <a:txBody>
                    <a:bodyPr/>
                    <a:lstStyle/>
                    <a:p>
                      <a:r>
                        <a:rPr lang="en-US" sz="2000" dirty="0" smtClean="0">
                          <a:solidFill>
                            <a:schemeClr val="tx1"/>
                          </a:solidFill>
                          <a:latin typeface="Times New Roman" pitchFamily="18" charset="0"/>
                          <a:cs typeface="Times New Roman" pitchFamily="18" charset="0"/>
                        </a:rPr>
                        <a:t>Author</a:t>
                      </a:r>
                      <a:endParaRPr lang="en-IN" sz="2000" dirty="0">
                        <a:solidFill>
                          <a:schemeClr val="tx1"/>
                        </a:solidFill>
                        <a:latin typeface="Times New Roman" pitchFamily="18" charset="0"/>
                        <a:cs typeface="Times New Roman" pitchFamily="18"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2000" b="1" kern="1200" dirty="0" smtClean="0">
                          <a:solidFill>
                            <a:schemeClr val="tx1"/>
                          </a:solidFill>
                          <a:effectLst/>
                          <a:latin typeface="Times New Roman" pitchFamily="18" charset="0"/>
                          <a:ea typeface="+mn-ea"/>
                          <a:cs typeface="Times New Roman" pitchFamily="18" charset="0"/>
                        </a:rPr>
                        <a:t>Methodology</a:t>
                      </a:r>
                    </a:p>
                    <a:p>
                      <a:endParaRPr lang="en-IN" sz="2000" dirty="0">
                        <a:solidFill>
                          <a:schemeClr val="tx1"/>
                        </a:solidFill>
                        <a:latin typeface="Times New Roman" pitchFamily="18" charset="0"/>
                        <a:cs typeface="Times New Roman" pitchFamily="18" charset="0"/>
                      </a:endParaRPr>
                    </a:p>
                  </a:txBody>
                  <a:tcPr/>
                </a:tc>
              </a:tr>
              <a:tr h="5893737">
                <a:tc>
                  <a:txBody>
                    <a:bodyPr/>
                    <a:lstStyle/>
                    <a:p>
                      <a:r>
                        <a:rPr lang="en-IN" sz="1800" kern="1200" dirty="0" smtClean="0">
                          <a:solidFill>
                            <a:schemeClr val="dk1"/>
                          </a:solidFill>
                          <a:effectLst/>
                          <a:latin typeface="Times New Roman" panose="02020603050405020304" pitchFamily="18" charset="0"/>
                          <a:ea typeface="+mn-ea"/>
                          <a:cs typeface="Times New Roman" panose="02020603050405020304" pitchFamily="18" charset="0"/>
                        </a:rPr>
                        <a:t>Leaf disease Detection and Climatic Parameter Monitoring of Plants Using </a:t>
                      </a:r>
                      <a:r>
                        <a:rPr lang="en-IN" sz="1800" kern="1200" dirty="0" err="1" smtClean="0">
                          <a:solidFill>
                            <a:schemeClr val="dk1"/>
                          </a:solidFill>
                          <a:effectLst/>
                          <a:latin typeface="Times New Roman" panose="02020603050405020304" pitchFamily="18" charset="0"/>
                          <a:ea typeface="+mn-ea"/>
                          <a:cs typeface="Times New Roman" panose="02020603050405020304" pitchFamily="18" charset="0"/>
                        </a:rPr>
                        <a:t>IoT</a:t>
                      </a:r>
                      <a:endParaRPr kumimoji="0" lang="en-IN" sz="1800" kern="1200" dirty="0">
                        <a:solidFill>
                          <a:schemeClr val="dk1"/>
                        </a:solidFill>
                        <a:latin typeface="Times New Roman" pitchFamily="18" charset="0"/>
                        <a:ea typeface="+mn-ea"/>
                        <a:cs typeface="Times New Roman" pitchFamily="18" charset="0"/>
                      </a:endParaRPr>
                    </a:p>
                  </a:txBody>
                  <a:tcPr/>
                </a:tc>
                <a:tc>
                  <a:txBody>
                    <a:bodyPr/>
                    <a:lstStyle/>
                    <a:p>
                      <a:pPr marL="0" algn="ctr" defTabSz="457200" rtl="0" eaLnBrk="1" latinLnBrk="0" hangingPunct="1"/>
                      <a:r>
                        <a:rPr lang="en-US" sz="1800" kern="1200" dirty="0" smtClean="0">
                          <a:solidFill>
                            <a:schemeClr val="tx1"/>
                          </a:solidFill>
                          <a:latin typeface="Times New Roman" pitchFamily="18" charset="0"/>
                          <a:ea typeface="+mn-ea"/>
                          <a:cs typeface="Times New Roman" pitchFamily="18" charset="0"/>
                        </a:rPr>
                        <a:t>2015</a:t>
                      </a:r>
                      <a:endParaRPr lang="en-IN" sz="1800" kern="1200" dirty="0">
                        <a:solidFill>
                          <a:schemeClr val="tx1"/>
                        </a:solidFill>
                        <a:latin typeface="Times New Roman" pitchFamily="18" charset="0"/>
                        <a:ea typeface="+mn-ea"/>
                        <a:cs typeface="Times New Roman" pitchFamily="18" charset="0"/>
                      </a:endParaRPr>
                    </a:p>
                  </a:txBody>
                  <a:tcPr/>
                </a:tc>
                <a:tc>
                  <a:txBody>
                    <a:bodyPr/>
                    <a:lstStyle/>
                    <a:p>
                      <a:r>
                        <a:rPr lang="en-IN" sz="1800" dirty="0" err="1" smtClean="0">
                          <a:effectLst/>
                          <a:latin typeface="Times New Roman" panose="02020603050405020304" pitchFamily="18" charset="0"/>
                          <a:ea typeface="Calibri" panose="020F0502020204030204" pitchFamily="34" charset="0"/>
                        </a:rPr>
                        <a:t>Dr.</a:t>
                      </a:r>
                      <a:r>
                        <a:rPr lang="en-IN" sz="1800" dirty="0" smtClean="0">
                          <a:effectLst/>
                          <a:latin typeface="Times New Roman" panose="02020603050405020304" pitchFamily="18" charset="0"/>
                          <a:ea typeface="Calibri" panose="020F0502020204030204" pitchFamily="34" charset="0"/>
                        </a:rPr>
                        <a:t> G. H. Agrawal, </a:t>
                      </a:r>
                      <a:r>
                        <a:rPr lang="en-IN" sz="1800" dirty="0" err="1" smtClean="0">
                          <a:effectLst/>
                          <a:latin typeface="Times New Roman" panose="02020603050405020304" pitchFamily="18" charset="0"/>
                          <a:ea typeface="Calibri" panose="020F0502020204030204" pitchFamily="34" charset="0"/>
                        </a:rPr>
                        <a:t>Prof.</a:t>
                      </a:r>
                      <a:r>
                        <a:rPr lang="en-IN" sz="1800" dirty="0" smtClean="0">
                          <a:effectLst/>
                          <a:latin typeface="Times New Roman" panose="02020603050405020304" pitchFamily="18" charset="0"/>
                          <a:ea typeface="Calibri" panose="020F0502020204030204" pitchFamily="34" charset="0"/>
                        </a:rPr>
                        <a:t> S. G. </a:t>
                      </a:r>
                      <a:r>
                        <a:rPr lang="en-IN" sz="1800" dirty="0" err="1" smtClean="0">
                          <a:effectLst/>
                          <a:latin typeface="Times New Roman" panose="02020603050405020304" pitchFamily="18" charset="0"/>
                          <a:ea typeface="Calibri" panose="020F0502020204030204" pitchFamily="34" charset="0"/>
                        </a:rPr>
                        <a:t>Galande</a:t>
                      </a:r>
                      <a:r>
                        <a:rPr lang="en-IN" sz="1800" dirty="0" smtClean="0">
                          <a:effectLst/>
                          <a:latin typeface="Times New Roman" panose="02020603050405020304" pitchFamily="18" charset="0"/>
                          <a:ea typeface="Calibri" panose="020F0502020204030204" pitchFamily="34" charset="0"/>
                        </a:rPr>
                        <a:t>, </a:t>
                      </a:r>
                      <a:r>
                        <a:rPr lang="en-IN" sz="1800" dirty="0" err="1" smtClean="0">
                          <a:effectLst/>
                          <a:latin typeface="Times New Roman" panose="02020603050405020304" pitchFamily="18" charset="0"/>
                          <a:ea typeface="Calibri" panose="020F0502020204030204" pitchFamily="34" charset="0"/>
                        </a:rPr>
                        <a:t>Shalaka</a:t>
                      </a:r>
                      <a:r>
                        <a:rPr lang="en-IN" sz="1800" dirty="0" smtClean="0">
                          <a:effectLst/>
                          <a:latin typeface="Times New Roman" panose="02020603050405020304" pitchFamily="18" charset="0"/>
                          <a:ea typeface="Calibri" panose="020F0502020204030204" pitchFamily="34" charset="0"/>
                        </a:rPr>
                        <a:t> R. </a:t>
                      </a:r>
                      <a:r>
                        <a:rPr lang="en-IN" sz="1800" dirty="0" err="1" smtClean="0">
                          <a:effectLst/>
                          <a:latin typeface="Times New Roman" panose="02020603050405020304" pitchFamily="18" charset="0"/>
                          <a:ea typeface="Calibri" panose="020F0502020204030204" pitchFamily="34" charset="0"/>
                        </a:rPr>
                        <a:t>Londhe</a:t>
                      </a:r>
                      <a:endParaRPr kumimoji="0" lang="en-IN" sz="1800" kern="1200" dirty="0">
                        <a:solidFill>
                          <a:schemeClr val="dk1"/>
                        </a:solidFill>
                        <a:latin typeface="Times New Roman" pitchFamily="18" charset="0"/>
                        <a:ea typeface="+mn-ea"/>
                        <a:cs typeface="Times New Roman" pitchFamily="18" charset="0"/>
                      </a:endParaRPr>
                    </a:p>
                  </a:txBody>
                  <a:tcPr/>
                </a:tc>
                <a:tc>
                  <a:txBody>
                    <a:bodyPr/>
                    <a:lstStyle/>
                    <a:p>
                      <a:pPr marL="0" algn="just" defTabSz="457200" rtl="0" eaLnBrk="1" latinLnBrk="0" hangingPunct="1"/>
                      <a:r>
                        <a:rPr lang="en-IN" sz="1800" kern="1200" dirty="0" smtClean="0">
                          <a:solidFill>
                            <a:schemeClr val="dk1"/>
                          </a:solidFill>
                          <a:effectLst/>
                          <a:latin typeface="Times New Roman" panose="02020603050405020304" pitchFamily="18" charset="0"/>
                          <a:ea typeface="+mn-ea"/>
                          <a:cs typeface="Times New Roman" panose="02020603050405020304" pitchFamily="18" charset="0"/>
                        </a:rPr>
                        <a:t>We have actualized a framework which indicates usage for Internet of Things utilized for observing general climatic parameters conditions by method for minimal effort, effectively accessible detecting framework. The depiction about the incorporated system building design and the interconnecting components for solid estimation of parameters by savvy sensors and transmission of information through web is being displayed in straightforward dialect. By surveying past writing we came to realize that there is have to advise rancher about wellbeing state of his field specifically by means of web so all outcomes are straightforwardly sent to agriculturist through send letters charge in </a:t>
                      </a:r>
                      <a:r>
                        <a:rPr lang="en-IN" sz="1800" kern="1200" dirty="0" err="1" smtClean="0">
                          <a:solidFill>
                            <a:schemeClr val="dk1"/>
                          </a:solidFill>
                          <a:effectLst/>
                          <a:latin typeface="Times New Roman" panose="02020603050405020304" pitchFamily="18" charset="0"/>
                          <a:ea typeface="+mn-ea"/>
                          <a:cs typeface="Times New Roman" panose="02020603050405020304" pitchFamily="18" charset="0"/>
                        </a:rPr>
                        <a:t>Matlab</a:t>
                      </a:r>
                      <a:r>
                        <a:rPr lang="en-IN" sz="1800" kern="1200" dirty="0" smtClean="0">
                          <a:solidFill>
                            <a:schemeClr val="dk1"/>
                          </a:solidFill>
                          <a:effectLst/>
                          <a:latin typeface="Times New Roman" panose="02020603050405020304" pitchFamily="18" charset="0"/>
                          <a:ea typeface="+mn-ea"/>
                          <a:cs typeface="Times New Roman" panose="02020603050405020304" pitchFamily="18" charset="0"/>
                        </a:rPr>
                        <a:t>.</a:t>
                      </a:r>
                      <a:endParaRPr lang="en-IN" sz="1800" kern="1200" dirty="0">
                        <a:solidFill>
                          <a:schemeClr val="tx1"/>
                        </a:solidFill>
                        <a:latin typeface="Times New Roman" pitchFamily="18" charset="0"/>
                        <a:ea typeface="+mn-ea"/>
                        <a:cs typeface="Times New Roman" pitchFamily="18" charset="0"/>
                      </a:endParaRPr>
                    </a:p>
                  </a:txBody>
                  <a:tcPr/>
                </a:tc>
              </a:tr>
            </a:tbl>
          </a:graphicData>
        </a:graphic>
      </p:graphicFrame>
    </p:spTree>
    <p:extLst>
      <p:ext uri="{BB962C8B-B14F-4D97-AF65-F5344CB8AC3E}">
        <p14:creationId xmlns:p14="http://schemas.microsoft.com/office/powerpoint/2010/main" val="41121387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2" y="6492877"/>
            <a:ext cx="2844799" cy="365125"/>
          </a:xfrm>
        </p:spPr>
        <p:txBody>
          <a:bodyPr/>
          <a:lstStyle/>
          <a:p>
            <a:fld id="{BFE06AB5-D6E9-4208-88FB-04C9A03F34A6}" type="datetime1">
              <a:rPr lang="en-US" sz="1100" smtClean="0">
                <a:latin typeface="Times New Roman" panose="02020603050405020304" pitchFamily="18" charset="0"/>
                <a:cs typeface="Times New Roman" panose="02020603050405020304" pitchFamily="18" charset="0"/>
              </a:rPr>
              <a:pPr/>
              <a:t>7/4/2024</a:t>
            </a:fld>
            <a:endParaRPr lang="en-US" sz="11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a:xfrm>
            <a:off x="10674211" y="6492893"/>
            <a:ext cx="1052508" cy="365125"/>
          </a:xfrm>
        </p:spPr>
        <p:txBody>
          <a:bodyPr/>
          <a:lstStyle/>
          <a:p>
            <a:fld id="{7DCB20AE-65C4-4F49-978F-B82EFE8D490C}" type="slidenum">
              <a:rPr lang="en-US" sz="1100" smtClean="0">
                <a:latin typeface="Times New Roman" panose="02020603050405020304" pitchFamily="18" charset="0"/>
                <a:cs typeface="Times New Roman" panose="02020603050405020304" pitchFamily="18" charset="0"/>
              </a:rPr>
              <a:pPr/>
              <a:t>17</a:t>
            </a:fld>
            <a:endParaRPr lang="en-US" sz="1100" dirty="0">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nvPr>
        </p:nvGraphicFramePr>
        <p:xfrm>
          <a:off x="204716" y="218368"/>
          <a:ext cx="11778019" cy="6318913"/>
        </p:xfrm>
        <a:graphic>
          <a:graphicData uri="http://schemas.openxmlformats.org/drawingml/2006/table">
            <a:tbl>
              <a:tblPr firstRow="1" bandRow="1">
                <a:tableStyleId>{5C22544A-7EE6-4342-B048-85BDC9FD1C3A}</a:tableStyleId>
              </a:tblPr>
              <a:tblGrid>
                <a:gridCol w="2944505"/>
                <a:gridCol w="2461079"/>
                <a:gridCol w="2557764"/>
                <a:gridCol w="3814671"/>
              </a:tblGrid>
              <a:tr h="705510">
                <a:tc>
                  <a:txBody>
                    <a:bodyPr/>
                    <a:lstStyle/>
                    <a:p>
                      <a:r>
                        <a:rPr lang="en-US" sz="2000" dirty="0" smtClean="0">
                          <a:solidFill>
                            <a:schemeClr val="tx1"/>
                          </a:solidFill>
                          <a:latin typeface="Times New Roman" pitchFamily="18" charset="0"/>
                          <a:cs typeface="Times New Roman" pitchFamily="18" charset="0"/>
                        </a:rPr>
                        <a:t>Title</a:t>
                      </a:r>
                      <a:endParaRPr lang="en-IN" sz="2000" dirty="0">
                        <a:solidFill>
                          <a:schemeClr val="tx1"/>
                        </a:solidFill>
                        <a:latin typeface="Times New Roman" pitchFamily="18" charset="0"/>
                        <a:cs typeface="Times New Roman" pitchFamily="18" charset="0"/>
                      </a:endParaRPr>
                    </a:p>
                  </a:txBody>
                  <a:tcPr/>
                </a:tc>
                <a:tc>
                  <a:txBody>
                    <a:bodyPr/>
                    <a:lstStyle/>
                    <a:p>
                      <a:r>
                        <a:rPr lang="en-US" sz="2000" dirty="0" smtClean="0">
                          <a:solidFill>
                            <a:schemeClr val="tx1"/>
                          </a:solidFill>
                          <a:latin typeface="Times New Roman" pitchFamily="18" charset="0"/>
                          <a:cs typeface="Times New Roman" pitchFamily="18" charset="0"/>
                        </a:rPr>
                        <a:t>Year</a:t>
                      </a:r>
                      <a:endParaRPr lang="en-IN" sz="2000" dirty="0">
                        <a:solidFill>
                          <a:schemeClr val="tx1"/>
                        </a:solidFill>
                        <a:latin typeface="Times New Roman" pitchFamily="18" charset="0"/>
                        <a:cs typeface="Times New Roman" pitchFamily="18" charset="0"/>
                      </a:endParaRPr>
                    </a:p>
                  </a:txBody>
                  <a:tcPr/>
                </a:tc>
                <a:tc>
                  <a:txBody>
                    <a:bodyPr/>
                    <a:lstStyle/>
                    <a:p>
                      <a:r>
                        <a:rPr lang="en-US" sz="2000" dirty="0" smtClean="0">
                          <a:solidFill>
                            <a:schemeClr val="tx1"/>
                          </a:solidFill>
                          <a:latin typeface="Times New Roman" pitchFamily="18" charset="0"/>
                          <a:cs typeface="Times New Roman" pitchFamily="18" charset="0"/>
                        </a:rPr>
                        <a:t>Author</a:t>
                      </a:r>
                      <a:endParaRPr lang="en-IN" sz="2000" dirty="0">
                        <a:solidFill>
                          <a:schemeClr val="tx1"/>
                        </a:solidFill>
                        <a:latin typeface="Times New Roman" pitchFamily="18" charset="0"/>
                        <a:cs typeface="Times New Roman" pitchFamily="18"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2000" b="1" kern="1200" dirty="0" smtClean="0">
                          <a:solidFill>
                            <a:schemeClr val="tx1"/>
                          </a:solidFill>
                          <a:effectLst/>
                          <a:latin typeface="Times New Roman" pitchFamily="18" charset="0"/>
                          <a:ea typeface="+mn-ea"/>
                          <a:cs typeface="Times New Roman" pitchFamily="18" charset="0"/>
                        </a:rPr>
                        <a:t>Methodology</a:t>
                      </a:r>
                    </a:p>
                    <a:p>
                      <a:endParaRPr lang="en-IN" sz="2000" dirty="0">
                        <a:solidFill>
                          <a:schemeClr val="tx1"/>
                        </a:solidFill>
                        <a:latin typeface="Times New Roman" pitchFamily="18" charset="0"/>
                        <a:cs typeface="Times New Roman" pitchFamily="18" charset="0"/>
                      </a:endParaRPr>
                    </a:p>
                  </a:txBody>
                  <a:tcPr/>
                </a:tc>
              </a:tr>
              <a:tr h="5613403">
                <a:tc>
                  <a:txBody>
                    <a:bodyPr/>
                    <a:lstStyle/>
                    <a:p>
                      <a:pPr algn="just">
                        <a:lnSpc>
                          <a:spcPct val="100000"/>
                        </a:lnSpc>
                        <a:spcAft>
                          <a:spcPts val="800"/>
                        </a:spcAft>
                      </a:pPr>
                      <a:r>
                        <a:rPr lang="en-IN" sz="1800" dirty="0" smtClean="0">
                          <a:solidFill>
                            <a:srgbClr val="000000"/>
                          </a:solidFill>
                          <a:effectLst/>
                          <a:latin typeface="Times New Roman" panose="02020603050405020304" pitchFamily="18" charset="0"/>
                          <a:ea typeface="Calibri" panose="020F0502020204030204" pitchFamily="34" charset="0"/>
                        </a:rPr>
                        <a:t>The boosting approach to machine</a:t>
                      </a:r>
                      <a:r>
                        <a:rPr lang="en-IN" sz="1800" dirty="0" smtClean="0">
                          <a:effectLst/>
                          <a:latin typeface="Times New Roman" panose="02020603050405020304" pitchFamily="18" charset="0"/>
                          <a:ea typeface="Calibri" panose="020F0502020204030204" pitchFamily="34" charset="0"/>
                        </a:rPr>
                        <a:t> </a:t>
                      </a:r>
                      <a:r>
                        <a:rPr lang="en-IN" sz="1800" dirty="0" smtClean="0">
                          <a:solidFill>
                            <a:srgbClr val="000000"/>
                          </a:solidFill>
                          <a:effectLst/>
                          <a:latin typeface="Times New Roman" panose="02020603050405020304" pitchFamily="18" charset="0"/>
                          <a:ea typeface="Calibri" panose="020F0502020204030204" pitchFamily="34" charset="0"/>
                        </a:rPr>
                        <a:t>learning: An overview" in Nonlinear estimation and classification.</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a:tc>
                <a:tc>
                  <a:txBody>
                    <a:bodyPr/>
                    <a:lstStyle/>
                    <a:p>
                      <a:pPr algn="ctr"/>
                      <a:r>
                        <a:rPr lang="en-IN" sz="2000" kern="1200" dirty="0" smtClean="0">
                          <a:solidFill>
                            <a:schemeClr val="tx1"/>
                          </a:solidFill>
                          <a:latin typeface="Times New Roman" pitchFamily="18" charset="0"/>
                          <a:ea typeface="+mn-ea"/>
                          <a:cs typeface="Times New Roman" pitchFamily="18" charset="0"/>
                        </a:rPr>
                        <a:t>2014</a:t>
                      </a:r>
                      <a:endParaRPr lang="en-IN" sz="2000" kern="1200" dirty="0">
                        <a:solidFill>
                          <a:schemeClr val="tx1"/>
                        </a:solidFill>
                        <a:latin typeface="Times New Roman" pitchFamily="18" charset="0"/>
                        <a:ea typeface="+mn-ea"/>
                        <a:cs typeface="Times New Roman" pitchFamily="18" charset="0"/>
                      </a:endParaRPr>
                    </a:p>
                  </a:txBody>
                  <a:tcPr/>
                </a:tc>
                <a:tc>
                  <a:txBody>
                    <a:bodyPr/>
                    <a:lstStyle/>
                    <a:p>
                      <a:r>
                        <a:rPr lang="en-IN" sz="1800" dirty="0" err="1" smtClean="0">
                          <a:effectLst/>
                          <a:latin typeface="Times New Roman" panose="02020603050405020304" pitchFamily="18" charset="0"/>
                          <a:ea typeface="Calibri" panose="020F0502020204030204" pitchFamily="34" charset="0"/>
                        </a:rPr>
                        <a:t>R.E.Scahpire</a:t>
                      </a: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r>
                        <a:rPr lang="en-IN" sz="1800" kern="1200" dirty="0" smtClean="0">
                          <a:solidFill>
                            <a:schemeClr val="dk1"/>
                          </a:solidFill>
                          <a:effectLst/>
                          <a:latin typeface="Times New Roman" panose="02020603050405020304" pitchFamily="18" charset="0"/>
                          <a:ea typeface="+mn-ea"/>
                          <a:cs typeface="Times New Roman" panose="02020603050405020304" pitchFamily="18" charset="0"/>
                        </a:rPr>
                        <a:t>Boosting is a general method for improving the accuracy of any given learning algorithm. Focusing primarily on the </a:t>
                      </a:r>
                      <a:r>
                        <a:rPr lang="en-IN" sz="1800" kern="1200" dirty="0" err="1" smtClean="0">
                          <a:solidFill>
                            <a:schemeClr val="dk1"/>
                          </a:solidFill>
                          <a:effectLst/>
                          <a:latin typeface="Times New Roman" panose="02020603050405020304" pitchFamily="18" charset="0"/>
                          <a:ea typeface="+mn-ea"/>
                          <a:cs typeface="Times New Roman" panose="02020603050405020304" pitchFamily="18" charset="0"/>
                        </a:rPr>
                        <a:t>AdaBoost</a:t>
                      </a:r>
                      <a:r>
                        <a:rPr lang="en-IN" sz="1800" kern="1200" dirty="0" smtClean="0">
                          <a:solidFill>
                            <a:schemeClr val="dk1"/>
                          </a:solidFill>
                          <a:effectLst/>
                          <a:latin typeface="Times New Roman" panose="02020603050405020304" pitchFamily="18" charset="0"/>
                          <a:ea typeface="+mn-ea"/>
                          <a:cs typeface="Times New Roman" panose="02020603050405020304" pitchFamily="18" charset="0"/>
                        </a:rPr>
                        <a:t> algorithm, this chapter overviews some of the recent work on boosting including analyses of </a:t>
                      </a:r>
                      <a:r>
                        <a:rPr lang="en-IN" sz="1800" kern="1200" dirty="0" err="1" smtClean="0">
                          <a:solidFill>
                            <a:schemeClr val="dk1"/>
                          </a:solidFill>
                          <a:effectLst/>
                          <a:latin typeface="Times New Roman" panose="02020603050405020304" pitchFamily="18" charset="0"/>
                          <a:ea typeface="+mn-ea"/>
                          <a:cs typeface="Times New Roman" panose="02020603050405020304" pitchFamily="18" charset="0"/>
                        </a:rPr>
                        <a:t>AdaBoost’s</a:t>
                      </a:r>
                      <a:r>
                        <a:rPr lang="en-IN" sz="1800" kern="1200" dirty="0" smtClean="0">
                          <a:solidFill>
                            <a:schemeClr val="dk1"/>
                          </a:solidFill>
                          <a:effectLst/>
                          <a:latin typeface="Times New Roman" panose="02020603050405020304" pitchFamily="18" charset="0"/>
                          <a:ea typeface="+mn-ea"/>
                          <a:cs typeface="Times New Roman" panose="02020603050405020304" pitchFamily="18" charset="0"/>
                        </a:rPr>
                        <a:t> training error and generalization error boosting’s connection to game theory and linear programming; the relationship between boosting and logistic regression extensions of </a:t>
                      </a:r>
                      <a:r>
                        <a:rPr lang="en-IN" sz="1800" kern="1200" dirty="0" err="1" smtClean="0">
                          <a:solidFill>
                            <a:schemeClr val="dk1"/>
                          </a:solidFill>
                          <a:effectLst/>
                          <a:latin typeface="Times New Roman" panose="02020603050405020304" pitchFamily="18" charset="0"/>
                          <a:ea typeface="+mn-ea"/>
                          <a:cs typeface="Times New Roman" panose="02020603050405020304" pitchFamily="18" charset="0"/>
                        </a:rPr>
                        <a:t>AdaBoost</a:t>
                      </a:r>
                      <a:r>
                        <a:rPr lang="en-IN" sz="1800" kern="1200" dirty="0" smtClean="0">
                          <a:solidFill>
                            <a:schemeClr val="dk1"/>
                          </a:solidFill>
                          <a:effectLst/>
                          <a:latin typeface="Times New Roman" panose="02020603050405020304" pitchFamily="18" charset="0"/>
                          <a:ea typeface="+mn-ea"/>
                          <a:cs typeface="Times New Roman" panose="02020603050405020304" pitchFamily="18" charset="0"/>
                        </a:rPr>
                        <a:t> for multiclass classification problems; methods of incorporating human knowledge into boosting; and experimental and applied work using boosting </a:t>
                      </a: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r>
            </a:tbl>
          </a:graphicData>
        </a:graphic>
      </p:graphicFrame>
    </p:spTree>
    <p:extLst>
      <p:ext uri="{BB962C8B-B14F-4D97-AF65-F5344CB8AC3E}">
        <p14:creationId xmlns:p14="http://schemas.microsoft.com/office/powerpoint/2010/main" val="5085169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36149"/>
            <a:ext cx="2462529" cy="321851"/>
          </a:xfrm>
        </p:spPr>
        <p:txBody>
          <a:bodyPr/>
          <a:lstStyle/>
          <a:p>
            <a:fld id="{BFE06AB5-D6E9-4208-88FB-04C9A03F34A6}" type="datetime1">
              <a:rPr lang="en-US" sz="1100" smtClean="0">
                <a:solidFill>
                  <a:schemeClr val="tx1"/>
                </a:solidFill>
                <a:latin typeface="Times New Roman" panose="02020603050405020304" pitchFamily="18" charset="0"/>
                <a:cs typeface="Times New Roman" panose="02020603050405020304" pitchFamily="18" charset="0"/>
              </a:rPr>
              <a:pPr/>
              <a:t>7/4/2024</a:t>
            </a:fld>
            <a:endParaRPr lang="en-US" sz="1100" dirty="0">
              <a:solidFill>
                <a:schemeClr val="tx1"/>
              </a:solidFill>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a:xfrm>
            <a:off x="10068308" y="6536149"/>
            <a:ext cx="911078" cy="321851"/>
          </a:xfrm>
        </p:spPr>
        <p:txBody>
          <a:bodyPr/>
          <a:lstStyle/>
          <a:p>
            <a:fld id="{7DCB20AE-65C4-4F49-978F-B82EFE8D490C}" type="slidenum">
              <a:rPr lang="en-US" sz="1100" smtClean="0">
                <a:solidFill>
                  <a:schemeClr val="tx1"/>
                </a:solidFill>
                <a:latin typeface="Times New Roman" panose="02020603050405020304" pitchFamily="18" charset="0"/>
                <a:cs typeface="Times New Roman" panose="02020603050405020304" pitchFamily="18" charset="0"/>
              </a:rPr>
              <a:pPr/>
              <a:t>18</a:t>
            </a:fld>
            <a:endParaRPr lang="en-US" sz="1100" dirty="0">
              <a:solidFill>
                <a:schemeClr val="tx1"/>
              </a:solidFill>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nvPr>
        </p:nvGraphicFramePr>
        <p:xfrm>
          <a:off x="150125" y="43256"/>
          <a:ext cx="11928143" cy="6594121"/>
        </p:xfrm>
        <a:graphic>
          <a:graphicData uri="http://schemas.openxmlformats.org/drawingml/2006/table">
            <a:tbl>
              <a:tblPr firstRow="1" bandRow="1">
                <a:tableStyleId>{5C22544A-7EE6-4342-B048-85BDC9FD1C3A}</a:tableStyleId>
              </a:tblPr>
              <a:tblGrid>
                <a:gridCol w="2982035"/>
                <a:gridCol w="2685946"/>
                <a:gridCol w="2824144"/>
                <a:gridCol w="3436018"/>
              </a:tblGrid>
              <a:tr h="741961">
                <a:tc>
                  <a:txBody>
                    <a:bodyPr/>
                    <a:lstStyle/>
                    <a:p>
                      <a:r>
                        <a:rPr lang="en-US" sz="2000" dirty="0" smtClean="0">
                          <a:solidFill>
                            <a:schemeClr val="tx1"/>
                          </a:solidFill>
                          <a:latin typeface="Times New Roman" pitchFamily="18" charset="0"/>
                          <a:cs typeface="Times New Roman" pitchFamily="18" charset="0"/>
                        </a:rPr>
                        <a:t>Title</a:t>
                      </a:r>
                      <a:endParaRPr lang="en-IN" sz="2000" dirty="0">
                        <a:solidFill>
                          <a:schemeClr val="tx1"/>
                        </a:solidFill>
                        <a:latin typeface="Times New Roman" pitchFamily="18" charset="0"/>
                        <a:cs typeface="Times New Roman" pitchFamily="18" charset="0"/>
                      </a:endParaRPr>
                    </a:p>
                  </a:txBody>
                  <a:tcPr/>
                </a:tc>
                <a:tc>
                  <a:txBody>
                    <a:bodyPr/>
                    <a:lstStyle/>
                    <a:p>
                      <a:r>
                        <a:rPr lang="en-US" sz="2000" dirty="0" smtClean="0">
                          <a:solidFill>
                            <a:schemeClr val="tx1"/>
                          </a:solidFill>
                          <a:latin typeface="Times New Roman" pitchFamily="18" charset="0"/>
                          <a:cs typeface="Times New Roman" pitchFamily="18" charset="0"/>
                        </a:rPr>
                        <a:t>Year</a:t>
                      </a:r>
                      <a:endParaRPr lang="en-IN" sz="2000" dirty="0">
                        <a:solidFill>
                          <a:schemeClr val="tx1"/>
                        </a:solidFill>
                        <a:latin typeface="Times New Roman" pitchFamily="18" charset="0"/>
                        <a:cs typeface="Times New Roman" pitchFamily="18" charset="0"/>
                      </a:endParaRPr>
                    </a:p>
                  </a:txBody>
                  <a:tcPr/>
                </a:tc>
                <a:tc>
                  <a:txBody>
                    <a:bodyPr/>
                    <a:lstStyle/>
                    <a:p>
                      <a:r>
                        <a:rPr lang="en-US" sz="2000" dirty="0" smtClean="0">
                          <a:solidFill>
                            <a:schemeClr val="tx1"/>
                          </a:solidFill>
                          <a:latin typeface="Times New Roman" pitchFamily="18" charset="0"/>
                          <a:cs typeface="Times New Roman" pitchFamily="18" charset="0"/>
                        </a:rPr>
                        <a:t>Author</a:t>
                      </a:r>
                      <a:endParaRPr lang="en-IN" sz="2000" dirty="0">
                        <a:solidFill>
                          <a:schemeClr val="tx1"/>
                        </a:solidFill>
                        <a:latin typeface="Times New Roman" pitchFamily="18" charset="0"/>
                        <a:cs typeface="Times New Roman" pitchFamily="18"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2000" b="1" kern="1200" dirty="0" smtClean="0">
                          <a:solidFill>
                            <a:schemeClr val="tx1"/>
                          </a:solidFill>
                          <a:effectLst/>
                          <a:latin typeface="Times New Roman" pitchFamily="18" charset="0"/>
                          <a:ea typeface="+mn-ea"/>
                          <a:cs typeface="Times New Roman" pitchFamily="18" charset="0"/>
                        </a:rPr>
                        <a:t>Methodology</a:t>
                      </a:r>
                    </a:p>
                    <a:p>
                      <a:endParaRPr lang="en-IN" sz="2000" dirty="0">
                        <a:solidFill>
                          <a:schemeClr val="tx1"/>
                        </a:solidFill>
                        <a:latin typeface="Times New Roman" pitchFamily="18" charset="0"/>
                        <a:cs typeface="Times New Roman" pitchFamily="18" charset="0"/>
                      </a:endParaRPr>
                    </a:p>
                  </a:txBody>
                  <a:tcPr/>
                </a:tc>
              </a:tr>
              <a:tr h="5704483">
                <a:tc>
                  <a:txBody>
                    <a:bodyPr/>
                    <a:lstStyle/>
                    <a:p>
                      <a:r>
                        <a:rPr lang="en-IN" sz="1800" dirty="0" smtClean="0">
                          <a:solidFill>
                            <a:srgbClr val="000000"/>
                          </a:solidFill>
                          <a:effectLst/>
                          <a:latin typeface="Times New Roman" panose="02020603050405020304" pitchFamily="18" charset="0"/>
                          <a:ea typeface="Calibri" panose="020F0502020204030204" pitchFamily="34" charset="0"/>
                        </a:rPr>
                        <a:t>Support vector clustering</a:t>
                      </a: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marL="0" algn="ctr" defTabSz="457200" rtl="0" eaLnBrk="1" latinLnBrk="0" hangingPunct="1"/>
                      <a:r>
                        <a:rPr lang="en-US" sz="1800" kern="1200" dirty="0" smtClean="0">
                          <a:solidFill>
                            <a:schemeClr val="tx1"/>
                          </a:solidFill>
                          <a:latin typeface="Times New Roman" pitchFamily="18" charset="0"/>
                          <a:ea typeface="+mn-ea"/>
                          <a:cs typeface="Times New Roman" pitchFamily="18" charset="0"/>
                        </a:rPr>
                        <a:t>2012</a:t>
                      </a:r>
                      <a:endParaRPr lang="en-IN" sz="1800" kern="1200" dirty="0">
                        <a:solidFill>
                          <a:schemeClr val="tx1"/>
                        </a:solidFill>
                        <a:latin typeface="Times New Roman" pitchFamily="18" charset="0"/>
                        <a:ea typeface="+mn-ea"/>
                        <a:cs typeface="Times New Roman" pitchFamily="18" charset="0"/>
                      </a:endParaRPr>
                    </a:p>
                  </a:txBody>
                  <a:tcPr/>
                </a:tc>
                <a:tc>
                  <a:txBody>
                    <a:bodyPr/>
                    <a:lstStyle/>
                    <a:p>
                      <a:pPr marL="0" algn="just" defTabSz="457200" rtl="0" eaLnBrk="1" latinLnBrk="0" hangingPunct="1"/>
                      <a:r>
                        <a:rPr lang="en-IN" sz="1800" dirty="0" smtClean="0">
                          <a:solidFill>
                            <a:srgbClr val="000000"/>
                          </a:solidFill>
                          <a:effectLst/>
                          <a:latin typeface="Times New Roman" panose="02020603050405020304" pitchFamily="18" charset="0"/>
                          <a:ea typeface="Calibri" panose="020F0502020204030204" pitchFamily="34" charset="0"/>
                        </a:rPr>
                        <a:t>A. Ben-</a:t>
                      </a:r>
                      <a:r>
                        <a:rPr lang="en-IN" sz="1800" dirty="0" err="1" smtClean="0">
                          <a:solidFill>
                            <a:srgbClr val="000000"/>
                          </a:solidFill>
                          <a:effectLst/>
                          <a:latin typeface="Times New Roman" panose="02020603050405020304" pitchFamily="18" charset="0"/>
                          <a:ea typeface="Calibri" panose="020F0502020204030204" pitchFamily="34" charset="0"/>
                        </a:rPr>
                        <a:t>Hur</a:t>
                      </a:r>
                      <a:r>
                        <a:rPr lang="en-IN" sz="1800" dirty="0" smtClean="0">
                          <a:solidFill>
                            <a:srgbClr val="000000"/>
                          </a:solidFill>
                          <a:effectLst/>
                          <a:latin typeface="Times New Roman" panose="02020603050405020304" pitchFamily="18" charset="0"/>
                          <a:ea typeface="Calibri" panose="020F0502020204030204" pitchFamily="34" charset="0"/>
                        </a:rPr>
                        <a:t>, D. Horn, H. T. </a:t>
                      </a:r>
                      <a:r>
                        <a:rPr lang="en-IN" sz="1800" dirty="0" err="1" smtClean="0">
                          <a:solidFill>
                            <a:srgbClr val="000000"/>
                          </a:solidFill>
                          <a:effectLst/>
                          <a:latin typeface="Times New Roman" panose="02020603050405020304" pitchFamily="18" charset="0"/>
                          <a:ea typeface="Calibri" panose="020F0502020204030204" pitchFamily="34" charset="0"/>
                        </a:rPr>
                        <a:t>Siegelmann</a:t>
                      </a:r>
                      <a:r>
                        <a:rPr lang="en-IN" sz="1800" dirty="0" smtClean="0">
                          <a:solidFill>
                            <a:srgbClr val="000000"/>
                          </a:solidFill>
                          <a:effectLst/>
                          <a:latin typeface="Times New Roman" panose="02020603050405020304" pitchFamily="18" charset="0"/>
                          <a:ea typeface="Calibri" panose="020F0502020204030204" pitchFamily="34" charset="0"/>
                        </a:rPr>
                        <a:t>, V. </a:t>
                      </a:r>
                      <a:r>
                        <a:rPr lang="en-IN" sz="1800" dirty="0" err="1" smtClean="0">
                          <a:solidFill>
                            <a:srgbClr val="000000"/>
                          </a:solidFill>
                          <a:effectLst/>
                          <a:latin typeface="Times New Roman" panose="02020603050405020304" pitchFamily="18" charset="0"/>
                          <a:ea typeface="Calibri" panose="020F0502020204030204" pitchFamily="34" charset="0"/>
                        </a:rPr>
                        <a:t>Vapnik</a:t>
                      </a:r>
                      <a:endParaRPr lang="en-IN" sz="1800" kern="1200" dirty="0">
                        <a:solidFill>
                          <a:schemeClr val="tx1"/>
                        </a:solidFill>
                        <a:latin typeface="Times New Roman" pitchFamily="18" charset="0"/>
                        <a:ea typeface="+mn-ea"/>
                        <a:cs typeface="Times New Roman" pitchFamily="18" charset="0"/>
                      </a:endParaRPr>
                    </a:p>
                  </a:txBody>
                  <a:tcPr/>
                </a:tc>
                <a:tc>
                  <a:txBody>
                    <a:bodyPr/>
                    <a:lstStyle/>
                    <a:p>
                      <a:r>
                        <a:rPr lang="en-IN" sz="1800" kern="1200" dirty="0" smtClean="0">
                          <a:solidFill>
                            <a:schemeClr val="dk1"/>
                          </a:solidFill>
                          <a:effectLst/>
                          <a:latin typeface="Times New Roman" panose="02020603050405020304" pitchFamily="18" charset="0"/>
                          <a:ea typeface="+mn-ea"/>
                          <a:cs typeface="Times New Roman" panose="02020603050405020304" pitchFamily="18" charset="0"/>
                        </a:rPr>
                        <a:t>Data points are mapped by means of a Gaussian kernel to a high dimensional feature space, where we search for the minimal enclosing sphere. This sphere, when mapped back to data space, can separate into several components, each enclosing a separate cluster of points. We present a simple algorithm for identifying these clusters. The width of the Gaussian kernel controls the scale at which the data is probed while the soft margin constant helps coping with outliers and overlapping clusters. The structure of a dataset is explored by varying the two parameters, maintaining a minimal number of support vectors to assure smooth cluster boundaries.</a:t>
                      </a: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r>
            </a:tbl>
          </a:graphicData>
        </a:graphic>
      </p:graphicFrame>
    </p:spTree>
    <p:extLst>
      <p:ext uri="{BB962C8B-B14F-4D97-AF65-F5344CB8AC3E}">
        <p14:creationId xmlns:p14="http://schemas.microsoft.com/office/powerpoint/2010/main" val="11610078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2" y="6492877"/>
            <a:ext cx="2844799" cy="365125"/>
          </a:xfrm>
        </p:spPr>
        <p:txBody>
          <a:bodyPr/>
          <a:lstStyle/>
          <a:p>
            <a:fld id="{BFE06AB5-D6E9-4208-88FB-04C9A03F34A6}" type="datetime1">
              <a:rPr lang="en-US" sz="1100" smtClean="0">
                <a:latin typeface="Times New Roman" panose="02020603050405020304" pitchFamily="18" charset="0"/>
                <a:cs typeface="Times New Roman" panose="02020603050405020304" pitchFamily="18" charset="0"/>
              </a:rPr>
              <a:pPr/>
              <a:t>7/4/2024</a:t>
            </a:fld>
            <a:endParaRPr lang="en-US" sz="11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a:xfrm>
            <a:off x="10828759" y="6492893"/>
            <a:ext cx="1052508" cy="365125"/>
          </a:xfrm>
        </p:spPr>
        <p:txBody>
          <a:bodyPr/>
          <a:lstStyle/>
          <a:p>
            <a:fld id="{7DCB20AE-65C4-4F49-978F-B82EFE8D490C}" type="slidenum">
              <a:rPr lang="en-US" sz="1100" smtClean="0">
                <a:latin typeface="Times New Roman" panose="02020603050405020304" pitchFamily="18" charset="0"/>
                <a:cs typeface="Times New Roman" panose="02020603050405020304" pitchFamily="18" charset="0"/>
              </a:rPr>
              <a:pPr/>
              <a:t>19</a:t>
            </a:fld>
            <a:endParaRPr lang="en-US" sz="1100" dirty="0">
              <a:latin typeface="Times New Roman" panose="02020603050405020304" pitchFamily="18" charset="0"/>
              <a:cs typeface="Times New Roman" panose="02020603050405020304" pitchFamily="18" charset="0"/>
            </a:endParaRPr>
          </a:p>
        </p:txBody>
      </p:sp>
      <p:graphicFrame>
        <p:nvGraphicFramePr>
          <p:cNvPr id="8" name="Table 7"/>
          <p:cNvGraphicFramePr>
            <a:graphicFrameLocks noGrp="1"/>
          </p:cNvGraphicFramePr>
          <p:nvPr>
            <p:extLst/>
          </p:nvPr>
        </p:nvGraphicFramePr>
        <p:xfrm>
          <a:off x="0" y="-30480"/>
          <a:ext cx="12191999" cy="6634480"/>
        </p:xfrm>
        <a:graphic>
          <a:graphicData uri="http://schemas.openxmlformats.org/drawingml/2006/table">
            <a:tbl>
              <a:tblPr firstRow="1" bandRow="1">
                <a:tableStyleId>{5C22544A-7EE6-4342-B048-85BDC9FD1C3A}</a:tableStyleId>
              </a:tblPr>
              <a:tblGrid>
                <a:gridCol w="3048000"/>
                <a:gridCol w="2708129"/>
                <a:gridCol w="3167316"/>
                <a:gridCol w="3268554"/>
              </a:tblGrid>
              <a:tr h="740743">
                <a:tc>
                  <a:txBody>
                    <a:bodyPr/>
                    <a:lstStyle/>
                    <a:p>
                      <a:r>
                        <a:rPr lang="en-US" sz="2000" dirty="0" smtClean="0">
                          <a:solidFill>
                            <a:schemeClr val="tx1"/>
                          </a:solidFill>
                          <a:latin typeface="Times New Roman" pitchFamily="18" charset="0"/>
                          <a:cs typeface="Times New Roman" pitchFamily="18" charset="0"/>
                        </a:rPr>
                        <a:t>Title</a:t>
                      </a:r>
                      <a:endParaRPr lang="en-IN" sz="2000" dirty="0">
                        <a:solidFill>
                          <a:schemeClr val="tx1"/>
                        </a:solidFill>
                        <a:latin typeface="Times New Roman" pitchFamily="18" charset="0"/>
                        <a:cs typeface="Times New Roman" pitchFamily="18" charset="0"/>
                      </a:endParaRPr>
                    </a:p>
                  </a:txBody>
                  <a:tcPr/>
                </a:tc>
                <a:tc>
                  <a:txBody>
                    <a:bodyPr/>
                    <a:lstStyle/>
                    <a:p>
                      <a:r>
                        <a:rPr lang="en-US" sz="2000" dirty="0" smtClean="0">
                          <a:solidFill>
                            <a:schemeClr val="tx1"/>
                          </a:solidFill>
                          <a:latin typeface="Times New Roman" pitchFamily="18" charset="0"/>
                          <a:cs typeface="Times New Roman" pitchFamily="18" charset="0"/>
                        </a:rPr>
                        <a:t>Year</a:t>
                      </a:r>
                      <a:endParaRPr lang="en-IN" sz="2000" dirty="0">
                        <a:solidFill>
                          <a:schemeClr val="tx1"/>
                        </a:solidFill>
                        <a:latin typeface="Times New Roman" pitchFamily="18" charset="0"/>
                        <a:cs typeface="Times New Roman" pitchFamily="18" charset="0"/>
                      </a:endParaRPr>
                    </a:p>
                  </a:txBody>
                  <a:tcPr/>
                </a:tc>
                <a:tc>
                  <a:txBody>
                    <a:bodyPr/>
                    <a:lstStyle/>
                    <a:p>
                      <a:r>
                        <a:rPr lang="en-US" sz="2000" dirty="0" smtClean="0">
                          <a:solidFill>
                            <a:schemeClr val="tx1"/>
                          </a:solidFill>
                          <a:latin typeface="Times New Roman" pitchFamily="18" charset="0"/>
                          <a:cs typeface="Times New Roman" pitchFamily="18" charset="0"/>
                        </a:rPr>
                        <a:t>Author</a:t>
                      </a:r>
                      <a:endParaRPr lang="en-IN" sz="2000" dirty="0">
                        <a:solidFill>
                          <a:schemeClr val="tx1"/>
                        </a:solidFill>
                        <a:latin typeface="Times New Roman" pitchFamily="18" charset="0"/>
                        <a:cs typeface="Times New Roman" pitchFamily="18"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2000" b="1" kern="1200" dirty="0" smtClean="0">
                          <a:solidFill>
                            <a:schemeClr val="tx1"/>
                          </a:solidFill>
                          <a:effectLst/>
                          <a:latin typeface="Times New Roman" pitchFamily="18" charset="0"/>
                          <a:ea typeface="+mn-ea"/>
                          <a:cs typeface="Times New Roman" pitchFamily="18" charset="0"/>
                        </a:rPr>
                        <a:t>Methodology</a:t>
                      </a:r>
                    </a:p>
                    <a:p>
                      <a:endParaRPr lang="en-IN" sz="2000" dirty="0">
                        <a:solidFill>
                          <a:schemeClr val="tx1"/>
                        </a:solidFill>
                        <a:latin typeface="Times New Roman" pitchFamily="18" charset="0"/>
                        <a:cs typeface="Times New Roman" pitchFamily="18" charset="0"/>
                      </a:endParaRPr>
                    </a:p>
                  </a:txBody>
                  <a:tcPr/>
                </a:tc>
              </a:tr>
              <a:tr h="5893737">
                <a:tc>
                  <a:txBody>
                    <a:bodyPr/>
                    <a:lstStyle/>
                    <a:p>
                      <a:r>
                        <a:rPr lang="en-IN" sz="1800" kern="1200" dirty="0" smtClean="0">
                          <a:solidFill>
                            <a:schemeClr val="dk1"/>
                          </a:solidFill>
                          <a:effectLst/>
                          <a:latin typeface="Times New Roman" panose="02020603050405020304" pitchFamily="18" charset="0"/>
                          <a:ea typeface="+mn-ea"/>
                          <a:cs typeface="Times New Roman" panose="02020603050405020304" pitchFamily="18" charset="0"/>
                        </a:rPr>
                        <a:t>Land cover change assessment using decision trees support vector machines and maximum likelihood classification algorithms</a:t>
                      </a:r>
                      <a:endParaRPr kumimoji="0" lang="en-IN" sz="1800" kern="1200" dirty="0">
                        <a:solidFill>
                          <a:schemeClr val="dk1"/>
                        </a:solidFill>
                        <a:latin typeface="Times New Roman" pitchFamily="18" charset="0"/>
                        <a:ea typeface="+mn-ea"/>
                        <a:cs typeface="Times New Roman" pitchFamily="18" charset="0"/>
                      </a:endParaRPr>
                    </a:p>
                  </a:txBody>
                  <a:tcPr/>
                </a:tc>
                <a:tc>
                  <a:txBody>
                    <a:bodyPr/>
                    <a:lstStyle/>
                    <a:p>
                      <a:pPr marL="0" algn="ctr" defTabSz="457200" rtl="0" eaLnBrk="1" latinLnBrk="0" hangingPunct="1"/>
                      <a:r>
                        <a:rPr lang="en-US" sz="1800" kern="1200" dirty="0" smtClean="0">
                          <a:solidFill>
                            <a:schemeClr val="tx1"/>
                          </a:solidFill>
                          <a:latin typeface="Times New Roman" pitchFamily="18" charset="0"/>
                          <a:ea typeface="+mn-ea"/>
                          <a:cs typeface="Times New Roman" pitchFamily="18" charset="0"/>
                        </a:rPr>
                        <a:t>2017</a:t>
                      </a:r>
                      <a:endParaRPr lang="en-IN" sz="1800" kern="1200" dirty="0">
                        <a:solidFill>
                          <a:schemeClr val="tx1"/>
                        </a:solidFill>
                        <a:latin typeface="Times New Roman" pitchFamily="18" charset="0"/>
                        <a:ea typeface="+mn-ea"/>
                        <a:cs typeface="Times New Roman" pitchFamily="18" charset="0"/>
                      </a:endParaRPr>
                    </a:p>
                  </a:txBody>
                  <a:tcPr/>
                </a:tc>
                <a:tc>
                  <a:txBody>
                    <a:bodyPr/>
                    <a:lstStyle/>
                    <a:p>
                      <a:r>
                        <a:rPr lang="en-IN" sz="1800" dirty="0" smtClean="0">
                          <a:solidFill>
                            <a:srgbClr val="000000"/>
                          </a:solidFill>
                          <a:effectLst/>
                          <a:latin typeface="Times New Roman" panose="02020603050405020304" pitchFamily="18" charset="0"/>
                          <a:ea typeface="Calibri" panose="020F0502020204030204" pitchFamily="34" charset="0"/>
                        </a:rPr>
                        <a:t>J. R. </a:t>
                      </a:r>
                      <a:r>
                        <a:rPr lang="en-IN" sz="1800" dirty="0" err="1" smtClean="0">
                          <a:solidFill>
                            <a:srgbClr val="000000"/>
                          </a:solidFill>
                          <a:effectLst/>
                          <a:latin typeface="Times New Roman" panose="02020603050405020304" pitchFamily="18" charset="0"/>
                          <a:ea typeface="Calibri" panose="020F0502020204030204" pitchFamily="34" charset="0"/>
                        </a:rPr>
                        <a:t>Otukei</a:t>
                      </a:r>
                      <a:r>
                        <a:rPr lang="en-IN" sz="1800" dirty="0" smtClean="0">
                          <a:solidFill>
                            <a:srgbClr val="000000"/>
                          </a:solidFill>
                          <a:effectLst/>
                          <a:latin typeface="Times New Roman" panose="02020603050405020304" pitchFamily="18" charset="0"/>
                          <a:ea typeface="Calibri" panose="020F0502020204030204" pitchFamily="34" charset="0"/>
                        </a:rPr>
                        <a:t>, T. </a:t>
                      </a:r>
                      <a:r>
                        <a:rPr lang="en-IN" sz="1800" dirty="0" err="1" smtClean="0">
                          <a:solidFill>
                            <a:srgbClr val="000000"/>
                          </a:solidFill>
                          <a:effectLst/>
                          <a:latin typeface="Times New Roman" panose="02020603050405020304" pitchFamily="18" charset="0"/>
                          <a:ea typeface="Calibri" panose="020F0502020204030204" pitchFamily="34" charset="0"/>
                        </a:rPr>
                        <a:t>Blaschke</a:t>
                      </a:r>
                      <a:endParaRPr kumimoji="0" lang="en-IN" sz="1800" kern="1200" dirty="0">
                        <a:solidFill>
                          <a:schemeClr val="dk1"/>
                        </a:solidFill>
                        <a:latin typeface="Times New Roman" pitchFamily="18" charset="0"/>
                        <a:ea typeface="+mn-ea"/>
                        <a:cs typeface="Times New Roman" pitchFamily="18" charset="0"/>
                      </a:endParaRPr>
                    </a:p>
                  </a:txBody>
                  <a:tcPr/>
                </a:tc>
                <a:tc>
                  <a:txBody>
                    <a:bodyPr/>
                    <a:lstStyle/>
                    <a:p>
                      <a:pPr marL="0" algn="just" defTabSz="457200" rtl="0" eaLnBrk="1" latinLnBrk="0" hangingPunct="1"/>
                      <a:r>
                        <a:rPr lang="en-IN" sz="1800" kern="1200" dirty="0" smtClean="0">
                          <a:solidFill>
                            <a:schemeClr val="dk1"/>
                          </a:solidFill>
                          <a:effectLst/>
                          <a:latin typeface="Times New Roman" panose="02020603050405020304" pitchFamily="18" charset="0"/>
                          <a:ea typeface="+mn-ea"/>
                          <a:cs typeface="Times New Roman" panose="02020603050405020304" pitchFamily="18" charset="0"/>
                        </a:rPr>
                        <a:t>Land cover change assessment is one of the main applications of remote sensed data. A number of pixel based classification algorithms have been developed over the past years for the analysis of remotely sensed data. The most notable include the maximum likelihood classifier (MLC), support vector machines (SVMs) and the decision trees (DTs). The DTs in particular offer advantages not provided by other approaches. They are computationally fast and make no statistical assumptions regarding the distribution of data. The challenge to using DTs lies in the determination of the “best” tree structure and the decision boundaries. </a:t>
                      </a:r>
                      <a:endParaRPr lang="en-IN" sz="1800" kern="1200" dirty="0">
                        <a:solidFill>
                          <a:schemeClr val="tx1"/>
                        </a:solidFill>
                        <a:latin typeface="Times New Roman" pitchFamily="18" charset="0"/>
                        <a:ea typeface="+mn-ea"/>
                        <a:cs typeface="Times New Roman" pitchFamily="18" charset="0"/>
                      </a:endParaRPr>
                    </a:p>
                  </a:txBody>
                  <a:tcPr/>
                </a:tc>
              </a:tr>
            </a:tbl>
          </a:graphicData>
        </a:graphic>
      </p:graphicFrame>
    </p:spTree>
    <p:extLst>
      <p:ext uri="{BB962C8B-B14F-4D97-AF65-F5344CB8AC3E}">
        <p14:creationId xmlns:p14="http://schemas.microsoft.com/office/powerpoint/2010/main" val="42087536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2" y="6492877"/>
            <a:ext cx="2844799" cy="365125"/>
          </a:xfrm>
        </p:spPr>
        <p:txBody>
          <a:bodyPr/>
          <a:lstStyle/>
          <a:p>
            <a:fld id="{BFE06AB5-D6E9-4208-88FB-04C9A03F34A6}" type="datetime1">
              <a:rPr lang="en-US" sz="1100" smtClean="0">
                <a:latin typeface="Times New Roman" panose="02020603050405020304" pitchFamily="18" charset="0"/>
                <a:cs typeface="Times New Roman" panose="02020603050405020304" pitchFamily="18" charset="0"/>
              </a:rPr>
              <a:pPr/>
              <a:t>7/4/2024</a:t>
            </a:fld>
            <a:endParaRPr lang="en-US" sz="11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a:xfrm>
            <a:off x="10828759" y="6492893"/>
            <a:ext cx="1052508" cy="365125"/>
          </a:xfrm>
        </p:spPr>
        <p:txBody>
          <a:bodyPr/>
          <a:lstStyle/>
          <a:p>
            <a:fld id="{7DCB20AE-65C4-4F49-978F-B82EFE8D490C}" type="slidenum">
              <a:rPr lang="en-US" sz="1100" smtClean="0">
                <a:latin typeface="Times New Roman" panose="02020603050405020304" pitchFamily="18" charset="0"/>
                <a:cs typeface="Times New Roman" panose="02020603050405020304" pitchFamily="18" charset="0"/>
              </a:rPr>
              <a:pPr/>
              <a:t>20</a:t>
            </a:fld>
            <a:endParaRPr lang="en-US" sz="1100" dirty="0">
              <a:latin typeface="Times New Roman" panose="02020603050405020304" pitchFamily="18" charset="0"/>
              <a:cs typeface="Times New Roman" panose="02020603050405020304" pitchFamily="18" charset="0"/>
            </a:endParaRPr>
          </a:p>
        </p:txBody>
      </p:sp>
      <p:graphicFrame>
        <p:nvGraphicFramePr>
          <p:cNvPr id="8" name="Table 7"/>
          <p:cNvGraphicFramePr>
            <a:graphicFrameLocks noGrp="1"/>
          </p:cNvGraphicFramePr>
          <p:nvPr>
            <p:extLst/>
          </p:nvPr>
        </p:nvGraphicFramePr>
        <p:xfrm>
          <a:off x="0" y="-30480"/>
          <a:ext cx="12191999" cy="7141543"/>
        </p:xfrm>
        <a:graphic>
          <a:graphicData uri="http://schemas.openxmlformats.org/drawingml/2006/table">
            <a:tbl>
              <a:tblPr firstRow="1" bandRow="1">
                <a:tableStyleId>{5C22544A-7EE6-4342-B048-85BDC9FD1C3A}</a:tableStyleId>
              </a:tblPr>
              <a:tblGrid>
                <a:gridCol w="3048000"/>
                <a:gridCol w="2708129"/>
                <a:gridCol w="2936934"/>
                <a:gridCol w="3498936"/>
              </a:tblGrid>
              <a:tr h="740743">
                <a:tc>
                  <a:txBody>
                    <a:bodyPr/>
                    <a:lstStyle/>
                    <a:p>
                      <a:r>
                        <a:rPr lang="en-US" sz="2000" dirty="0" smtClean="0">
                          <a:solidFill>
                            <a:schemeClr val="tx1"/>
                          </a:solidFill>
                          <a:latin typeface="Times New Roman" pitchFamily="18" charset="0"/>
                          <a:cs typeface="Times New Roman" pitchFamily="18" charset="0"/>
                        </a:rPr>
                        <a:t>Title</a:t>
                      </a:r>
                      <a:endParaRPr lang="en-IN" sz="2000" dirty="0">
                        <a:solidFill>
                          <a:schemeClr val="tx1"/>
                        </a:solidFill>
                        <a:latin typeface="Times New Roman" pitchFamily="18" charset="0"/>
                        <a:cs typeface="Times New Roman" pitchFamily="18" charset="0"/>
                      </a:endParaRPr>
                    </a:p>
                  </a:txBody>
                  <a:tcPr/>
                </a:tc>
                <a:tc>
                  <a:txBody>
                    <a:bodyPr/>
                    <a:lstStyle/>
                    <a:p>
                      <a:r>
                        <a:rPr lang="en-US" sz="2000" dirty="0" smtClean="0">
                          <a:solidFill>
                            <a:schemeClr val="tx1"/>
                          </a:solidFill>
                          <a:latin typeface="Times New Roman" pitchFamily="18" charset="0"/>
                          <a:cs typeface="Times New Roman" pitchFamily="18" charset="0"/>
                        </a:rPr>
                        <a:t>Year</a:t>
                      </a:r>
                      <a:endParaRPr lang="en-IN" sz="2000" dirty="0">
                        <a:solidFill>
                          <a:schemeClr val="tx1"/>
                        </a:solidFill>
                        <a:latin typeface="Times New Roman" pitchFamily="18" charset="0"/>
                        <a:cs typeface="Times New Roman" pitchFamily="18" charset="0"/>
                      </a:endParaRPr>
                    </a:p>
                  </a:txBody>
                  <a:tcPr/>
                </a:tc>
                <a:tc>
                  <a:txBody>
                    <a:bodyPr/>
                    <a:lstStyle/>
                    <a:p>
                      <a:r>
                        <a:rPr lang="en-US" sz="2000" dirty="0" smtClean="0">
                          <a:solidFill>
                            <a:schemeClr val="tx1"/>
                          </a:solidFill>
                          <a:latin typeface="Times New Roman" pitchFamily="18" charset="0"/>
                          <a:cs typeface="Times New Roman" pitchFamily="18" charset="0"/>
                        </a:rPr>
                        <a:t>Author</a:t>
                      </a:r>
                      <a:endParaRPr lang="en-IN" sz="2000" dirty="0">
                        <a:solidFill>
                          <a:schemeClr val="tx1"/>
                        </a:solidFill>
                        <a:latin typeface="Times New Roman" pitchFamily="18" charset="0"/>
                        <a:cs typeface="Times New Roman" pitchFamily="18"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2000" b="1" kern="1200" dirty="0" smtClean="0">
                          <a:solidFill>
                            <a:schemeClr val="tx1"/>
                          </a:solidFill>
                          <a:effectLst/>
                          <a:latin typeface="Times New Roman" pitchFamily="18" charset="0"/>
                          <a:ea typeface="+mn-ea"/>
                          <a:cs typeface="Times New Roman" pitchFamily="18" charset="0"/>
                        </a:rPr>
                        <a:t>Methodology</a:t>
                      </a:r>
                    </a:p>
                    <a:p>
                      <a:endParaRPr lang="en-IN" sz="2000" dirty="0">
                        <a:solidFill>
                          <a:schemeClr val="tx1"/>
                        </a:solidFill>
                        <a:latin typeface="Times New Roman" pitchFamily="18" charset="0"/>
                        <a:cs typeface="Times New Roman" pitchFamily="18" charset="0"/>
                      </a:endParaRPr>
                    </a:p>
                  </a:txBody>
                  <a:tcPr/>
                </a:tc>
              </a:tr>
              <a:tr h="5893737">
                <a:tc>
                  <a:txBody>
                    <a:bodyPr/>
                    <a:lstStyle/>
                    <a:p>
                      <a:r>
                        <a:rPr lang="en-IN" sz="1800" kern="1200" dirty="0" err="1" smtClean="0">
                          <a:solidFill>
                            <a:schemeClr val="dk1"/>
                          </a:solidFill>
                          <a:effectLst/>
                          <a:latin typeface="Times New Roman" panose="02020603050405020304" pitchFamily="18" charset="0"/>
                          <a:ea typeface="+mn-ea"/>
                          <a:cs typeface="Times New Roman" panose="02020603050405020304" pitchFamily="18" charset="0"/>
                        </a:rPr>
                        <a:t>ImageNet</a:t>
                      </a:r>
                      <a:r>
                        <a:rPr lang="en-IN" sz="1800" kern="1200" dirty="0" smtClean="0">
                          <a:solidFill>
                            <a:schemeClr val="dk1"/>
                          </a:solidFill>
                          <a:effectLst/>
                          <a:latin typeface="Times New Roman" panose="02020603050405020304" pitchFamily="18" charset="0"/>
                          <a:ea typeface="+mn-ea"/>
                          <a:cs typeface="Times New Roman" panose="02020603050405020304" pitchFamily="18" charset="0"/>
                        </a:rPr>
                        <a:t> Classification with Deep Convolutional Neural Networks</a:t>
                      </a:r>
                      <a:endParaRPr kumimoji="0" lang="en-IN" sz="1800" kern="1200" dirty="0">
                        <a:solidFill>
                          <a:schemeClr val="dk1"/>
                        </a:solidFill>
                        <a:latin typeface="Times New Roman" pitchFamily="18" charset="0"/>
                        <a:ea typeface="+mn-ea"/>
                        <a:cs typeface="Times New Roman" pitchFamily="18" charset="0"/>
                      </a:endParaRPr>
                    </a:p>
                  </a:txBody>
                  <a:tcPr/>
                </a:tc>
                <a:tc>
                  <a:txBody>
                    <a:bodyPr/>
                    <a:lstStyle/>
                    <a:p>
                      <a:pPr marL="0" algn="ctr" defTabSz="457200" rtl="0" eaLnBrk="1" latinLnBrk="0" hangingPunct="1"/>
                      <a:r>
                        <a:rPr lang="en-US" sz="1800" kern="1200" dirty="0" smtClean="0">
                          <a:solidFill>
                            <a:schemeClr val="tx1"/>
                          </a:solidFill>
                          <a:latin typeface="Times New Roman" pitchFamily="18" charset="0"/>
                          <a:ea typeface="+mn-ea"/>
                          <a:cs typeface="Times New Roman" pitchFamily="18" charset="0"/>
                        </a:rPr>
                        <a:t>2013</a:t>
                      </a:r>
                      <a:endParaRPr lang="en-IN" sz="1800" kern="1200" dirty="0">
                        <a:solidFill>
                          <a:schemeClr val="tx1"/>
                        </a:solidFill>
                        <a:latin typeface="Times New Roman" pitchFamily="18" charset="0"/>
                        <a:ea typeface="+mn-ea"/>
                        <a:cs typeface="Times New Roman" pitchFamily="18" charset="0"/>
                      </a:endParaRPr>
                    </a:p>
                  </a:txBody>
                  <a:tcPr/>
                </a:tc>
                <a:tc>
                  <a:txBody>
                    <a:bodyPr/>
                    <a:lstStyle/>
                    <a:p>
                      <a:r>
                        <a:rPr lang="en-IN" sz="1800" kern="1200" dirty="0" smtClean="0">
                          <a:solidFill>
                            <a:schemeClr val="dk1"/>
                          </a:solidFill>
                          <a:effectLst/>
                          <a:latin typeface="Times New Roman" panose="02020603050405020304" pitchFamily="18" charset="0"/>
                          <a:ea typeface="+mn-ea"/>
                          <a:cs typeface="Times New Roman" panose="02020603050405020304" pitchFamily="18" charset="0"/>
                        </a:rPr>
                        <a:t>Alex </a:t>
                      </a:r>
                      <a:r>
                        <a:rPr lang="en-IN" sz="1800" kern="1200" dirty="0" err="1" smtClean="0">
                          <a:solidFill>
                            <a:schemeClr val="dk1"/>
                          </a:solidFill>
                          <a:effectLst/>
                          <a:latin typeface="Times New Roman" panose="02020603050405020304" pitchFamily="18" charset="0"/>
                          <a:ea typeface="+mn-ea"/>
                          <a:cs typeface="Times New Roman" panose="02020603050405020304" pitchFamily="18" charset="0"/>
                        </a:rPr>
                        <a:t>Krizhevsky</a:t>
                      </a:r>
                      <a:r>
                        <a:rPr lang="en-IN" sz="1800" kern="1200" dirty="0" smtClean="0">
                          <a:solidFill>
                            <a:schemeClr val="dk1"/>
                          </a:solidFill>
                          <a:effectLst/>
                          <a:latin typeface="Times New Roman" panose="02020603050405020304" pitchFamily="18" charset="0"/>
                          <a:ea typeface="+mn-ea"/>
                          <a:cs typeface="Times New Roman" panose="02020603050405020304" pitchFamily="18" charset="0"/>
                        </a:rPr>
                        <a:t>, </a:t>
                      </a:r>
                      <a:r>
                        <a:rPr lang="en-IN" sz="1800" kern="1200" dirty="0" err="1" smtClean="0">
                          <a:solidFill>
                            <a:schemeClr val="dk1"/>
                          </a:solidFill>
                          <a:effectLst/>
                          <a:latin typeface="Times New Roman" panose="02020603050405020304" pitchFamily="18" charset="0"/>
                          <a:ea typeface="+mn-ea"/>
                          <a:cs typeface="Times New Roman" panose="02020603050405020304" pitchFamily="18" charset="0"/>
                        </a:rPr>
                        <a:t>Ilya</a:t>
                      </a:r>
                      <a:r>
                        <a:rPr lang="en-IN" sz="1800" kern="1200" dirty="0" smtClean="0">
                          <a:solidFill>
                            <a:schemeClr val="dk1"/>
                          </a:solidFill>
                          <a:effectLst/>
                          <a:latin typeface="Times New Roman" panose="02020603050405020304" pitchFamily="18" charset="0"/>
                          <a:ea typeface="+mn-ea"/>
                          <a:cs typeface="Times New Roman" panose="02020603050405020304" pitchFamily="18" charset="0"/>
                        </a:rPr>
                        <a:t> </a:t>
                      </a:r>
                      <a:r>
                        <a:rPr lang="en-IN" sz="1800" kern="1200" dirty="0" err="1" smtClean="0">
                          <a:solidFill>
                            <a:schemeClr val="dk1"/>
                          </a:solidFill>
                          <a:effectLst/>
                          <a:latin typeface="Times New Roman" panose="02020603050405020304" pitchFamily="18" charset="0"/>
                          <a:ea typeface="+mn-ea"/>
                          <a:cs typeface="Times New Roman" panose="02020603050405020304" pitchFamily="18" charset="0"/>
                        </a:rPr>
                        <a:t>Sutskever</a:t>
                      </a:r>
                      <a:r>
                        <a:rPr lang="en-IN" sz="1800" kern="1200" dirty="0" smtClean="0">
                          <a:solidFill>
                            <a:schemeClr val="dk1"/>
                          </a:solidFill>
                          <a:effectLst/>
                          <a:latin typeface="Times New Roman" panose="02020603050405020304" pitchFamily="18" charset="0"/>
                          <a:ea typeface="+mn-ea"/>
                          <a:cs typeface="Times New Roman" panose="02020603050405020304" pitchFamily="18" charset="0"/>
                        </a:rPr>
                        <a:t> and Geoffrey E. Hinton</a:t>
                      </a:r>
                      <a:endParaRPr kumimoji="0" lang="en-IN" sz="1800" kern="1200" dirty="0">
                        <a:solidFill>
                          <a:schemeClr val="dk1"/>
                        </a:solidFill>
                        <a:latin typeface="Times New Roman" pitchFamily="18" charset="0"/>
                        <a:ea typeface="+mn-ea"/>
                        <a:cs typeface="Times New Roman" pitchFamily="18" charset="0"/>
                      </a:endParaRPr>
                    </a:p>
                  </a:txBody>
                  <a:tcPr/>
                </a:tc>
                <a:tc>
                  <a:txBody>
                    <a:bodyPr/>
                    <a:lstStyle/>
                    <a:p>
                      <a:pPr marL="0" algn="just" defTabSz="457200" rtl="0" eaLnBrk="1" latinLnBrk="0" hangingPunct="1"/>
                      <a:r>
                        <a:rPr lang="en-IN" sz="1800" kern="1200" dirty="0" smtClean="0">
                          <a:solidFill>
                            <a:schemeClr val="dk1"/>
                          </a:solidFill>
                          <a:effectLst/>
                          <a:latin typeface="Times New Roman" panose="02020603050405020304" pitchFamily="18" charset="0"/>
                          <a:ea typeface="+mn-ea"/>
                          <a:cs typeface="Times New Roman" panose="02020603050405020304" pitchFamily="18" charset="0"/>
                        </a:rPr>
                        <a:t>Our results show that a large, deep convolutional neural network is capable of achieving record breaking results on a highly challenging dataset using purely supervised learning. It is notable that our network’s performance degrades if a single convolutional layer is removed. For example, removing any of the middle layers results in a loss of about 2% for the top-1 performance of the network. So the depth really is important for achieving our results. To simplify our experiments, we did not use any unsupervised pre-training even though we expect that it will help, especially if we obtain enough computational power to significantly increase the size of the network without obtaining a corresponding increase in the amount of labelled data. </a:t>
                      </a:r>
                      <a:endParaRPr lang="en-IN" sz="1800" kern="1200" dirty="0">
                        <a:solidFill>
                          <a:schemeClr val="tx1"/>
                        </a:solidFill>
                        <a:latin typeface="Times New Roman" pitchFamily="18" charset="0"/>
                        <a:ea typeface="+mn-ea"/>
                        <a:cs typeface="Times New Roman" pitchFamily="18" charset="0"/>
                      </a:endParaRPr>
                    </a:p>
                  </a:txBody>
                  <a:tcPr/>
                </a:tc>
              </a:tr>
            </a:tbl>
          </a:graphicData>
        </a:graphic>
      </p:graphicFrame>
    </p:spTree>
    <p:extLst>
      <p:ext uri="{BB962C8B-B14F-4D97-AF65-F5344CB8AC3E}">
        <p14:creationId xmlns:p14="http://schemas.microsoft.com/office/powerpoint/2010/main" val="24456894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2" y="6492877"/>
            <a:ext cx="2844799" cy="365125"/>
          </a:xfrm>
        </p:spPr>
        <p:txBody>
          <a:bodyPr/>
          <a:lstStyle/>
          <a:p>
            <a:fld id="{BFE06AB5-D6E9-4208-88FB-04C9A03F34A6}" type="datetime1">
              <a:rPr lang="en-US" sz="1100" smtClean="0">
                <a:latin typeface="Times New Roman" panose="02020603050405020304" pitchFamily="18" charset="0"/>
                <a:cs typeface="Times New Roman" panose="02020603050405020304" pitchFamily="18" charset="0"/>
              </a:rPr>
              <a:pPr/>
              <a:t>7/4/2024</a:t>
            </a:fld>
            <a:endParaRPr lang="en-US" sz="11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a:xfrm>
            <a:off x="10828759" y="6492893"/>
            <a:ext cx="1052508" cy="365125"/>
          </a:xfrm>
        </p:spPr>
        <p:txBody>
          <a:bodyPr/>
          <a:lstStyle/>
          <a:p>
            <a:fld id="{7DCB20AE-65C4-4F49-978F-B82EFE8D490C}" type="slidenum">
              <a:rPr lang="en-US" sz="1100" smtClean="0">
                <a:latin typeface="Times New Roman" panose="02020603050405020304" pitchFamily="18" charset="0"/>
                <a:cs typeface="Times New Roman" panose="02020603050405020304" pitchFamily="18" charset="0"/>
              </a:rPr>
              <a:pPr/>
              <a:t>21</a:t>
            </a:fld>
            <a:endParaRPr lang="en-US" sz="1100" dirty="0">
              <a:latin typeface="Times New Roman" panose="02020603050405020304" pitchFamily="18" charset="0"/>
              <a:cs typeface="Times New Roman" panose="02020603050405020304" pitchFamily="18" charset="0"/>
            </a:endParaRPr>
          </a:p>
        </p:txBody>
      </p:sp>
      <p:graphicFrame>
        <p:nvGraphicFramePr>
          <p:cNvPr id="8" name="Table 7"/>
          <p:cNvGraphicFramePr>
            <a:graphicFrameLocks noGrp="1"/>
          </p:cNvGraphicFramePr>
          <p:nvPr>
            <p:extLst/>
          </p:nvPr>
        </p:nvGraphicFramePr>
        <p:xfrm>
          <a:off x="136478" y="-30480"/>
          <a:ext cx="11914495" cy="6867223"/>
        </p:xfrm>
        <a:graphic>
          <a:graphicData uri="http://schemas.openxmlformats.org/drawingml/2006/table">
            <a:tbl>
              <a:tblPr firstRow="1" bandRow="1">
                <a:tableStyleId>{5C22544A-7EE6-4342-B048-85BDC9FD1C3A}</a:tableStyleId>
              </a:tblPr>
              <a:tblGrid>
                <a:gridCol w="2978624"/>
                <a:gridCol w="2489596"/>
                <a:gridCol w="2960841"/>
                <a:gridCol w="3485434"/>
              </a:tblGrid>
              <a:tr h="740743">
                <a:tc>
                  <a:txBody>
                    <a:bodyPr/>
                    <a:lstStyle/>
                    <a:p>
                      <a:r>
                        <a:rPr lang="en-US" sz="2000" dirty="0" smtClean="0">
                          <a:solidFill>
                            <a:schemeClr val="tx1"/>
                          </a:solidFill>
                          <a:latin typeface="Times New Roman" pitchFamily="18" charset="0"/>
                          <a:cs typeface="Times New Roman" pitchFamily="18" charset="0"/>
                        </a:rPr>
                        <a:t>Title</a:t>
                      </a:r>
                      <a:endParaRPr lang="en-IN" sz="2000" dirty="0">
                        <a:solidFill>
                          <a:schemeClr val="tx1"/>
                        </a:solidFill>
                        <a:latin typeface="Times New Roman" pitchFamily="18" charset="0"/>
                        <a:cs typeface="Times New Roman" pitchFamily="18" charset="0"/>
                      </a:endParaRPr>
                    </a:p>
                  </a:txBody>
                  <a:tcPr/>
                </a:tc>
                <a:tc>
                  <a:txBody>
                    <a:bodyPr/>
                    <a:lstStyle/>
                    <a:p>
                      <a:r>
                        <a:rPr lang="en-US" sz="2000" dirty="0" smtClean="0">
                          <a:solidFill>
                            <a:schemeClr val="tx1"/>
                          </a:solidFill>
                          <a:latin typeface="Times New Roman" pitchFamily="18" charset="0"/>
                          <a:cs typeface="Times New Roman" pitchFamily="18" charset="0"/>
                        </a:rPr>
                        <a:t>Year</a:t>
                      </a:r>
                      <a:endParaRPr lang="en-IN" sz="2000" dirty="0">
                        <a:solidFill>
                          <a:schemeClr val="tx1"/>
                        </a:solidFill>
                        <a:latin typeface="Times New Roman" pitchFamily="18" charset="0"/>
                        <a:cs typeface="Times New Roman" pitchFamily="18" charset="0"/>
                      </a:endParaRPr>
                    </a:p>
                  </a:txBody>
                  <a:tcPr/>
                </a:tc>
                <a:tc>
                  <a:txBody>
                    <a:bodyPr/>
                    <a:lstStyle/>
                    <a:p>
                      <a:r>
                        <a:rPr lang="en-US" sz="2000" dirty="0" smtClean="0">
                          <a:solidFill>
                            <a:schemeClr val="tx1"/>
                          </a:solidFill>
                          <a:latin typeface="Times New Roman" pitchFamily="18" charset="0"/>
                          <a:cs typeface="Times New Roman" pitchFamily="18" charset="0"/>
                        </a:rPr>
                        <a:t>Author</a:t>
                      </a:r>
                      <a:endParaRPr lang="en-IN" sz="2000" dirty="0">
                        <a:solidFill>
                          <a:schemeClr val="tx1"/>
                        </a:solidFill>
                        <a:latin typeface="Times New Roman" pitchFamily="18" charset="0"/>
                        <a:cs typeface="Times New Roman" pitchFamily="18"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2000" b="1" kern="1200" dirty="0" smtClean="0">
                          <a:solidFill>
                            <a:schemeClr val="tx1"/>
                          </a:solidFill>
                          <a:effectLst/>
                          <a:latin typeface="Times New Roman" pitchFamily="18" charset="0"/>
                          <a:ea typeface="+mn-ea"/>
                          <a:cs typeface="Times New Roman" pitchFamily="18" charset="0"/>
                        </a:rPr>
                        <a:t>Methodology</a:t>
                      </a:r>
                    </a:p>
                    <a:p>
                      <a:endParaRPr lang="en-IN" sz="2000" dirty="0">
                        <a:solidFill>
                          <a:schemeClr val="tx1"/>
                        </a:solidFill>
                        <a:latin typeface="Times New Roman" pitchFamily="18" charset="0"/>
                        <a:cs typeface="Times New Roman" pitchFamily="18" charset="0"/>
                      </a:endParaRPr>
                    </a:p>
                  </a:txBody>
                  <a:tcPr/>
                </a:tc>
              </a:tr>
              <a:tr h="5893737">
                <a:tc>
                  <a:txBody>
                    <a:bodyPr/>
                    <a:lstStyle/>
                    <a:p>
                      <a:r>
                        <a:rPr lang="en-IN" sz="1800" kern="1200" dirty="0" err="1" smtClean="0">
                          <a:solidFill>
                            <a:schemeClr val="dk1"/>
                          </a:solidFill>
                          <a:effectLst/>
                          <a:latin typeface="Times New Roman" panose="02020603050405020304" pitchFamily="18" charset="0"/>
                          <a:ea typeface="+mn-ea"/>
                          <a:cs typeface="Times New Roman" panose="02020603050405020304" pitchFamily="18" charset="0"/>
                        </a:rPr>
                        <a:t>iCassava</a:t>
                      </a:r>
                      <a:r>
                        <a:rPr lang="en-IN" sz="1800" kern="1200" dirty="0" smtClean="0">
                          <a:solidFill>
                            <a:schemeClr val="dk1"/>
                          </a:solidFill>
                          <a:effectLst/>
                          <a:latin typeface="Times New Roman" panose="02020603050405020304" pitchFamily="18" charset="0"/>
                          <a:ea typeface="+mn-ea"/>
                          <a:cs typeface="Times New Roman" panose="02020603050405020304" pitchFamily="18" charset="0"/>
                        </a:rPr>
                        <a:t> 2019 Fine-Grained Visual Categorization Challenge</a:t>
                      </a:r>
                      <a:endParaRPr kumimoji="0" lang="en-IN" sz="1800" kern="1200" dirty="0">
                        <a:solidFill>
                          <a:schemeClr val="dk1"/>
                        </a:solidFill>
                        <a:latin typeface="Times New Roman" pitchFamily="18" charset="0"/>
                        <a:ea typeface="+mn-ea"/>
                        <a:cs typeface="Times New Roman" pitchFamily="18" charset="0"/>
                      </a:endParaRPr>
                    </a:p>
                  </a:txBody>
                  <a:tcPr/>
                </a:tc>
                <a:tc>
                  <a:txBody>
                    <a:bodyPr/>
                    <a:lstStyle/>
                    <a:p>
                      <a:pPr marL="0" algn="ctr" defTabSz="457200" rtl="0" eaLnBrk="1" latinLnBrk="0" hangingPunct="1"/>
                      <a:r>
                        <a:rPr lang="en-US" sz="1800" kern="1200" dirty="0" smtClean="0">
                          <a:solidFill>
                            <a:schemeClr val="tx1"/>
                          </a:solidFill>
                          <a:latin typeface="Times New Roman" pitchFamily="18" charset="0"/>
                          <a:ea typeface="+mn-ea"/>
                          <a:cs typeface="Times New Roman" pitchFamily="18" charset="0"/>
                        </a:rPr>
                        <a:t>2019</a:t>
                      </a:r>
                      <a:endParaRPr lang="en-IN" sz="1800" kern="1200" dirty="0">
                        <a:solidFill>
                          <a:schemeClr val="tx1"/>
                        </a:solidFill>
                        <a:latin typeface="Times New Roman" pitchFamily="18" charset="0"/>
                        <a:ea typeface="+mn-ea"/>
                        <a:cs typeface="Times New Roman" pitchFamily="18" charset="0"/>
                      </a:endParaRPr>
                    </a:p>
                  </a:txBody>
                  <a:tcPr/>
                </a:tc>
                <a:tc>
                  <a:txBody>
                    <a:bodyPr/>
                    <a:lstStyle/>
                    <a:p>
                      <a:r>
                        <a:rPr lang="en-IN" sz="1800" kern="1200" dirty="0" smtClean="0">
                          <a:solidFill>
                            <a:schemeClr val="dk1"/>
                          </a:solidFill>
                          <a:effectLst/>
                          <a:latin typeface="Times New Roman" panose="02020603050405020304" pitchFamily="18" charset="0"/>
                          <a:ea typeface="+mn-ea"/>
                          <a:cs typeface="Times New Roman" panose="02020603050405020304" pitchFamily="18" charset="0"/>
                        </a:rPr>
                        <a:t>Ernest </a:t>
                      </a:r>
                      <a:r>
                        <a:rPr lang="en-IN" sz="1800" kern="1200" dirty="0" err="1" smtClean="0">
                          <a:solidFill>
                            <a:schemeClr val="dk1"/>
                          </a:solidFill>
                          <a:effectLst/>
                          <a:latin typeface="Times New Roman" panose="02020603050405020304" pitchFamily="18" charset="0"/>
                          <a:ea typeface="+mn-ea"/>
                          <a:cs typeface="Times New Roman" panose="02020603050405020304" pitchFamily="18" charset="0"/>
                        </a:rPr>
                        <a:t>Mwebaze</a:t>
                      </a:r>
                      <a:r>
                        <a:rPr lang="en-IN" sz="1800" kern="1200" dirty="0" smtClean="0">
                          <a:solidFill>
                            <a:schemeClr val="dk1"/>
                          </a:solidFill>
                          <a:effectLst/>
                          <a:latin typeface="Times New Roman" panose="02020603050405020304" pitchFamily="18" charset="0"/>
                          <a:ea typeface="+mn-ea"/>
                          <a:cs typeface="Times New Roman" panose="02020603050405020304" pitchFamily="18" charset="0"/>
                        </a:rPr>
                        <a:t>, </a:t>
                      </a:r>
                      <a:r>
                        <a:rPr lang="en-IN" sz="1800" kern="1200" dirty="0" err="1" smtClean="0">
                          <a:solidFill>
                            <a:schemeClr val="dk1"/>
                          </a:solidFill>
                          <a:effectLst/>
                          <a:latin typeface="Times New Roman" panose="02020603050405020304" pitchFamily="18" charset="0"/>
                          <a:ea typeface="+mn-ea"/>
                          <a:cs typeface="Times New Roman" panose="02020603050405020304" pitchFamily="18" charset="0"/>
                        </a:rPr>
                        <a:t>Timnit</a:t>
                      </a:r>
                      <a:r>
                        <a:rPr lang="en-IN" sz="1800" kern="1200" dirty="0" smtClean="0">
                          <a:solidFill>
                            <a:schemeClr val="dk1"/>
                          </a:solidFill>
                          <a:effectLst/>
                          <a:latin typeface="Times New Roman" panose="02020603050405020304" pitchFamily="18" charset="0"/>
                          <a:ea typeface="+mn-ea"/>
                          <a:cs typeface="Times New Roman" panose="02020603050405020304" pitchFamily="18" charset="0"/>
                        </a:rPr>
                        <a:t> </a:t>
                      </a:r>
                      <a:r>
                        <a:rPr lang="en-IN" sz="1800" kern="1200" dirty="0" err="1" smtClean="0">
                          <a:solidFill>
                            <a:schemeClr val="dk1"/>
                          </a:solidFill>
                          <a:effectLst/>
                          <a:latin typeface="Times New Roman" panose="02020603050405020304" pitchFamily="18" charset="0"/>
                          <a:ea typeface="+mn-ea"/>
                          <a:cs typeface="Times New Roman" panose="02020603050405020304" pitchFamily="18" charset="0"/>
                        </a:rPr>
                        <a:t>Gebru</a:t>
                      </a:r>
                      <a:r>
                        <a:rPr lang="en-IN" sz="1800" kern="1200" dirty="0" smtClean="0">
                          <a:solidFill>
                            <a:schemeClr val="dk1"/>
                          </a:solidFill>
                          <a:effectLst/>
                          <a:latin typeface="Times New Roman" panose="02020603050405020304" pitchFamily="18" charset="0"/>
                          <a:ea typeface="+mn-ea"/>
                          <a:cs typeface="Times New Roman" panose="02020603050405020304" pitchFamily="18" charset="0"/>
                        </a:rPr>
                        <a:t>, Andrea Frome, Solomon </a:t>
                      </a:r>
                      <a:r>
                        <a:rPr lang="en-IN" sz="1800" kern="1200" dirty="0" err="1" smtClean="0">
                          <a:solidFill>
                            <a:schemeClr val="dk1"/>
                          </a:solidFill>
                          <a:effectLst/>
                          <a:latin typeface="Times New Roman" panose="02020603050405020304" pitchFamily="18" charset="0"/>
                          <a:ea typeface="+mn-ea"/>
                          <a:cs typeface="Times New Roman" panose="02020603050405020304" pitchFamily="18" charset="0"/>
                        </a:rPr>
                        <a:t>Nsumba</a:t>
                      </a:r>
                      <a:r>
                        <a:rPr lang="en-IN" sz="1800" kern="1200" dirty="0" smtClean="0">
                          <a:solidFill>
                            <a:schemeClr val="dk1"/>
                          </a:solidFill>
                          <a:effectLst/>
                          <a:latin typeface="Times New Roman" panose="02020603050405020304" pitchFamily="18" charset="0"/>
                          <a:ea typeface="+mn-ea"/>
                          <a:cs typeface="Times New Roman" panose="02020603050405020304" pitchFamily="18" charset="0"/>
                        </a:rPr>
                        <a:t>, Jeremy </a:t>
                      </a:r>
                      <a:r>
                        <a:rPr lang="en-IN" sz="1800" kern="1200" dirty="0" err="1" smtClean="0">
                          <a:solidFill>
                            <a:schemeClr val="dk1"/>
                          </a:solidFill>
                          <a:effectLst/>
                          <a:latin typeface="Times New Roman" panose="02020603050405020304" pitchFamily="18" charset="0"/>
                          <a:ea typeface="+mn-ea"/>
                          <a:cs typeface="Times New Roman" panose="02020603050405020304" pitchFamily="18" charset="0"/>
                        </a:rPr>
                        <a:t>Tusubira</a:t>
                      </a:r>
                      <a:r>
                        <a:rPr lang="en-IN" sz="1800" kern="1200" dirty="0" smtClean="0">
                          <a:solidFill>
                            <a:schemeClr val="dk1"/>
                          </a:solidFill>
                          <a:effectLst/>
                          <a:latin typeface="Times New Roman" panose="02020603050405020304" pitchFamily="18" charset="0"/>
                          <a:ea typeface="+mn-ea"/>
                          <a:cs typeface="Times New Roman" panose="02020603050405020304" pitchFamily="18" charset="0"/>
                        </a:rPr>
                        <a:t> and Chris </a:t>
                      </a:r>
                      <a:r>
                        <a:rPr lang="en-IN" sz="1800" kern="1200" dirty="0" err="1" smtClean="0">
                          <a:solidFill>
                            <a:schemeClr val="dk1"/>
                          </a:solidFill>
                          <a:effectLst/>
                          <a:latin typeface="Times New Roman" panose="02020603050405020304" pitchFamily="18" charset="0"/>
                          <a:ea typeface="+mn-ea"/>
                          <a:cs typeface="Times New Roman" panose="02020603050405020304" pitchFamily="18" charset="0"/>
                        </a:rPr>
                        <a:t>Omongo</a:t>
                      </a:r>
                      <a:endParaRPr kumimoji="0" lang="en-IN" sz="1800" kern="1200" dirty="0">
                        <a:solidFill>
                          <a:schemeClr val="dk1"/>
                        </a:solidFill>
                        <a:latin typeface="Times New Roman" pitchFamily="18" charset="0"/>
                        <a:ea typeface="+mn-ea"/>
                        <a:cs typeface="Times New Roman" pitchFamily="18" charset="0"/>
                      </a:endParaRPr>
                    </a:p>
                  </a:txBody>
                  <a:tcPr/>
                </a:tc>
                <a:tc>
                  <a:txBody>
                    <a:bodyPr/>
                    <a:lstStyle/>
                    <a:p>
                      <a:pPr marL="0" algn="just" defTabSz="457200" rtl="0" eaLnBrk="1" latinLnBrk="0" hangingPunct="1"/>
                      <a:r>
                        <a:rPr lang="en-IN" sz="1800" kern="1200" dirty="0" smtClean="0">
                          <a:solidFill>
                            <a:schemeClr val="dk1"/>
                          </a:solidFill>
                          <a:effectLst/>
                          <a:latin typeface="Times New Roman" panose="02020603050405020304" pitchFamily="18" charset="0"/>
                          <a:ea typeface="+mn-ea"/>
                          <a:cs typeface="Times New Roman" panose="02020603050405020304" pitchFamily="18" charset="0"/>
                        </a:rPr>
                        <a:t>We presented a dataset of cassava plants annotated with the types of disease inflicting the plants, as well as an </a:t>
                      </a:r>
                      <a:r>
                        <a:rPr lang="en-IN" sz="1800" kern="1200" dirty="0" err="1" smtClean="0">
                          <a:solidFill>
                            <a:schemeClr val="dk1"/>
                          </a:solidFill>
                          <a:effectLst/>
                          <a:latin typeface="Times New Roman" panose="02020603050405020304" pitchFamily="18" charset="0"/>
                          <a:ea typeface="+mn-ea"/>
                          <a:cs typeface="Times New Roman" panose="02020603050405020304" pitchFamily="18" charset="0"/>
                        </a:rPr>
                        <a:t>unlabeled</a:t>
                      </a:r>
                      <a:r>
                        <a:rPr lang="en-IN" sz="1800" kern="1200" dirty="0" smtClean="0">
                          <a:solidFill>
                            <a:schemeClr val="dk1"/>
                          </a:solidFill>
                          <a:effectLst/>
                          <a:latin typeface="Times New Roman" panose="02020603050405020304" pitchFamily="18" charset="0"/>
                          <a:ea typeface="+mn-ea"/>
                          <a:cs typeface="Times New Roman" panose="02020603050405020304" pitchFamily="18" charset="0"/>
                        </a:rPr>
                        <a:t> set of cassava images taken by farmers. Our dataset and accompanying </a:t>
                      </a:r>
                      <a:r>
                        <a:rPr lang="en-IN" sz="1800" kern="1200" dirty="0" err="1" smtClean="0">
                          <a:solidFill>
                            <a:schemeClr val="dk1"/>
                          </a:solidFill>
                          <a:effectLst/>
                          <a:latin typeface="Times New Roman" panose="02020603050405020304" pitchFamily="18" charset="0"/>
                          <a:ea typeface="+mn-ea"/>
                          <a:cs typeface="Times New Roman" panose="02020603050405020304" pitchFamily="18" charset="0"/>
                        </a:rPr>
                        <a:t>Kaggle</a:t>
                      </a:r>
                      <a:r>
                        <a:rPr lang="en-IN" sz="1800" kern="1200" dirty="0" smtClean="0">
                          <a:solidFill>
                            <a:schemeClr val="dk1"/>
                          </a:solidFill>
                          <a:effectLst/>
                          <a:latin typeface="Times New Roman" panose="02020603050405020304" pitchFamily="18" charset="0"/>
                          <a:ea typeface="+mn-ea"/>
                          <a:cs typeface="Times New Roman" panose="02020603050405020304" pitchFamily="18" charset="0"/>
                        </a:rPr>
                        <a:t> challenge hope to encourage the computer vision community to work on problems that affect the very serious issue of food security. Fine-grained image classification can be used to help small-holder farmers monitor their plants and increase yields. While the research community has made significant improvements in fine-grained image classification using large training data, as can be seen in our setting, many real world problems require the use of smaller datasets and semi supervised methods to leverage unlabelled images. </a:t>
                      </a:r>
                      <a:endParaRPr lang="en-IN" sz="1800" kern="1200" dirty="0">
                        <a:solidFill>
                          <a:schemeClr val="tx1"/>
                        </a:solidFill>
                        <a:latin typeface="Times New Roman" pitchFamily="18" charset="0"/>
                        <a:ea typeface="+mn-ea"/>
                        <a:cs typeface="Times New Roman" pitchFamily="18" charset="0"/>
                      </a:endParaRPr>
                    </a:p>
                  </a:txBody>
                  <a:tcPr/>
                </a:tc>
              </a:tr>
            </a:tbl>
          </a:graphicData>
        </a:graphic>
      </p:graphicFrame>
    </p:spTree>
    <p:extLst>
      <p:ext uri="{BB962C8B-B14F-4D97-AF65-F5344CB8AC3E}">
        <p14:creationId xmlns:p14="http://schemas.microsoft.com/office/powerpoint/2010/main" val="1249154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1463" y="260713"/>
            <a:ext cx="10662747" cy="1303867"/>
          </a:xfrm>
        </p:spPr>
        <p:txBody>
          <a:bodyPr>
            <a:normAutofit/>
          </a:bodyPr>
          <a:lstStyle/>
          <a:p>
            <a:r>
              <a:rPr lang="en-IN" sz="3600" b="1" dirty="0">
                <a:latin typeface="Times New Roman" panose="02020603050405020304" pitchFamily="18" charset="0"/>
                <a:cs typeface="Times New Roman" panose="02020603050405020304" pitchFamily="18" charset="0"/>
              </a:rPr>
              <a:t>SYSTEM </a:t>
            </a:r>
            <a:r>
              <a:rPr lang="en-IN" sz="3600" b="1" dirty="0" smtClean="0">
                <a:latin typeface="Times New Roman" panose="02020603050405020304" pitchFamily="18" charset="0"/>
                <a:cs typeface="Times New Roman" panose="02020603050405020304" pitchFamily="18" charset="0"/>
              </a:rPr>
              <a:t> ARCHITECTURE</a:t>
            </a:r>
            <a:r>
              <a:rPr lang="en-IN" sz="3600" dirty="0">
                <a:latin typeface="Times New Roman" panose="02020603050405020304" pitchFamily="18" charset="0"/>
                <a:cs typeface="Times New Roman" panose="02020603050405020304" pitchFamily="18" charset="0"/>
              </a:rPr>
              <a:t/>
            </a:r>
            <a:br>
              <a:rPr lang="en-IN" sz="3600" dirty="0">
                <a:latin typeface="Times New Roman" panose="02020603050405020304" pitchFamily="18" charset="0"/>
                <a:cs typeface="Times New Roman" panose="02020603050405020304" pitchFamily="18" charset="0"/>
              </a:rPr>
            </a:br>
            <a:endParaRPr lang="en-IN" sz="36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3" name="Rectangle 19"/>
          <p:cNvSpPr>
            <a:spLocks noChangeArrowheads="1"/>
          </p:cNvSpPr>
          <p:nvPr/>
        </p:nvSpPr>
        <p:spPr bwMode="auto">
          <a:xfrm>
            <a:off x="2202287" y="-262729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4" name="Rectangle 27"/>
          <p:cNvSpPr>
            <a:spLocks noChangeArrowheads="1"/>
          </p:cNvSpPr>
          <p:nvPr/>
        </p:nvSpPr>
        <p:spPr bwMode="auto">
          <a:xfrm>
            <a:off x="4031087" y="-217009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3" name="Flowchart: Magnetic Disk 32"/>
          <p:cNvSpPr/>
          <p:nvPr/>
        </p:nvSpPr>
        <p:spPr>
          <a:xfrm>
            <a:off x="595899" y="1422399"/>
            <a:ext cx="1455817" cy="1620659"/>
          </a:xfrm>
          <a:prstGeom prst="flowChartMagneticDisk">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p>
        </p:txBody>
      </p:sp>
      <p:sp>
        <p:nvSpPr>
          <p:cNvPr id="34" name="Rectangle 33"/>
          <p:cNvSpPr/>
          <p:nvPr/>
        </p:nvSpPr>
        <p:spPr>
          <a:xfrm>
            <a:off x="520613" y="1971756"/>
            <a:ext cx="1606388" cy="646331"/>
          </a:xfrm>
          <a:prstGeom prst="rect">
            <a:avLst/>
          </a:prstGeom>
        </p:spPr>
        <p:txBody>
          <a:bodyPr wrap="square">
            <a:spAutoFit/>
          </a:bodyPr>
          <a:lstStyle/>
          <a:p>
            <a:pPr algn="ctr"/>
            <a:r>
              <a:rPr lang="en-IN" b="1" dirty="0" smtClean="0">
                <a:latin typeface="Times New Roman" panose="02020603050405020304" pitchFamily="18" charset="0"/>
                <a:cs typeface="Times New Roman" panose="02020603050405020304" pitchFamily="18" charset="0"/>
              </a:rPr>
              <a:t>IMAGE SELECTION</a:t>
            </a:r>
            <a:endParaRPr lang="en-IN" dirty="0"/>
          </a:p>
        </p:txBody>
      </p:sp>
      <p:sp>
        <p:nvSpPr>
          <p:cNvPr id="36" name="Right Arrow 35"/>
          <p:cNvSpPr/>
          <p:nvPr/>
        </p:nvSpPr>
        <p:spPr>
          <a:xfrm>
            <a:off x="2051716" y="2009707"/>
            <a:ext cx="1066959" cy="270456"/>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sp>
        <p:nvSpPr>
          <p:cNvPr id="37" name="Round Single Corner Rectangle 36"/>
          <p:cNvSpPr/>
          <p:nvPr/>
        </p:nvSpPr>
        <p:spPr>
          <a:xfrm>
            <a:off x="3118675" y="1546754"/>
            <a:ext cx="2148784" cy="1348332"/>
          </a:xfrm>
          <a:prstGeom prst="round1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b="1" dirty="0">
                <a:latin typeface="Times New Roman" panose="02020603050405020304" pitchFamily="18" charset="0"/>
                <a:cs typeface="Times New Roman" panose="02020603050405020304" pitchFamily="18" charset="0"/>
              </a:rPr>
              <a:t>IMAGE PREPROCESING </a:t>
            </a:r>
            <a:endParaRPr lang="en-IN" dirty="0">
              <a:latin typeface="Times New Roman" panose="02020603050405020304" pitchFamily="18" charset="0"/>
              <a:cs typeface="Times New Roman" panose="02020603050405020304" pitchFamily="18" charset="0"/>
            </a:endParaRPr>
          </a:p>
        </p:txBody>
      </p:sp>
      <p:sp>
        <p:nvSpPr>
          <p:cNvPr id="38" name="Right Arrow 37"/>
          <p:cNvSpPr/>
          <p:nvPr/>
        </p:nvSpPr>
        <p:spPr>
          <a:xfrm>
            <a:off x="5267459" y="2009707"/>
            <a:ext cx="1066959" cy="270456"/>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sp>
        <p:nvSpPr>
          <p:cNvPr id="42" name="Round Single Corner Rectangle 41"/>
          <p:cNvSpPr/>
          <p:nvPr/>
        </p:nvSpPr>
        <p:spPr>
          <a:xfrm>
            <a:off x="6334418" y="1605997"/>
            <a:ext cx="2148784" cy="1348332"/>
          </a:xfrm>
          <a:prstGeom prst="round1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b="1" dirty="0">
                <a:latin typeface="Times New Roman" panose="02020603050405020304" pitchFamily="18" charset="0"/>
                <a:cs typeface="Times New Roman" panose="02020603050405020304" pitchFamily="18" charset="0"/>
              </a:rPr>
              <a:t>IMAGE SPLIITING </a:t>
            </a:r>
            <a:endParaRPr lang="en-IN" dirty="0">
              <a:latin typeface="Times New Roman" panose="02020603050405020304" pitchFamily="18" charset="0"/>
              <a:cs typeface="Times New Roman" panose="02020603050405020304" pitchFamily="18" charset="0"/>
            </a:endParaRPr>
          </a:p>
        </p:txBody>
      </p:sp>
      <p:sp>
        <p:nvSpPr>
          <p:cNvPr id="43" name="Round Single Corner Rectangle 42"/>
          <p:cNvSpPr/>
          <p:nvPr/>
        </p:nvSpPr>
        <p:spPr>
          <a:xfrm>
            <a:off x="9467443" y="1605997"/>
            <a:ext cx="2148784" cy="1437062"/>
          </a:xfrm>
          <a:prstGeom prst="round1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dirty="0">
              <a:latin typeface="Times New Roman" panose="02020603050405020304" pitchFamily="18" charset="0"/>
              <a:cs typeface="Times New Roman" panose="02020603050405020304" pitchFamily="18" charset="0"/>
            </a:endParaRPr>
          </a:p>
        </p:txBody>
      </p:sp>
      <p:sp>
        <p:nvSpPr>
          <p:cNvPr id="44" name="Right Arrow 43"/>
          <p:cNvSpPr/>
          <p:nvPr/>
        </p:nvSpPr>
        <p:spPr>
          <a:xfrm>
            <a:off x="8483202" y="2189324"/>
            <a:ext cx="984241" cy="283419"/>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sp>
        <p:nvSpPr>
          <p:cNvPr id="45" name="Rectangle 44"/>
          <p:cNvSpPr/>
          <p:nvPr/>
        </p:nvSpPr>
        <p:spPr>
          <a:xfrm>
            <a:off x="9930088" y="1703058"/>
            <a:ext cx="1223493" cy="53846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latin typeface="Times New Roman" panose="02020603050405020304" pitchFamily="18" charset="0"/>
                <a:cs typeface="Times New Roman" panose="02020603050405020304" pitchFamily="18" charset="0"/>
              </a:rPr>
              <a:t>80% Training </a:t>
            </a:r>
            <a:endParaRPr lang="en-IN" dirty="0">
              <a:latin typeface="Times New Roman" panose="02020603050405020304" pitchFamily="18" charset="0"/>
              <a:cs typeface="Times New Roman" panose="02020603050405020304" pitchFamily="18" charset="0"/>
            </a:endParaRPr>
          </a:p>
        </p:txBody>
      </p:sp>
      <p:sp>
        <p:nvSpPr>
          <p:cNvPr id="46" name="Rectangle 45"/>
          <p:cNvSpPr/>
          <p:nvPr/>
        </p:nvSpPr>
        <p:spPr>
          <a:xfrm>
            <a:off x="9930087" y="2338588"/>
            <a:ext cx="1223493" cy="541599"/>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smtClean="0">
                <a:latin typeface="Times New Roman" panose="02020603050405020304" pitchFamily="18" charset="0"/>
                <a:cs typeface="Times New Roman" panose="02020603050405020304" pitchFamily="18" charset="0"/>
              </a:rPr>
              <a:t>20% Testing </a:t>
            </a:r>
            <a:endParaRPr lang="en-IN" dirty="0">
              <a:latin typeface="Times New Roman" panose="02020603050405020304" pitchFamily="18" charset="0"/>
              <a:cs typeface="Times New Roman" panose="02020603050405020304" pitchFamily="18" charset="0"/>
            </a:endParaRPr>
          </a:p>
        </p:txBody>
      </p:sp>
      <p:sp>
        <p:nvSpPr>
          <p:cNvPr id="47" name="Down Arrow 46"/>
          <p:cNvSpPr/>
          <p:nvPr/>
        </p:nvSpPr>
        <p:spPr>
          <a:xfrm>
            <a:off x="10317406" y="3043059"/>
            <a:ext cx="232079" cy="737794"/>
          </a:xfrm>
          <a:prstGeom prst="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48" name="Round Single Corner Rectangle 47"/>
          <p:cNvSpPr/>
          <p:nvPr/>
        </p:nvSpPr>
        <p:spPr>
          <a:xfrm>
            <a:off x="9416403" y="3755861"/>
            <a:ext cx="2266165" cy="1348332"/>
          </a:xfrm>
          <a:prstGeom prst="round1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b="1" dirty="0" smtClean="0">
                <a:latin typeface="Times New Roman" panose="02020603050405020304" pitchFamily="18" charset="0"/>
                <a:cs typeface="Times New Roman" panose="02020603050405020304" pitchFamily="18" charset="0"/>
              </a:rPr>
              <a:t>CLASSIFICATION </a:t>
            </a:r>
            <a:endParaRPr lang="en-IN" dirty="0">
              <a:latin typeface="Times New Roman" panose="02020603050405020304" pitchFamily="18" charset="0"/>
              <a:cs typeface="Times New Roman" panose="02020603050405020304" pitchFamily="18" charset="0"/>
            </a:endParaRPr>
          </a:p>
        </p:txBody>
      </p:sp>
      <p:sp>
        <p:nvSpPr>
          <p:cNvPr id="49" name="Round Single Corner Rectangle 48"/>
          <p:cNvSpPr/>
          <p:nvPr/>
        </p:nvSpPr>
        <p:spPr>
          <a:xfrm>
            <a:off x="6334419" y="3810805"/>
            <a:ext cx="2148784" cy="1348332"/>
          </a:xfrm>
          <a:prstGeom prst="round1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smtClean="0">
                <a:latin typeface="Times New Roman" panose="02020603050405020304" pitchFamily="18" charset="0"/>
                <a:cs typeface="Times New Roman" panose="02020603050405020304" pitchFamily="18" charset="0"/>
              </a:rPr>
              <a:t>PREDICTION </a:t>
            </a:r>
            <a:endParaRPr lang="en-IN" dirty="0">
              <a:latin typeface="Times New Roman" panose="02020603050405020304" pitchFamily="18" charset="0"/>
              <a:cs typeface="Times New Roman" panose="02020603050405020304" pitchFamily="18" charset="0"/>
            </a:endParaRPr>
          </a:p>
        </p:txBody>
      </p:sp>
      <p:sp>
        <p:nvSpPr>
          <p:cNvPr id="50" name="Round Single Corner Rectangle 49"/>
          <p:cNvSpPr/>
          <p:nvPr/>
        </p:nvSpPr>
        <p:spPr>
          <a:xfrm>
            <a:off x="3118675" y="3810805"/>
            <a:ext cx="2148784" cy="1348332"/>
          </a:xfrm>
          <a:prstGeom prst="round1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b="1" dirty="0" smtClean="0">
                <a:latin typeface="Times New Roman" panose="02020603050405020304" pitchFamily="18" charset="0"/>
                <a:cs typeface="Times New Roman" panose="02020603050405020304" pitchFamily="18" charset="0"/>
              </a:rPr>
              <a:t>PERFORMANCE ANALYSIS </a:t>
            </a:r>
            <a:endParaRPr lang="en-IN" dirty="0">
              <a:latin typeface="Times New Roman" panose="02020603050405020304" pitchFamily="18" charset="0"/>
              <a:cs typeface="Times New Roman" panose="02020603050405020304" pitchFamily="18" charset="0"/>
            </a:endParaRPr>
          </a:p>
        </p:txBody>
      </p:sp>
      <p:sp>
        <p:nvSpPr>
          <p:cNvPr id="52" name="Left Arrow 51"/>
          <p:cNvSpPr/>
          <p:nvPr/>
        </p:nvSpPr>
        <p:spPr>
          <a:xfrm>
            <a:off x="8483202" y="4430027"/>
            <a:ext cx="933201" cy="270762"/>
          </a:xfrm>
          <a:prstGeom prst="lef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sp>
        <p:nvSpPr>
          <p:cNvPr id="53" name="Left Arrow 52"/>
          <p:cNvSpPr/>
          <p:nvPr/>
        </p:nvSpPr>
        <p:spPr>
          <a:xfrm>
            <a:off x="5267460" y="4314423"/>
            <a:ext cx="1045540" cy="288618"/>
          </a:xfrm>
          <a:prstGeom prst="lef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5596190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5" name="Title 1"/>
          <p:cNvSpPr>
            <a:spLocks noGrp="1"/>
          </p:cNvSpPr>
          <p:nvPr>
            <p:ph type="title"/>
          </p:nvPr>
        </p:nvSpPr>
        <p:spPr>
          <a:xfrm>
            <a:off x="477525" y="358798"/>
            <a:ext cx="4120232" cy="1303867"/>
          </a:xfrm>
        </p:spPr>
        <p:txBody>
          <a:bodyPr>
            <a:normAutofit/>
          </a:bodyPr>
          <a:lstStyle/>
          <a:p>
            <a:r>
              <a:rPr lang="en-IN" sz="3600" b="1" dirty="0" smtClean="0">
                <a:latin typeface="Times New Roman" panose="02020603050405020304" pitchFamily="18" charset="0"/>
                <a:cs typeface="Times New Roman" panose="02020603050405020304" pitchFamily="18" charset="0"/>
              </a:rPr>
              <a:t>FLOWCHART</a:t>
            </a:r>
            <a:endParaRPr lang="en-IN" sz="3600" dirty="0">
              <a:latin typeface="Times New Roman" panose="02020603050405020304" pitchFamily="18" charset="0"/>
              <a:cs typeface="Times New Roman" panose="02020603050405020304" pitchFamily="18" charset="0"/>
            </a:endParaRPr>
          </a:p>
        </p:txBody>
      </p:sp>
      <p:sp>
        <p:nvSpPr>
          <p:cNvPr id="7" name="Rounded Rectangle 6"/>
          <p:cNvSpPr/>
          <p:nvPr/>
        </p:nvSpPr>
        <p:spPr>
          <a:xfrm>
            <a:off x="5012498" y="313461"/>
            <a:ext cx="2176530" cy="850005"/>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IN" b="1" dirty="0">
                <a:latin typeface="Times New Roman" panose="02020603050405020304" pitchFamily="18" charset="0"/>
                <a:cs typeface="Times New Roman" panose="02020603050405020304" pitchFamily="18" charset="0"/>
              </a:rPr>
              <a:t>IMAGE SELECTION </a:t>
            </a:r>
            <a:endParaRPr lang="en-IN" dirty="0">
              <a:latin typeface="Times New Roman" panose="02020603050405020304" pitchFamily="18" charset="0"/>
              <a:cs typeface="Times New Roman" panose="02020603050405020304" pitchFamily="18" charset="0"/>
            </a:endParaRPr>
          </a:p>
        </p:txBody>
      </p:sp>
      <p:sp>
        <p:nvSpPr>
          <p:cNvPr id="8" name="Rounded Rectangle 7"/>
          <p:cNvSpPr/>
          <p:nvPr/>
        </p:nvSpPr>
        <p:spPr>
          <a:xfrm>
            <a:off x="5012498" y="1357381"/>
            <a:ext cx="2176530" cy="85000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b="1" dirty="0">
                <a:latin typeface="Times New Roman" panose="02020603050405020304" pitchFamily="18" charset="0"/>
                <a:cs typeface="Times New Roman" panose="02020603050405020304" pitchFamily="18" charset="0"/>
              </a:rPr>
              <a:t>IMAGE PREPROCESING </a:t>
            </a:r>
            <a:endParaRPr lang="en-IN" dirty="0">
              <a:latin typeface="Times New Roman" panose="02020603050405020304" pitchFamily="18" charset="0"/>
              <a:cs typeface="Times New Roman" panose="02020603050405020304" pitchFamily="18" charset="0"/>
            </a:endParaRPr>
          </a:p>
        </p:txBody>
      </p:sp>
      <p:sp>
        <p:nvSpPr>
          <p:cNvPr id="9" name="Rounded Rectangle 8"/>
          <p:cNvSpPr/>
          <p:nvPr/>
        </p:nvSpPr>
        <p:spPr>
          <a:xfrm>
            <a:off x="5012498" y="2451900"/>
            <a:ext cx="2176530" cy="85000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b="1" dirty="0">
                <a:latin typeface="Times New Roman" panose="02020603050405020304" pitchFamily="18" charset="0"/>
                <a:cs typeface="Times New Roman" panose="02020603050405020304" pitchFamily="18" charset="0"/>
              </a:rPr>
              <a:t>IMAGE SPLIITING </a:t>
            </a:r>
            <a:endParaRPr lang="en-IN" dirty="0">
              <a:latin typeface="Times New Roman" panose="02020603050405020304" pitchFamily="18" charset="0"/>
              <a:cs typeface="Times New Roman" panose="02020603050405020304" pitchFamily="18" charset="0"/>
            </a:endParaRPr>
          </a:p>
        </p:txBody>
      </p:sp>
      <p:sp>
        <p:nvSpPr>
          <p:cNvPr id="10" name="Rounded Rectangle 9"/>
          <p:cNvSpPr/>
          <p:nvPr/>
        </p:nvSpPr>
        <p:spPr>
          <a:xfrm>
            <a:off x="5012498" y="3597775"/>
            <a:ext cx="2176529" cy="85000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b="1" dirty="0" smtClean="0">
                <a:latin typeface="Times New Roman" panose="02020603050405020304" pitchFamily="18" charset="0"/>
                <a:cs typeface="Times New Roman" panose="02020603050405020304" pitchFamily="18" charset="0"/>
              </a:rPr>
              <a:t>CLASSIFICA</a:t>
            </a:r>
          </a:p>
          <a:p>
            <a:pPr algn="ctr"/>
            <a:r>
              <a:rPr lang="en-IN" b="1" dirty="0">
                <a:latin typeface="Times New Roman" panose="02020603050405020304" pitchFamily="18" charset="0"/>
                <a:cs typeface="Times New Roman" panose="02020603050405020304" pitchFamily="18" charset="0"/>
              </a:rPr>
              <a:t>-</a:t>
            </a:r>
            <a:r>
              <a:rPr lang="en-IN" b="1" dirty="0" smtClean="0">
                <a:latin typeface="Times New Roman" panose="02020603050405020304" pitchFamily="18" charset="0"/>
                <a:cs typeface="Times New Roman" panose="02020603050405020304" pitchFamily="18" charset="0"/>
              </a:rPr>
              <a:t>TION</a:t>
            </a:r>
            <a:endParaRPr lang="en-IN" dirty="0"/>
          </a:p>
        </p:txBody>
      </p:sp>
      <p:sp>
        <p:nvSpPr>
          <p:cNvPr id="11" name="Rounded Rectangle 10"/>
          <p:cNvSpPr/>
          <p:nvPr/>
        </p:nvSpPr>
        <p:spPr>
          <a:xfrm>
            <a:off x="5012498" y="4642150"/>
            <a:ext cx="2176530" cy="85000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a:latin typeface="Times New Roman" panose="02020603050405020304" pitchFamily="18" charset="0"/>
                <a:cs typeface="Times New Roman" panose="02020603050405020304" pitchFamily="18" charset="0"/>
              </a:rPr>
              <a:t>PREDICTION</a:t>
            </a:r>
            <a:endParaRPr lang="en-IN"/>
          </a:p>
        </p:txBody>
      </p:sp>
      <p:sp>
        <p:nvSpPr>
          <p:cNvPr id="12" name="Rounded Rectangle 11"/>
          <p:cNvSpPr/>
          <p:nvPr/>
        </p:nvSpPr>
        <p:spPr>
          <a:xfrm>
            <a:off x="5012498" y="5686525"/>
            <a:ext cx="2176530" cy="85000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b="1" dirty="0" smtClean="0">
              <a:latin typeface="Times New Roman" panose="02020603050405020304" pitchFamily="18" charset="0"/>
              <a:cs typeface="Times New Roman" panose="02020603050405020304" pitchFamily="18" charset="0"/>
            </a:endParaRPr>
          </a:p>
          <a:p>
            <a:pPr algn="ctr"/>
            <a:r>
              <a:rPr lang="en-IN" b="1" dirty="0" smtClean="0">
                <a:latin typeface="Times New Roman" panose="02020603050405020304" pitchFamily="18" charset="0"/>
                <a:cs typeface="Times New Roman" panose="02020603050405020304" pitchFamily="18" charset="0"/>
              </a:rPr>
              <a:t>PERFORMANCE </a:t>
            </a:r>
            <a:r>
              <a:rPr lang="en-IN" b="1" dirty="0">
                <a:latin typeface="Times New Roman" panose="02020603050405020304" pitchFamily="18" charset="0"/>
                <a:cs typeface="Times New Roman" panose="02020603050405020304" pitchFamily="18" charset="0"/>
              </a:rPr>
              <a:t>ANALYSIS </a:t>
            </a:r>
            <a:endParaRPr lang="en-IN" dirty="0">
              <a:latin typeface="Times New Roman" panose="02020603050405020304" pitchFamily="18" charset="0"/>
              <a:cs typeface="Times New Roman" panose="02020603050405020304" pitchFamily="18" charset="0"/>
            </a:endParaRPr>
          </a:p>
          <a:p>
            <a:pPr algn="ctr"/>
            <a:endParaRPr lang="en-IN" dirty="0"/>
          </a:p>
        </p:txBody>
      </p:sp>
      <p:cxnSp>
        <p:nvCxnSpPr>
          <p:cNvPr id="14" name="Straight Arrow Connector 13"/>
          <p:cNvCxnSpPr>
            <a:stCxn id="7" idx="2"/>
            <a:endCxn id="8" idx="0"/>
          </p:cNvCxnSpPr>
          <p:nvPr/>
        </p:nvCxnSpPr>
        <p:spPr>
          <a:xfrm>
            <a:off x="6100763" y="1163466"/>
            <a:ext cx="0" cy="19391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p:cNvCxnSpPr>
            <a:stCxn id="8" idx="2"/>
            <a:endCxn id="9" idx="0"/>
          </p:cNvCxnSpPr>
          <p:nvPr/>
        </p:nvCxnSpPr>
        <p:spPr>
          <a:xfrm>
            <a:off x="6100763" y="2207386"/>
            <a:ext cx="0" cy="2445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p:cNvCxnSpPr>
            <a:stCxn id="9" idx="2"/>
            <a:endCxn id="10" idx="0"/>
          </p:cNvCxnSpPr>
          <p:nvPr/>
        </p:nvCxnSpPr>
        <p:spPr>
          <a:xfrm>
            <a:off x="6100763" y="3301905"/>
            <a:ext cx="0" cy="2958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p:cNvCxnSpPr>
            <a:stCxn id="10" idx="2"/>
            <a:endCxn id="11" idx="0"/>
          </p:cNvCxnSpPr>
          <p:nvPr/>
        </p:nvCxnSpPr>
        <p:spPr>
          <a:xfrm>
            <a:off x="6100763" y="4447780"/>
            <a:ext cx="0" cy="1943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p:cNvCxnSpPr>
            <a:stCxn id="11" idx="2"/>
            <a:endCxn id="12" idx="0"/>
          </p:cNvCxnSpPr>
          <p:nvPr/>
        </p:nvCxnSpPr>
        <p:spPr>
          <a:xfrm>
            <a:off x="6100763" y="5492155"/>
            <a:ext cx="0" cy="1943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Rounded Rectangle 22"/>
          <p:cNvSpPr/>
          <p:nvPr/>
        </p:nvSpPr>
        <p:spPr>
          <a:xfrm>
            <a:off x="8277293" y="2207386"/>
            <a:ext cx="2176530" cy="163051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dirty="0">
              <a:latin typeface="Times New Roman" panose="02020603050405020304" pitchFamily="18" charset="0"/>
              <a:cs typeface="Times New Roman" panose="02020603050405020304" pitchFamily="18" charset="0"/>
            </a:endParaRPr>
          </a:p>
        </p:txBody>
      </p:sp>
      <p:sp>
        <p:nvSpPr>
          <p:cNvPr id="24" name="Rectangle 23"/>
          <p:cNvSpPr/>
          <p:nvPr/>
        </p:nvSpPr>
        <p:spPr>
          <a:xfrm>
            <a:off x="8654603" y="2414554"/>
            <a:ext cx="1481069" cy="53846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latin typeface="Times New Roman" panose="02020603050405020304" pitchFamily="18" charset="0"/>
                <a:cs typeface="Times New Roman" panose="02020603050405020304" pitchFamily="18" charset="0"/>
              </a:rPr>
              <a:t>80% Training </a:t>
            </a:r>
            <a:endParaRPr lang="en-IN" dirty="0">
              <a:latin typeface="Times New Roman" panose="02020603050405020304" pitchFamily="18" charset="0"/>
              <a:cs typeface="Times New Roman" panose="02020603050405020304" pitchFamily="18" charset="0"/>
            </a:endParaRPr>
          </a:p>
        </p:txBody>
      </p:sp>
      <p:sp>
        <p:nvSpPr>
          <p:cNvPr id="25" name="Rectangle 24"/>
          <p:cNvSpPr/>
          <p:nvPr/>
        </p:nvSpPr>
        <p:spPr>
          <a:xfrm>
            <a:off x="8654603" y="3101017"/>
            <a:ext cx="1481069" cy="541599"/>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smtClean="0">
                <a:latin typeface="Times New Roman" panose="02020603050405020304" pitchFamily="18" charset="0"/>
                <a:cs typeface="Times New Roman" panose="02020603050405020304" pitchFamily="18" charset="0"/>
              </a:rPr>
              <a:t>20% Testing </a:t>
            </a:r>
            <a:endParaRPr lang="en-IN" dirty="0">
              <a:latin typeface="Times New Roman" panose="02020603050405020304" pitchFamily="18" charset="0"/>
              <a:cs typeface="Times New Roman" panose="02020603050405020304" pitchFamily="18" charset="0"/>
            </a:endParaRPr>
          </a:p>
        </p:txBody>
      </p:sp>
      <p:sp>
        <p:nvSpPr>
          <p:cNvPr id="26" name="Right Arrow 25"/>
          <p:cNvSpPr/>
          <p:nvPr/>
        </p:nvSpPr>
        <p:spPr>
          <a:xfrm>
            <a:off x="7189028" y="2728908"/>
            <a:ext cx="1088265" cy="224115"/>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sp>
        <p:nvSpPr>
          <p:cNvPr id="27" name="Rounded Rectangle 26"/>
          <p:cNvSpPr/>
          <p:nvPr/>
        </p:nvSpPr>
        <p:spPr>
          <a:xfrm>
            <a:off x="1692364" y="3301905"/>
            <a:ext cx="2176530" cy="163051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dirty="0">
              <a:latin typeface="Times New Roman" panose="02020603050405020304" pitchFamily="18" charset="0"/>
              <a:cs typeface="Times New Roman" panose="02020603050405020304" pitchFamily="18" charset="0"/>
            </a:endParaRPr>
          </a:p>
        </p:txBody>
      </p:sp>
      <p:sp>
        <p:nvSpPr>
          <p:cNvPr id="28" name="Rectangle 27"/>
          <p:cNvSpPr/>
          <p:nvPr/>
        </p:nvSpPr>
        <p:spPr>
          <a:xfrm>
            <a:off x="2069674" y="3509073"/>
            <a:ext cx="1481069" cy="538469"/>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latin typeface="Times New Roman" panose="02020603050405020304" pitchFamily="18" charset="0"/>
                <a:cs typeface="Times New Roman" panose="02020603050405020304" pitchFamily="18" charset="0"/>
              </a:rPr>
              <a:t>CNN </a:t>
            </a:r>
            <a:endParaRPr lang="en-IN" dirty="0">
              <a:latin typeface="Times New Roman" panose="02020603050405020304" pitchFamily="18" charset="0"/>
              <a:cs typeface="Times New Roman" panose="02020603050405020304" pitchFamily="18" charset="0"/>
            </a:endParaRPr>
          </a:p>
        </p:txBody>
      </p:sp>
      <p:sp>
        <p:nvSpPr>
          <p:cNvPr id="29" name="Rectangle 28"/>
          <p:cNvSpPr/>
          <p:nvPr/>
        </p:nvSpPr>
        <p:spPr>
          <a:xfrm>
            <a:off x="2069674" y="4195536"/>
            <a:ext cx="1481069" cy="541599"/>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smtClean="0">
                <a:latin typeface="Times New Roman" panose="02020603050405020304" pitchFamily="18" charset="0"/>
                <a:cs typeface="Times New Roman" panose="02020603050405020304" pitchFamily="18" charset="0"/>
              </a:rPr>
              <a:t>Densenet121 </a:t>
            </a:r>
            <a:endParaRPr lang="en-IN" dirty="0">
              <a:latin typeface="Times New Roman" panose="02020603050405020304" pitchFamily="18" charset="0"/>
              <a:cs typeface="Times New Roman" panose="02020603050405020304" pitchFamily="18" charset="0"/>
            </a:endParaRPr>
          </a:p>
        </p:txBody>
      </p:sp>
      <p:sp>
        <p:nvSpPr>
          <p:cNvPr id="30" name="Left Arrow 29"/>
          <p:cNvSpPr/>
          <p:nvPr/>
        </p:nvSpPr>
        <p:spPr>
          <a:xfrm>
            <a:off x="3868894" y="3936201"/>
            <a:ext cx="1143604" cy="147994"/>
          </a:xfrm>
          <a:prstGeom prst="lef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21981602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7592" y="365125"/>
            <a:ext cx="10515600" cy="1325563"/>
          </a:xfrm>
        </p:spPr>
        <p:txBody>
          <a:bodyPr>
            <a:normAutofit/>
          </a:bodyPr>
          <a:lstStyle/>
          <a:p>
            <a:r>
              <a:rPr lang="en-IN" sz="3600" b="1" dirty="0" smtClean="0">
                <a:latin typeface="Times New Roman" panose="02020603050405020304" pitchFamily="18" charset="0"/>
                <a:cs typeface="Times New Roman" panose="02020603050405020304" pitchFamily="18" charset="0"/>
              </a:rPr>
              <a:t>USECASE- DIAGRAM </a:t>
            </a:r>
            <a:endParaRPr lang="en-IN" sz="3600" dirty="0"/>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6" name="Oval 5"/>
          <p:cNvSpPr/>
          <p:nvPr/>
        </p:nvSpPr>
        <p:spPr>
          <a:xfrm>
            <a:off x="1818807" y="2761356"/>
            <a:ext cx="823174" cy="537917"/>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p:cxnSp>
        <p:nvCxnSpPr>
          <p:cNvPr id="8" name="Straight Connector 7"/>
          <p:cNvCxnSpPr>
            <a:stCxn id="6" idx="4"/>
          </p:cNvCxnSpPr>
          <p:nvPr/>
        </p:nvCxnSpPr>
        <p:spPr>
          <a:xfrm>
            <a:off x="2230394" y="3299273"/>
            <a:ext cx="0" cy="806439"/>
          </a:xfrm>
          <a:prstGeom prst="line">
            <a:avLst/>
          </a:prstGeom>
        </p:spPr>
        <p:style>
          <a:lnRef idx="1">
            <a:schemeClr val="accent2"/>
          </a:lnRef>
          <a:fillRef idx="2">
            <a:schemeClr val="accent2"/>
          </a:fillRef>
          <a:effectRef idx="1">
            <a:schemeClr val="accent2"/>
          </a:effectRef>
          <a:fontRef idx="minor">
            <a:schemeClr val="dk1"/>
          </a:fontRef>
        </p:style>
      </p:cxnSp>
      <p:cxnSp>
        <p:nvCxnSpPr>
          <p:cNvPr id="12" name="Straight Connector 11"/>
          <p:cNvCxnSpPr/>
          <p:nvPr/>
        </p:nvCxnSpPr>
        <p:spPr>
          <a:xfrm>
            <a:off x="1818807" y="3567041"/>
            <a:ext cx="823174" cy="0"/>
          </a:xfrm>
          <a:prstGeom prst="line">
            <a:avLst/>
          </a:prstGeom>
        </p:spPr>
        <p:style>
          <a:lnRef idx="1">
            <a:schemeClr val="accent2"/>
          </a:lnRef>
          <a:fillRef idx="2">
            <a:schemeClr val="accent2"/>
          </a:fillRef>
          <a:effectRef idx="1">
            <a:schemeClr val="accent2"/>
          </a:effectRef>
          <a:fontRef idx="minor">
            <a:schemeClr val="dk1"/>
          </a:fontRef>
        </p:style>
      </p:cxnSp>
      <p:cxnSp>
        <p:nvCxnSpPr>
          <p:cNvPr id="14" name="Straight Connector 13"/>
          <p:cNvCxnSpPr/>
          <p:nvPr/>
        </p:nvCxnSpPr>
        <p:spPr>
          <a:xfrm flipH="1">
            <a:off x="1948133" y="3579920"/>
            <a:ext cx="282801" cy="324968"/>
          </a:xfrm>
          <a:prstGeom prst="line">
            <a:avLst/>
          </a:prstGeom>
        </p:spPr>
        <p:style>
          <a:lnRef idx="1">
            <a:schemeClr val="accent2"/>
          </a:lnRef>
          <a:fillRef idx="2">
            <a:schemeClr val="accent2"/>
          </a:fillRef>
          <a:effectRef idx="1">
            <a:schemeClr val="accent2"/>
          </a:effectRef>
          <a:fontRef idx="minor">
            <a:schemeClr val="dk1"/>
          </a:fontRef>
        </p:style>
      </p:cxnSp>
      <p:cxnSp>
        <p:nvCxnSpPr>
          <p:cNvPr id="16" name="Straight Connector 15"/>
          <p:cNvCxnSpPr/>
          <p:nvPr/>
        </p:nvCxnSpPr>
        <p:spPr>
          <a:xfrm>
            <a:off x="2243810" y="3567041"/>
            <a:ext cx="269385" cy="337847"/>
          </a:xfrm>
          <a:prstGeom prst="line">
            <a:avLst/>
          </a:prstGeom>
        </p:spPr>
        <p:style>
          <a:lnRef idx="1">
            <a:schemeClr val="accent2"/>
          </a:lnRef>
          <a:fillRef idx="2">
            <a:schemeClr val="accent2"/>
          </a:fillRef>
          <a:effectRef idx="1">
            <a:schemeClr val="accent2"/>
          </a:effectRef>
          <a:fontRef idx="minor">
            <a:schemeClr val="dk1"/>
          </a:fontRef>
        </p:style>
      </p:cxnSp>
      <p:sp>
        <p:nvSpPr>
          <p:cNvPr id="30" name="Rectangle 29"/>
          <p:cNvSpPr/>
          <p:nvPr/>
        </p:nvSpPr>
        <p:spPr>
          <a:xfrm>
            <a:off x="903105" y="3406459"/>
            <a:ext cx="774571" cy="369332"/>
          </a:xfrm>
          <a:prstGeom prst="rect">
            <a:avLst/>
          </a:prstGeom>
        </p:spPr>
        <p:txBody>
          <a:bodyPr wrap="none">
            <a:spAutoFit/>
          </a:bodyPr>
          <a:lstStyle/>
          <a:p>
            <a:r>
              <a:rPr lang="en-US"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USER</a:t>
            </a:r>
            <a:endParaRPr lang="en-IN" dirty="0">
              <a:latin typeface="Times New Roman" panose="02020603050405020304" pitchFamily="18" charset="0"/>
              <a:cs typeface="Times New Roman" panose="02020603050405020304" pitchFamily="18" charset="0"/>
            </a:endParaRPr>
          </a:p>
        </p:txBody>
      </p:sp>
      <p:sp>
        <p:nvSpPr>
          <p:cNvPr id="31" name="Rounded Rectangle 30"/>
          <p:cNvSpPr/>
          <p:nvPr/>
        </p:nvSpPr>
        <p:spPr>
          <a:xfrm>
            <a:off x="5012497" y="1493951"/>
            <a:ext cx="2193937" cy="474082"/>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1600" b="1" dirty="0">
                <a:latin typeface="Times New Roman" panose="02020603050405020304" pitchFamily="18" charset="0"/>
                <a:cs typeface="Times New Roman" panose="02020603050405020304" pitchFamily="18" charset="0"/>
              </a:rPr>
              <a:t>DATA SELECTION </a:t>
            </a:r>
            <a:endParaRPr lang="en-IN" sz="1600" dirty="0">
              <a:latin typeface="Times New Roman" panose="02020603050405020304" pitchFamily="18" charset="0"/>
              <a:cs typeface="Times New Roman" panose="02020603050405020304" pitchFamily="18" charset="0"/>
            </a:endParaRPr>
          </a:p>
        </p:txBody>
      </p:sp>
      <p:sp>
        <p:nvSpPr>
          <p:cNvPr id="32" name="Rounded Rectangle 31"/>
          <p:cNvSpPr/>
          <p:nvPr/>
        </p:nvSpPr>
        <p:spPr>
          <a:xfrm>
            <a:off x="5021200" y="2310841"/>
            <a:ext cx="2176530" cy="56231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600" b="1" dirty="0">
                <a:latin typeface="Times New Roman" panose="02020603050405020304" pitchFamily="18" charset="0"/>
                <a:cs typeface="Times New Roman" panose="02020603050405020304" pitchFamily="18" charset="0"/>
              </a:rPr>
              <a:t>DATA PREPROCESING </a:t>
            </a:r>
            <a:endParaRPr lang="en-IN" sz="1600" dirty="0">
              <a:latin typeface="Times New Roman" panose="02020603050405020304" pitchFamily="18" charset="0"/>
              <a:cs typeface="Times New Roman" panose="02020603050405020304" pitchFamily="18" charset="0"/>
            </a:endParaRPr>
          </a:p>
        </p:txBody>
      </p:sp>
      <p:sp>
        <p:nvSpPr>
          <p:cNvPr id="33" name="Rounded Rectangle 32"/>
          <p:cNvSpPr/>
          <p:nvPr/>
        </p:nvSpPr>
        <p:spPr>
          <a:xfrm>
            <a:off x="5012498" y="3241266"/>
            <a:ext cx="2176530" cy="47118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600" b="1" dirty="0">
                <a:latin typeface="Times New Roman" panose="02020603050405020304" pitchFamily="18" charset="0"/>
                <a:cs typeface="Times New Roman" panose="02020603050405020304" pitchFamily="18" charset="0"/>
              </a:rPr>
              <a:t>DATA SPLIITING </a:t>
            </a:r>
            <a:endParaRPr lang="en-IN" sz="1600" dirty="0">
              <a:latin typeface="Times New Roman" panose="02020603050405020304" pitchFamily="18" charset="0"/>
              <a:cs typeface="Times New Roman" panose="02020603050405020304" pitchFamily="18" charset="0"/>
            </a:endParaRPr>
          </a:p>
        </p:txBody>
      </p:sp>
      <p:sp>
        <p:nvSpPr>
          <p:cNvPr id="34" name="Rounded Rectangle 33"/>
          <p:cNvSpPr/>
          <p:nvPr/>
        </p:nvSpPr>
        <p:spPr>
          <a:xfrm>
            <a:off x="4995091" y="4105712"/>
            <a:ext cx="2211344" cy="44686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600" b="1" dirty="0">
                <a:latin typeface="Times New Roman" panose="02020603050405020304" pitchFamily="18" charset="0"/>
                <a:cs typeface="Times New Roman" panose="02020603050405020304" pitchFamily="18" charset="0"/>
              </a:rPr>
              <a:t>CLASSIFICATION</a:t>
            </a:r>
            <a:endParaRPr lang="en-IN" sz="1600" dirty="0"/>
          </a:p>
        </p:txBody>
      </p:sp>
      <p:sp>
        <p:nvSpPr>
          <p:cNvPr id="35" name="Rounded Rectangle 34"/>
          <p:cNvSpPr/>
          <p:nvPr/>
        </p:nvSpPr>
        <p:spPr>
          <a:xfrm>
            <a:off x="4977684" y="4946708"/>
            <a:ext cx="2211344" cy="44686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600" b="1" dirty="0" smtClean="0">
                <a:latin typeface="Times New Roman" panose="02020603050405020304" pitchFamily="18" charset="0"/>
                <a:cs typeface="Times New Roman" panose="02020603050405020304" pitchFamily="18" charset="0"/>
              </a:rPr>
              <a:t>PREDICTION </a:t>
            </a:r>
            <a:endParaRPr lang="en-IN" sz="1600" dirty="0"/>
          </a:p>
        </p:txBody>
      </p:sp>
      <p:sp>
        <p:nvSpPr>
          <p:cNvPr id="36" name="Rounded Rectangle 35"/>
          <p:cNvSpPr/>
          <p:nvPr/>
        </p:nvSpPr>
        <p:spPr>
          <a:xfrm>
            <a:off x="4977684" y="5720740"/>
            <a:ext cx="2211344" cy="535533"/>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600" b="1" dirty="0" smtClean="0">
                <a:latin typeface="Times New Roman" panose="02020603050405020304" pitchFamily="18" charset="0"/>
                <a:cs typeface="Times New Roman" panose="02020603050405020304" pitchFamily="18" charset="0"/>
              </a:rPr>
              <a:t>PERFORMANCE ANALYSIS </a:t>
            </a:r>
            <a:endParaRPr lang="en-IN" sz="1600" dirty="0"/>
          </a:p>
        </p:txBody>
      </p:sp>
      <p:cxnSp>
        <p:nvCxnSpPr>
          <p:cNvPr id="38" name="Straight Arrow Connector 37"/>
          <p:cNvCxnSpPr/>
          <p:nvPr/>
        </p:nvCxnSpPr>
        <p:spPr>
          <a:xfrm flipV="1">
            <a:off x="2641981" y="1690688"/>
            <a:ext cx="2335703" cy="187635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1" name="Straight Arrow Connector 40"/>
          <p:cNvCxnSpPr>
            <a:endCxn id="32" idx="1"/>
          </p:cNvCxnSpPr>
          <p:nvPr/>
        </p:nvCxnSpPr>
        <p:spPr>
          <a:xfrm flipV="1">
            <a:off x="2641981" y="2592000"/>
            <a:ext cx="2379219" cy="98792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3" name="Straight Arrow Connector 42"/>
          <p:cNvCxnSpPr>
            <a:endCxn id="33" idx="1"/>
          </p:cNvCxnSpPr>
          <p:nvPr/>
        </p:nvCxnSpPr>
        <p:spPr>
          <a:xfrm flipV="1">
            <a:off x="2641981" y="3476859"/>
            <a:ext cx="2370517" cy="9018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5" name="Straight Arrow Connector 44"/>
          <p:cNvCxnSpPr>
            <a:endCxn id="34" idx="1"/>
          </p:cNvCxnSpPr>
          <p:nvPr/>
        </p:nvCxnSpPr>
        <p:spPr>
          <a:xfrm>
            <a:off x="2641981" y="3567040"/>
            <a:ext cx="2353110" cy="76210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7" name="Straight Arrow Connector 46"/>
          <p:cNvCxnSpPr>
            <a:endCxn id="35" idx="1"/>
          </p:cNvCxnSpPr>
          <p:nvPr/>
        </p:nvCxnSpPr>
        <p:spPr>
          <a:xfrm>
            <a:off x="2655397" y="3567039"/>
            <a:ext cx="2322287" cy="160310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0" name="Straight Arrow Connector 49"/>
          <p:cNvCxnSpPr>
            <a:endCxn id="36" idx="1"/>
          </p:cNvCxnSpPr>
          <p:nvPr/>
        </p:nvCxnSpPr>
        <p:spPr>
          <a:xfrm>
            <a:off x="2641981" y="3567039"/>
            <a:ext cx="2335703" cy="242146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51" name="Oval 50"/>
          <p:cNvSpPr/>
          <p:nvPr/>
        </p:nvSpPr>
        <p:spPr>
          <a:xfrm>
            <a:off x="9037238" y="2761356"/>
            <a:ext cx="823174" cy="537917"/>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cxnSp>
        <p:nvCxnSpPr>
          <p:cNvPr id="52" name="Straight Connector 51"/>
          <p:cNvCxnSpPr>
            <a:stCxn id="51" idx="4"/>
          </p:cNvCxnSpPr>
          <p:nvPr/>
        </p:nvCxnSpPr>
        <p:spPr>
          <a:xfrm>
            <a:off x="9448825" y="3299273"/>
            <a:ext cx="13416" cy="953037"/>
          </a:xfrm>
          <a:prstGeom prst="line">
            <a:avLst/>
          </a:prstGeom>
        </p:spPr>
        <p:style>
          <a:lnRef idx="1">
            <a:schemeClr val="dk1"/>
          </a:lnRef>
          <a:fillRef idx="2">
            <a:schemeClr val="dk1"/>
          </a:fillRef>
          <a:effectRef idx="1">
            <a:schemeClr val="dk1"/>
          </a:effectRef>
          <a:fontRef idx="minor">
            <a:schemeClr val="dk1"/>
          </a:fontRef>
        </p:style>
      </p:cxnSp>
      <p:cxnSp>
        <p:nvCxnSpPr>
          <p:cNvPr id="53" name="Straight Connector 52"/>
          <p:cNvCxnSpPr/>
          <p:nvPr/>
        </p:nvCxnSpPr>
        <p:spPr>
          <a:xfrm>
            <a:off x="9037238" y="3637119"/>
            <a:ext cx="823174" cy="0"/>
          </a:xfrm>
          <a:prstGeom prst="line">
            <a:avLst/>
          </a:prstGeom>
        </p:spPr>
        <p:style>
          <a:lnRef idx="1">
            <a:schemeClr val="dk1"/>
          </a:lnRef>
          <a:fillRef idx="2">
            <a:schemeClr val="dk1"/>
          </a:fillRef>
          <a:effectRef idx="1">
            <a:schemeClr val="dk1"/>
          </a:effectRef>
          <a:fontRef idx="minor">
            <a:schemeClr val="dk1"/>
          </a:fontRef>
        </p:style>
      </p:cxnSp>
      <p:cxnSp>
        <p:nvCxnSpPr>
          <p:cNvPr id="54" name="Straight Connector 53"/>
          <p:cNvCxnSpPr/>
          <p:nvPr/>
        </p:nvCxnSpPr>
        <p:spPr>
          <a:xfrm flipH="1">
            <a:off x="9166564" y="3649998"/>
            <a:ext cx="282801" cy="324968"/>
          </a:xfrm>
          <a:prstGeom prst="line">
            <a:avLst/>
          </a:prstGeom>
        </p:spPr>
        <p:style>
          <a:lnRef idx="1">
            <a:schemeClr val="dk1"/>
          </a:lnRef>
          <a:fillRef idx="2">
            <a:schemeClr val="dk1"/>
          </a:fillRef>
          <a:effectRef idx="1">
            <a:schemeClr val="dk1"/>
          </a:effectRef>
          <a:fontRef idx="minor">
            <a:schemeClr val="dk1"/>
          </a:fontRef>
        </p:style>
      </p:cxnSp>
      <p:cxnSp>
        <p:nvCxnSpPr>
          <p:cNvPr id="55" name="Straight Connector 54"/>
          <p:cNvCxnSpPr/>
          <p:nvPr/>
        </p:nvCxnSpPr>
        <p:spPr>
          <a:xfrm>
            <a:off x="9462241" y="3637119"/>
            <a:ext cx="269385" cy="337847"/>
          </a:xfrm>
          <a:prstGeom prst="line">
            <a:avLst/>
          </a:prstGeom>
        </p:spPr>
        <p:style>
          <a:lnRef idx="1">
            <a:schemeClr val="dk1"/>
          </a:lnRef>
          <a:fillRef idx="2">
            <a:schemeClr val="dk1"/>
          </a:fillRef>
          <a:effectRef idx="1">
            <a:schemeClr val="dk1"/>
          </a:effectRef>
          <a:fontRef idx="minor">
            <a:schemeClr val="dk1"/>
          </a:fontRef>
        </p:style>
      </p:cxnSp>
      <p:sp>
        <p:nvSpPr>
          <p:cNvPr id="56" name="Rectangle 55"/>
          <p:cNvSpPr/>
          <p:nvPr/>
        </p:nvSpPr>
        <p:spPr>
          <a:xfrm>
            <a:off x="9945632" y="3436710"/>
            <a:ext cx="1152880" cy="369332"/>
          </a:xfrm>
          <a:prstGeom prst="rect">
            <a:avLst/>
          </a:prstGeom>
        </p:spPr>
        <p:txBody>
          <a:bodyPr wrap="none">
            <a:spAutoFit/>
          </a:bodyPr>
          <a:lstStyle/>
          <a:p>
            <a:r>
              <a:rPr lang="en-US"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SYSTEM </a:t>
            </a:r>
            <a:endParaRPr lang="en-IN" dirty="0">
              <a:latin typeface="Times New Roman" panose="02020603050405020304" pitchFamily="18" charset="0"/>
              <a:cs typeface="Times New Roman" panose="02020603050405020304" pitchFamily="18" charset="0"/>
            </a:endParaRPr>
          </a:p>
        </p:txBody>
      </p:sp>
      <p:cxnSp>
        <p:nvCxnSpPr>
          <p:cNvPr id="58" name="Straight Arrow Connector 57"/>
          <p:cNvCxnSpPr/>
          <p:nvPr/>
        </p:nvCxnSpPr>
        <p:spPr>
          <a:xfrm>
            <a:off x="7206434" y="1690688"/>
            <a:ext cx="1830804" cy="19464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0" name="Straight Arrow Connector 59"/>
          <p:cNvCxnSpPr>
            <a:stCxn id="32" idx="3"/>
          </p:cNvCxnSpPr>
          <p:nvPr/>
        </p:nvCxnSpPr>
        <p:spPr>
          <a:xfrm>
            <a:off x="7197730" y="2592000"/>
            <a:ext cx="1839508" cy="104511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2" name="Straight Arrow Connector 61"/>
          <p:cNvCxnSpPr>
            <a:stCxn id="33" idx="3"/>
          </p:cNvCxnSpPr>
          <p:nvPr/>
        </p:nvCxnSpPr>
        <p:spPr>
          <a:xfrm>
            <a:off x="7189028" y="3476859"/>
            <a:ext cx="1848210" cy="1602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4" name="Straight Arrow Connector 63"/>
          <p:cNvCxnSpPr>
            <a:stCxn id="34" idx="3"/>
          </p:cNvCxnSpPr>
          <p:nvPr/>
        </p:nvCxnSpPr>
        <p:spPr>
          <a:xfrm flipV="1">
            <a:off x="7206435" y="3637119"/>
            <a:ext cx="1830803" cy="6920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6" name="Straight Arrow Connector 65"/>
          <p:cNvCxnSpPr>
            <a:stCxn id="35" idx="3"/>
          </p:cNvCxnSpPr>
          <p:nvPr/>
        </p:nvCxnSpPr>
        <p:spPr>
          <a:xfrm flipV="1">
            <a:off x="7189028" y="3649998"/>
            <a:ext cx="1848210" cy="15201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8" name="Straight Arrow Connector 67"/>
          <p:cNvCxnSpPr>
            <a:stCxn id="36" idx="3"/>
          </p:cNvCxnSpPr>
          <p:nvPr/>
        </p:nvCxnSpPr>
        <p:spPr>
          <a:xfrm flipV="1">
            <a:off x="7189028" y="3649998"/>
            <a:ext cx="1848210" cy="233850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72658068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1463" y="259631"/>
            <a:ext cx="10662747" cy="1303867"/>
          </a:xfrm>
        </p:spPr>
        <p:txBody>
          <a:bodyPr>
            <a:normAutofit/>
          </a:bodyPr>
          <a:lstStyle/>
          <a:p>
            <a:r>
              <a:rPr lang="en-IN" sz="3600" b="1" dirty="0" smtClean="0">
                <a:latin typeface="Times New Roman" panose="02020603050405020304" pitchFamily="18" charset="0"/>
                <a:cs typeface="Times New Roman" panose="02020603050405020304" pitchFamily="18" charset="0"/>
              </a:rPr>
              <a:t>ER ARCHITECTURE</a:t>
            </a:r>
            <a:r>
              <a:rPr lang="en-IN" sz="3600" dirty="0">
                <a:latin typeface="Times New Roman" panose="02020603050405020304" pitchFamily="18" charset="0"/>
                <a:cs typeface="Times New Roman" panose="02020603050405020304" pitchFamily="18" charset="0"/>
              </a:rPr>
              <a:t/>
            </a:r>
            <a:br>
              <a:rPr lang="en-IN" sz="3600" dirty="0">
                <a:latin typeface="Times New Roman" panose="02020603050405020304" pitchFamily="18" charset="0"/>
                <a:cs typeface="Times New Roman" panose="02020603050405020304" pitchFamily="18" charset="0"/>
              </a:rPr>
            </a:br>
            <a:endParaRPr lang="en-IN" sz="36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3" name="Rectangle 19"/>
          <p:cNvSpPr>
            <a:spLocks noChangeArrowheads="1"/>
          </p:cNvSpPr>
          <p:nvPr/>
        </p:nvSpPr>
        <p:spPr bwMode="auto">
          <a:xfrm>
            <a:off x="2202287" y="-262729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4" name="Rectangle 27"/>
          <p:cNvSpPr>
            <a:spLocks noChangeArrowheads="1"/>
          </p:cNvSpPr>
          <p:nvPr/>
        </p:nvSpPr>
        <p:spPr bwMode="auto">
          <a:xfrm>
            <a:off x="4031087" y="-217009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6" name="Right Arrow 35"/>
          <p:cNvSpPr/>
          <p:nvPr/>
        </p:nvSpPr>
        <p:spPr>
          <a:xfrm>
            <a:off x="5267460" y="2152836"/>
            <a:ext cx="1066959" cy="270456"/>
          </a:xfrm>
          <a:prstGeom prst="rightArrow">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IN"/>
          </a:p>
        </p:txBody>
      </p:sp>
      <p:sp>
        <p:nvSpPr>
          <p:cNvPr id="37" name="Round Single Corner Rectangle 36"/>
          <p:cNvSpPr/>
          <p:nvPr/>
        </p:nvSpPr>
        <p:spPr>
          <a:xfrm>
            <a:off x="6334419" y="1666376"/>
            <a:ext cx="2023970" cy="1348332"/>
          </a:xfrm>
          <a:prstGeom prst="round1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b="1" dirty="0">
                <a:latin typeface="Times New Roman" panose="02020603050405020304" pitchFamily="18" charset="0"/>
                <a:cs typeface="Times New Roman" panose="02020603050405020304" pitchFamily="18" charset="0"/>
              </a:rPr>
              <a:t>DATA </a:t>
            </a:r>
            <a:r>
              <a:rPr lang="en-IN" b="1" dirty="0" smtClean="0">
                <a:latin typeface="Times New Roman" panose="02020603050405020304" pitchFamily="18" charset="0"/>
                <a:cs typeface="Times New Roman" panose="02020603050405020304" pitchFamily="18" charset="0"/>
              </a:rPr>
              <a:t>PREPROCESING </a:t>
            </a:r>
            <a:endParaRPr lang="en-IN" dirty="0">
              <a:latin typeface="Times New Roman" panose="02020603050405020304" pitchFamily="18" charset="0"/>
              <a:cs typeface="Times New Roman" panose="02020603050405020304" pitchFamily="18" charset="0"/>
            </a:endParaRPr>
          </a:p>
        </p:txBody>
      </p:sp>
      <p:sp>
        <p:nvSpPr>
          <p:cNvPr id="38" name="Right Arrow 37"/>
          <p:cNvSpPr/>
          <p:nvPr/>
        </p:nvSpPr>
        <p:spPr>
          <a:xfrm>
            <a:off x="8358389" y="2190873"/>
            <a:ext cx="1066959" cy="270456"/>
          </a:xfrm>
          <a:prstGeom prst="rightArrow">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IN"/>
          </a:p>
        </p:txBody>
      </p:sp>
      <p:sp>
        <p:nvSpPr>
          <p:cNvPr id="42" name="Round Single Corner Rectangle 41"/>
          <p:cNvSpPr/>
          <p:nvPr/>
        </p:nvSpPr>
        <p:spPr>
          <a:xfrm>
            <a:off x="9425348" y="1725619"/>
            <a:ext cx="2148784" cy="1348332"/>
          </a:xfrm>
          <a:prstGeom prst="round1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b="1" dirty="0" smtClean="0">
                <a:latin typeface="Times New Roman" panose="02020603050405020304" pitchFamily="18" charset="0"/>
                <a:cs typeface="Times New Roman" panose="02020603050405020304" pitchFamily="18" charset="0"/>
              </a:rPr>
              <a:t>DATA SPLIITING </a:t>
            </a:r>
            <a:endParaRPr lang="en-IN" dirty="0">
              <a:latin typeface="Times New Roman" panose="02020603050405020304" pitchFamily="18" charset="0"/>
              <a:cs typeface="Times New Roman" panose="02020603050405020304" pitchFamily="18" charset="0"/>
            </a:endParaRPr>
          </a:p>
        </p:txBody>
      </p:sp>
      <p:sp>
        <p:nvSpPr>
          <p:cNvPr id="48" name="Round Single Corner Rectangle 47"/>
          <p:cNvSpPr/>
          <p:nvPr/>
        </p:nvSpPr>
        <p:spPr>
          <a:xfrm>
            <a:off x="9416403" y="3755861"/>
            <a:ext cx="2266165" cy="1348332"/>
          </a:xfrm>
          <a:prstGeom prst="round1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b="1" dirty="0" smtClean="0">
                <a:latin typeface="Times New Roman" panose="02020603050405020304" pitchFamily="18" charset="0"/>
                <a:cs typeface="Times New Roman" panose="02020603050405020304" pitchFamily="18" charset="0"/>
              </a:rPr>
              <a:t>CLASSIFICATION </a:t>
            </a:r>
            <a:endParaRPr lang="en-IN" dirty="0">
              <a:latin typeface="Times New Roman" panose="02020603050405020304" pitchFamily="18" charset="0"/>
              <a:cs typeface="Times New Roman" panose="02020603050405020304" pitchFamily="18" charset="0"/>
            </a:endParaRPr>
          </a:p>
        </p:txBody>
      </p:sp>
      <p:sp>
        <p:nvSpPr>
          <p:cNvPr id="49" name="Round Single Corner Rectangle 48"/>
          <p:cNvSpPr/>
          <p:nvPr/>
        </p:nvSpPr>
        <p:spPr>
          <a:xfrm>
            <a:off x="6334419" y="3810805"/>
            <a:ext cx="2148784" cy="1348332"/>
          </a:xfrm>
          <a:prstGeom prst="round1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smtClean="0">
                <a:latin typeface="Times New Roman" panose="02020603050405020304" pitchFamily="18" charset="0"/>
                <a:cs typeface="Times New Roman" panose="02020603050405020304" pitchFamily="18" charset="0"/>
              </a:rPr>
              <a:t>PREDICTION </a:t>
            </a:r>
            <a:endParaRPr lang="en-IN" dirty="0">
              <a:latin typeface="Times New Roman" panose="02020603050405020304" pitchFamily="18" charset="0"/>
              <a:cs typeface="Times New Roman" panose="02020603050405020304" pitchFamily="18" charset="0"/>
            </a:endParaRPr>
          </a:p>
        </p:txBody>
      </p:sp>
      <p:sp>
        <p:nvSpPr>
          <p:cNvPr id="50" name="Round Single Corner Rectangle 49"/>
          <p:cNvSpPr/>
          <p:nvPr/>
        </p:nvSpPr>
        <p:spPr>
          <a:xfrm>
            <a:off x="3118675" y="3810805"/>
            <a:ext cx="2148784" cy="1348332"/>
          </a:xfrm>
          <a:prstGeom prst="round1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b="1" dirty="0" smtClean="0">
                <a:latin typeface="Times New Roman" panose="02020603050405020304" pitchFamily="18" charset="0"/>
                <a:cs typeface="Times New Roman" panose="02020603050405020304" pitchFamily="18" charset="0"/>
              </a:rPr>
              <a:t>PERFORMANCE ANALYSIS </a:t>
            </a:r>
            <a:endParaRPr lang="en-IN" dirty="0">
              <a:latin typeface="Times New Roman" panose="02020603050405020304" pitchFamily="18" charset="0"/>
              <a:cs typeface="Times New Roman" panose="02020603050405020304" pitchFamily="18" charset="0"/>
            </a:endParaRPr>
          </a:p>
        </p:txBody>
      </p:sp>
      <p:sp>
        <p:nvSpPr>
          <p:cNvPr id="52" name="Left Arrow 51"/>
          <p:cNvSpPr/>
          <p:nvPr/>
        </p:nvSpPr>
        <p:spPr>
          <a:xfrm>
            <a:off x="8483202" y="4430027"/>
            <a:ext cx="933201" cy="270762"/>
          </a:xfrm>
          <a:prstGeom prst="leftArrow">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IN"/>
          </a:p>
        </p:txBody>
      </p:sp>
      <p:sp>
        <p:nvSpPr>
          <p:cNvPr id="53" name="Left Arrow 52"/>
          <p:cNvSpPr/>
          <p:nvPr/>
        </p:nvSpPr>
        <p:spPr>
          <a:xfrm>
            <a:off x="5267460" y="4314423"/>
            <a:ext cx="1045540" cy="288618"/>
          </a:xfrm>
          <a:prstGeom prst="leftArrow">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IN"/>
          </a:p>
        </p:txBody>
      </p:sp>
      <p:sp>
        <p:nvSpPr>
          <p:cNvPr id="5" name="Down Arrow 4"/>
          <p:cNvSpPr/>
          <p:nvPr/>
        </p:nvSpPr>
        <p:spPr>
          <a:xfrm>
            <a:off x="10315977" y="3073951"/>
            <a:ext cx="233508" cy="681910"/>
          </a:xfrm>
          <a:prstGeom prst="downArrow">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IN"/>
          </a:p>
        </p:txBody>
      </p:sp>
      <p:sp>
        <p:nvSpPr>
          <p:cNvPr id="25" name="Round Single Corner Rectangle 24"/>
          <p:cNvSpPr/>
          <p:nvPr/>
        </p:nvSpPr>
        <p:spPr>
          <a:xfrm>
            <a:off x="3243489" y="1602679"/>
            <a:ext cx="2023970" cy="1348332"/>
          </a:xfrm>
          <a:prstGeom prst="round1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b="1" dirty="0" smtClean="0">
                <a:latin typeface="Times New Roman" panose="02020603050405020304" pitchFamily="18" charset="0"/>
                <a:cs typeface="Times New Roman" panose="02020603050405020304" pitchFamily="18" charset="0"/>
              </a:rPr>
              <a:t>DATA SELECTION </a:t>
            </a:r>
            <a:endParaRPr lang="en-IN" dirty="0">
              <a:latin typeface="Times New Roman" panose="02020603050405020304" pitchFamily="18" charset="0"/>
              <a:cs typeface="Times New Roman" panose="02020603050405020304" pitchFamily="18" charset="0"/>
            </a:endParaRPr>
          </a:p>
        </p:txBody>
      </p:sp>
      <p:sp>
        <p:nvSpPr>
          <p:cNvPr id="7" name="Oval 6"/>
          <p:cNvSpPr/>
          <p:nvPr/>
        </p:nvSpPr>
        <p:spPr>
          <a:xfrm>
            <a:off x="391325" y="1256759"/>
            <a:ext cx="1841676" cy="813331"/>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b="1" dirty="0" smtClean="0">
                <a:latin typeface="Times New Roman" panose="02020603050405020304" pitchFamily="18" charset="0"/>
                <a:cs typeface="Times New Roman" panose="02020603050405020304" pitchFamily="18" charset="0"/>
              </a:rPr>
              <a:t>START </a:t>
            </a:r>
            <a:endParaRPr lang="en-IN" b="1" dirty="0">
              <a:latin typeface="Times New Roman" panose="02020603050405020304" pitchFamily="18" charset="0"/>
              <a:cs typeface="Times New Roman" panose="02020603050405020304" pitchFamily="18" charset="0"/>
            </a:endParaRPr>
          </a:p>
        </p:txBody>
      </p:sp>
      <p:sp>
        <p:nvSpPr>
          <p:cNvPr id="27" name="Oval 26"/>
          <p:cNvSpPr/>
          <p:nvPr/>
        </p:nvSpPr>
        <p:spPr>
          <a:xfrm>
            <a:off x="391324" y="2314860"/>
            <a:ext cx="1841677" cy="813331"/>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b="1" dirty="0" smtClean="0"/>
          </a:p>
          <a:p>
            <a:pPr algn="ctr"/>
            <a:r>
              <a:rPr lang="en-IN" b="1" dirty="0" smtClean="0">
                <a:latin typeface="Times New Roman" panose="02020603050405020304" pitchFamily="18" charset="0"/>
                <a:cs typeface="Times New Roman" panose="02020603050405020304" pitchFamily="18" charset="0"/>
              </a:rPr>
              <a:t>LOAD </a:t>
            </a:r>
            <a:r>
              <a:rPr lang="en-IN" b="1" dirty="0">
                <a:latin typeface="Times New Roman" panose="02020603050405020304" pitchFamily="18" charset="0"/>
                <a:cs typeface="Times New Roman" panose="02020603050405020304" pitchFamily="18" charset="0"/>
              </a:rPr>
              <a:t>DATASET</a:t>
            </a:r>
            <a:endParaRPr lang="en-IN" dirty="0">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cxnSp>
        <p:nvCxnSpPr>
          <p:cNvPr id="9" name="Straight Arrow Connector 8"/>
          <p:cNvCxnSpPr>
            <a:endCxn id="25" idx="1"/>
          </p:cNvCxnSpPr>
          <p:nvPr/>
        </p:nvCxnSpPr>
        <p:spPr>
          <a:xfrm>
            <a:off x="2233001" y="1666376"/>
            <a:ext cx="1010488" cy="61046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 name="Straight Arrow Connector 10"/>
          <p:cNvCxnSpPr>
            <a:stCxn id="27" idx="6"/>
            <a:endCxn id="25" idx="1"/>
          </p:cNvCxnSpPr>
          <p:nvPr/>
        </p:nvCxnSpPr>
        <p:spPr>
          <a:xfrm flipV="1">
            <a:off x="2233001" y="2276845"/>
            <a:ext cx="1010488" cy="44468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77694780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pSp>
        <p:nvGrpSpPr>
          <p:cNvPr id="34" name="Group 33"/>
          <p:cNvGrpSpPr/>
          <p:nvPr/>
        </p:nvGrpSpPr>
        <p:grpSpPr>
          <a:xfrm>
            <a:off x="1672107" y="1584101"/>
            <a:ext cx="8847785" cy="4827270"/>
            <a:chOff x="-262677" y="0"/>
            <a:chExt cx="9022958" cy="4702342"/>
          </a:xfrm>
        </p:grpSpPr>
        <p:sp>
          <p:nvSpPr>
            <p:cNvPr id="37" name="Rectangle 36"/>
            <p:cNvSpPr/>
            <p:nvPr/>
          </p:nvSpPr>
          <p:spPr>
            <a:xfrm>
              <a:off x="4813107" y="25758"/>
              <a:ext cx="2010866" cy="674591"/>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spcAft>
                  <a:spcPts val="0"/>
                </a:spcAft>
              </a:pPr>
              <a:endParaRPr lang="en-IN" sz="1200" dirty="0">
                <a:effectLst/>
                <a:latin typeface="Times New Roman" panose="02020603050405020304" pitchFamily="18" charset="0"/>
                <a:ea typeface="Times New Roman" panose="02020603050405020304" pitchFamily="18" charset="0"/>
              </a:endParaRPr>
            </a:p>
          </p:txBody>
        </p:sp>
        <p:sp>
          <p:nvSpPr>
            <p:cNvPr id="38" name="Rectangle 37"/>
            <p:cNvSpPr/>
            <p:nvPr/>
          </p:nvSpPr>
          <p:spPr>
            <a:xfrm>
              <a:off x="7181545" y="0"/>
              <a:ext cx="1578736" cy="700349"/>
            </a:xfrm>
            <a:prstGeom prst="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spcAft>
                  <a:spcPts val="0"/>
                </a:spcAft>
              </a:pPr>
              <a:r>
                <a:rPr lang="en-IN" sz="1600" b="1" kern="1200" dirty="0" smtClean="0">
                  <a:solidFill>
                    <a:srgbClr val="000000"/>
                  </a:solidFill>
                  <a:effectLst/>
                  <a:latin typeface="Times New Roman" panose="02020603050405020304" pitchFamily="18" charset="0"/>
                  <a:ea typeface="Times New Roman" panose="02020603050405020304" pitchFamily="18" charset="0"/>
                </a:rPr>
                <a:t>PREDICTION</a:t>
              </a:r>
              <a:endParaRPr lang="en-IN" sz="1600" b="1" dirty="0">
                <a:effectLst/>
                <a:latin typeface="Times New Roman" panose="02020603050405020304" pitchFamily="18" charset="0"/>
                <a:ea typeface="Times New Roman" panose="02020603050405020304" pitchFamily="18" charset="0"/>
              </a:endParaRPr>
            </a:p>
          </p:txBody>
        </p:sp>
        <p:sp>
          <p:nvSpPr>
            <p:cNvPr id="39" name="Rectangle 38"/>
            <p:cNvSpPr/>
            <p:nvPr/>
          </p:nvSpPr>
          <p:spPr>
            <a:xfrm>
              <a:off x="5550760" y="937055"/>
              <a:ext cx="203381" cy="3274337"/>
            </a:xfrm>
            <a:prstGeom prst="rect">
              <a:avLst/>
            </a:prstGeom>
            <a:ln/>
          </p:spPr>
          <p:style>
            <a:lnRef idx="1">
              <a:schemeClr val="dk1"/>
            </a:lnRef>
            <a:fillRef idx="2">
              <a:schemeClr val="dk1"/>
            </a:fillRef>
            <a:effectRef idx="1">
              <a:schemeClr val="dk1"/>
            </a:effectRef>
            <a:fontRef idx="minor">
              <a:schemeClr val="dk1"/>
            </a:fontRef>
          </p:style>
          <p:txBody>
            <a:bodyPr rtlCol="0" anchor="ctr"/>
            <a:lstStyle/>
            <a:p>
              <a:endParaRPr lang="en-IN"/>
            </a:p>
          </p:txBody>
        </p:sp>
        <p:sp>
          <p:nvSpPr>
            <p:cNvPr id="40" name="Rectangle 39"/>
            <p:cNvSpPr/>
            <p:nvPr/>
          </p:nvSpPr>
          <p:spPr>
            <a:xfrm>
              <a:off x="7811266" y="925728"/>
              <a:ext cx="155891" cy="3285664"/>
            </a:xfrm>
            <a:prstGeom prst="rect">
              <a:avLst/>
            </a:prstGeom>
            <a:ln/>
          </p:spPr>
          <p:style>
            <a:lnRef idx="1">
              <a:schemeClr val="dk1"/>
            </a:lnRef>
            <a:fillRef idx="2">
              <a:schemeClr val="dk1"/>
            </a:fillRef>
            <a:effectRef idx="1">
              <a:schemeClr val="dk1"/>
            </a:effectRef>
            <a:fontRef idx="minor">
              <a:schemeClr val="dk1"/>
            </a:fontRef>
          </p:style>
          <p:txBody>
            <a:bodyPr rtlCol="0" anchor="ctr"/>
            <a:lstStyle/>
            <a:p>
              <a:endParaRPr lang="en-IN"/>
            </a:p>
          </p:txBody>
        </p:sp>
        <p:cxnSp>
          <p:nvCxnSpPr>
            <p:cNvPr id="41" name="Straight Connector 40"/>
            <p:cNvCxnSpPr/>
            <p:nvPr/>
          </p:nvCxnSpPr>
          <p:spPr>
            <a:xfrm>
              <a:off x="5661771" y="700349"/>
              <a:ext cx="1" cy="225378"/>
            </a:xfrm>
            <a:prstGeom prst="line">
              <a:avLst/>
            </a:prstGeom>
            <a:ln/>
          </p:spPr>
          <p:style>
            <a:lnRef idx="2">
              <a:schemeClr val="dk1"/>
            </a:lnRef>
            <a:fillRef idx="1">
              <a:schemeClr val="lt1"/>
            </a:fillRef>
            <a:effectRef idx="0">
              <a:schemeClr val="dk1"/>
            </a:effectRef>
            <a:fontRef idx="minor">
              <a:schemeClr val="dk1"/>
            </a:fontRef>
          </p:style>
        </p:cxnSp>
        <p:cxnSp>
          <p:nvCxnSpPr>
            <p:cNvPr id="42" name="Straight Connector 41"/>
            <p:cNvCxnSpPr/>
            <p:nvPr/>
          </p:nvCxnSpPr>
          <p:spPr>
            <a:xfrm>
              <a:off x="7875260" y="711678"/>
              <a:ext cx="13951" cy="225377"/>
            </a:xfrm>
            <a:prstGeom prst="line">
              <a:avLst/>
            </a:prstGeom>
            <a:ln/>
          </p:spPr>
          <p:style>
            <a:lnRef idx="2">
              <a:schemeClr val="dk1"/>
            </a:lnRef>
            <a:fillRef idx="1">
              <a:schemeClr val="lt1"/>
            </a:fillRef>
            <a:effectRef idx="0">
              <a:schemeClr val="dk1"/>
            </a:effectRef>
            <a:fontRef idx="minor">
              <a:schemeClr val="dk1"/>
            </a:fontRef>
          </p:style>
        </p:cxnSp>
        <p:cxnSp>
          <p:nvCxnSpPr>
            <p:cNvPr id="43" name="Straight Arrow Connector 42"/>
            <p:cNvCxnSpPr/>
            <p:nvPr/>
          </p:nvCxnSpPr>
          <p:spPr>
            <a:xfrm>
              <a:off x="3337342" y="1755627"/>
              <a:ext cx="2196519" cy="0"/>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44" name="Straight Arrow Connector 43"/>
            <p:cNvCxnSpPr/>
            <p:nvPr/>
          </p:nvCxnSpPr>
          <p:spPr>
            <a:xfrm>
              <a:off x="3354242" y="2537141"/>
              <a:ext cx="2179618" cy="0"/>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45" name="Straight Arrow Connector 44"/>
            <p:cNvCxnSpPr/>
            <p:nvPr/>
          </p:nvCxnSpPr>
          <p:spPr>
            <a:xfrm flipH="1">
              <a:off x="5645401" y="4196183"/>
              <a:ext cx="1" cy="503829"/>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46" name="Straight Arrow Connector 45"/>
            <p:cNvCxnSpPr/>
            <p:nvPr/>
          </p:nvCxnSpPr>
          <p:spPr>
            <a:xfrm flipH="1">
              <a:off x="7882235" y="4196183"/>
              <a:ext cx="1" cy="503829"/>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47" name="Rectangle 46"/>
            <p:cNvSpPr/>
            <p:nvPr/>
          </p:nvSpPr>
          <p:spPr>
            <a:xfrm>
              <a:off x="3425260" y="948740"/>
              <a:ext cx="1980866" cy="551888"/>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IN" sz="1400" b="1" dirty="0" smtClean="0">
                <a:latin typeface="Times New Roman" panose="02020603050405020304" pitchFamily="18" charset="0"/>
                <a:cs typeface="Times New Roman" panose="02020603050405020304" pitchFamily="18" charset="0"/>
              </a:endParaRPr>
            </a:p>
            <a:p>
              <a:pPr algn="ctr"/>
              <a:r>
                <a:rPr lang="en-IN" sz="1400" b="1" dirty="0" smtClean="0">
                  <a:latin typeface="Times New Roman" panose="02020603050405020304" pitchFamily="18" charset="0"/>
                  <a:cs typeface="Times New Roman" panose="02020603050405020304" pitchFamily="18" charset="0"/>
                </a:rPr>
                <a:t>DATA</a:t>
              </a:r>
              <a:endParaRPr lang="en-IN" sz="1400" b="1" dirty="0">
                <a:latin typeface="Times New Roman" panose="02020603050405020304" pitchFamily="18" charset="0"/>
                <a:cs typeface="Times New Roman" panose="02020603050405020304" pitchFamily="18" charset="0"/>
              </a:endParaRPr>
            </a:p>
            <a:p>
              <a:pPr algn="ctr"/>
              <a:r>
                <a:rPr lang="en-IN" sz="1400" b="1" dirty="0">
                  <a:latin typeface="Times New Roman" panose="02020603050405020304" pitchFamily="18" charset="0"/>
                  <a:cs typeface="Times New Roman" panose="02020603050405020304" pitchFamily="18" charset="0"/>
                </a:rPr>
                <a:t> PREPROCESING </a:t>
              </a:r>
              <a:endParaRPr lang="en-IN" sz="1400" dirty="0">
                <a:latin typeface="Times New Roman" panose="02020603050405020304" pitchFamily="18" charset="0"/>
                <a:cs typeface="Times New Roman" panose="02020603050405020304" pitchFamily="18" charset="0"/>
              </a:endParaRPr>
            </a:p>
            <a:p>
              <a:pPr algn="ctr">
                <a:spcAft>
                  <a:spcPts val="0"/>
                </a:spcAft>
              </a:pPr>
              <a:endParaRPr lang="en-IN" sz="1200" dirty="0">
                <a:latin typeface="Times New Roman" panose="02020603050405020304" pitchFamily="18" charset="0"/>
                <a:ea typeface="Times New Roman" panose="02020603050405020304" pitchFamily="18" charset="0"/>
              </a:endParaRPr>
            </a:p>
          </p:txBody>
        </p:sp>
        <p:sp>
          <p:nvSpPr>
            <p:cNvPr id="48" name="Rectangle 47"/>
            <p:cNvSpPr/>
            <p:nvPr/>
          </p:nvSpPr>
          <p:spPr>
            <a:xfrm>
              <a:off x="3461832" y="1926612"/>
              <a:ext cx="1980866" cy="4143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IN" sz="1400" kern="1200" dirty="0" smtClean="0">
                <a:solidFill>
                  <a:srgbClr val="000000"/>
                </a:solidFill>
                <a:effectLst/>
                <a:latin typeface="Times New Roman" panose="02020603050405020304" pitchFamily="18" charset="0"/>
                <a:ea typeface="Times New Roman" panose="02020603050405020304" pitchFamily="18" charset="0"/>
              </a:endParaRPr>
            </a:p>
            <a:p>
              <a:pPr algn="ctr"/>
              <a:r>
                <a:rPr lang="en-IN" sz="1400" b="1" kern="1200" dirty="0" smtClean="0">
                  <a:solidFill>
                    <a:srgbClr val="000000"/>
                  </a:solidFill>
                  <a:effectLst/>
                  <a:latin typeface="Times New Roman" panose="02020603050405020304" pitchFamily="18" charset="0"/>
                  <a:ea typeface="Times New Roman" panose="02020603050405020304" pitchFamily="18" charset="0"/>
                </a:rPr>
                <a:t>MODEL SELECTION</a:t>
              </a:r>
              <a:endParaRPr lang="en-IN" sz="1200" b="1" dirty="0" smtClean="0">
                <a:effectLst/>
                <a:latin typeface="Times New Roman" panose="02020603050405020304" pitchFamily="18" charset="0"/>
                <a:ea typeface="Times New Roman" panose="02020603050405020304" pitchFamily="18" charset="0"/>
              </a:endParaRPr>
            </a:p>
            <a:p>
              <a:pPr algn="ctr">
                <a:spcAft>
                  <a:spcPts val="0"/>
                </a:spcAft>
              </a:pPr>
              <a:r>
                <a:rPr lang="en-IN" sz="1200" dirty="0">
                  <a:effectLst/>
                  <a:latin typeface="Times New Roman" panose="02020603050405020304" pitchFamily="18" charset="0"/>
                  <a:ea typeface="Times New Roman" panose="02020603050405020304" pitchFamily="18" charset="0"/>
                </a:rPr>
                <a:t> </a:t>
              </a:r>
            </a:p>
          </p:txBody>
        </p:sp>
        <p:sp>
          <p:nvSpPr>
            <p:cNvPr id="49" name="Rectangle 48"/>
            <p:cNvSpPr/>
            <p:nvPr/>
          </p:nvSpPr>
          <p:spPr>
            <a:xfrm>
              <a:off x="3453618" y="2849569"/>
              <a:ext cx="1980866" cy="584969"/>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spcAft>
                  <a:spcPts val="0"/>
                </a:spcAft>
              </a:pPr>
              <a:r>
                <a:rPr lang="en-IN" sz="1400" b="1" kern="1200" dirty="0" smtClean="0">
                  <a:solidFill>
                    <a:srgbClr val="000000"/>
                  </a:solidFill>
                  <a:effectLst/>
                  <a:latin typeface="Times New Roman" panose="02020603050405020304" pitchFamily="18" charset="0"/>
                  <a:ea typeface="Times New Roman" panose="02020603050405020304" pitchFamily="18" charset="0"/>
                </a:rPr>
                <a:t>CLASSIFICATION</a:t>
              </a:r>
              <a:endParaRPr lang="en-IN" sz="1200" b="1" dirty="0">
                <a:effectLst/>
                <a:latin typeface="Times New Roman" panose="02020603050405020304" pitchFamily="18" charset="0"/>
                <a:ea typeface="Times New Roman" panose="02020603050405020304" pitchFamily="18" charset="0"/>
              </a:endParaRPr>
            </a:p>
          </p:txBody>
        </p:sp>
        <p:sp>
          <p:nvSpPr>
            <p:cNvPr id="50" name="Rectangle 49"/>
            <p:cNvSpPr/>
            <p:nvPr/>
          </p:nvSpPr>
          <p:spPr>
            <a:xfrm>
              <a:off x="2297601" y="12362"/>
              <a:ext cx="1913464" cy="673039"/>
            </a:xfrm>
            <a:prstGeom prst="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sz="1400" b="1" dirty="0" smtClean="0">
                <a:latin typeface="Times New Roman" panose="02020603050405020304" pitchFamily="18" charset="0"/>
                <a:cs typeface="Times New Roman" panose="02020603050405020304" pitchFamily="18" charset="0"/>
              </a:endParaRPr>
            </a:p>
            <a:p>
              <a:pPr algn="ctr"/>
              <a:r>
                <a:rPr lang="en-IN" sz="1400" b="1" dirty="0" smtClean="0">
                  <a:latin typeface="Times New Roman" panose="02020603050405020304" pitchFamily="18" charset="0"/>
                  <a:cs typeface="Times New Roman" panose="02020603050405020304" pitchFamily="18" charset="0"/>
                </a:rPr>
                <a:t>DATA </a:t>
              </a:r>
              <a:r>
                <a:rPr lang="en-IN" sz="1400" b="1" dirty="0">
                  <a:latin typeface="Times New Roman" panose="02020603050405020304" pitchFamily="18" charset="0"/>
                  <a:cs typeface="Times New Roman" panose="02020603050405020304" pitchFamily="18" charset="0"/>
                </a:rPr>
                <a:t>SELECTION </a:t>
              </a:r>
              <a:endParaRPr lang="en-IN" sz="1400" dirty="0">
                <a:latin typeface="Times New Roman" panose="02020603050405020304" pitchFamily="18" charset="0"/>
                <a:cs typeface="Times New Roman" panose="02020603050405020304" pitchFamily="18" charset="0"/>
              </a:endParaRPr>
            </a:p>
            <a:p>
              <a:pPr algn="ctr">
                <a:spcAft>
                  <a:spcPts val="0"/>
                </a:spcAft>
              </a:pPr>
              <a:endParaRPr lang="en-IN" sz="1200" dirty="0">
                <a:effectLst/>
                <a:latin typeface="Times New Roman" panose="02020603050405020304" pitchFamily="18" charset="0"/>
                <a:ea typeface="Times New Roman" panose="02020603050405020304" pitchFamily="18" charset="0"/>
              </a:endParaRPr>
            </a:p>
          </p:txBody>
        </p:sp>
        <p:sp>
          <p:nvSpPr>
            <p:cNvPr id="51" name="Rectangle 50"/>
            <p:cNvSpPr/>
            <p:nvPr/>
          </p:nvSpPr>
          <p:spPr>
            <a:xfrm>
              <a:off x="3161093" y="924176"/>
              <a:ext cx="186481" cy="3285665"/>
            </a:xfrm>
            <a:prstGeom prst="rect">
              <a:avLst/>
            </a:prstGeom>
            <a:ln/>
          </p:spPr>
          <p:style>
            <a:lnRef idx="1">
              <a:schemeClr val="dk1"/>
            </a:lnRef>
            <a:fillRef idx="2">
              <a:schemeClr val="dk1"/>
            </a:fillRef>
            <a:effectRef idx="1">
              <a:schemeClr val="dk1"/>
            </a:effectRef>
            <a:fontRef idx="minor">
              <a:schemeClr val="dk1"/>
            </a:fontRef>
          </p:style>
          <p:txBody>
            <a:bodyPr rtlCol="0" anchor="ctr"/>
            <a:lstStyle/>
            <a:p>
              <a:endParaRPr lang="en-IN"/>
            </a:p>
          </p:txBody>
        </p:sp>
        <p:cxnSp>
          <p:nvCxnSpPr>
            <p:cNvPr id="53" name="Straight Arrow Connector 52"/>
            <p:cNvCxnSpPr/>
            <p:nvPr/>
          </p:nvCxnSpPr>
          <p:spPr>
            <a:xfrm>
              <a:off x="703913" y="1416676"/>
              <a:ext cx="2474080" cy="12879"/>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54" name="Straight Arrow Connector 53"/>
            <p:cNvCxnSpPr/>
            <p:nvPr/>
          </p:nvCxnSpPr>
          <p:spPr>
            <a:xfrm>
              <a:off x="703913" y="2555680"/>
              <a:ext cx="2467780" cy="0"/>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56" name="Straight Arrow Connector 55"/>
            <p:cNvCxnSpPr/>
            <p:nvPr/>
          </p:nvCxnSpPr>
          <p:spPr>
            <a:xfrm flipH="1">
              <a:off x="621272" y="4198513"/>
              <a:ext cx="1" cy="503829"/>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57" name="Straight Arrow Connector 56"/>
            <p:cNvCxnSpPr/>
            <p:nvPr/>
          </p:nvCxnSpPr>
          <p:spPr>
            <a:xfrm flipH="1">
              <a:off x="3254333" y="4198512"/>
              <a:ext cx="1" cy="503829"/>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58" name="Rectangle 57"/>
            <p:cNvSpPr/>
            <p:nvPr/>
          </p:nvSpPr>
          <p:spPr>
            <a:xfrm>
              <a:off x="832501" y="846128"/>
              <a:ext cx="2084830" cy="463404"/>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spcAft>
                  <a:spcPts val="0"/>
                </a:spcAft>
              </a:pPr>
              <a:endParaRPr lang="en-IN" sz="1400" kern="1200" dirty="0" smtClean="0">
                <a:solidFill>
                  <a:srgbClr val="000000"/>
                </a:solidFill>
                <a:effectLst/>
                <a:latin typeface="Times New Roman" panose="02020603050405020304" pitchFamily="18" charset="0"/>
                <a:ea typeface="Times New Roman" panose="02020603050405020304" pitchFamily="18" charset="0"/>
              </a:endParaRPr>
            </a:p>
            <a:p>
              <a:pPr algn="ctr">
                <a:spcAft>
                  <a:spcPts val="0"/>
                </a:spcAft>
              </a:pPr>
              <a:r>
                <a:rPr lang="en-IN" sz="1600" b="1" kern="1200" dirty="0" smtClean="0">
                  <a:solidFill>
                    <a:srgbClr val="000000"/>
                  </a:solidFill>
                  <a:effectLst/>
                  <a:latin typeface="Times New Roman" panose="02020603050405020304" pitchFamily="18" charset="0"/>
                  <a:ea typeface="Times New Roman" panose="02020603050405020304" pitchFamily="18" charset="0"/>
                </a:rPr>
                <a:t>SELECT DATASET</a:t>
              </a:r>
              <a:endParaRPr lang="en-IN" sz="1600" b="1" dirty="0" smtClean="0">
                <a:effectLst/>
                <a:latin typeface="Times New Roman" panose="02020603050405020304" pitchFamily="18" charset="0"/>
                <a:ea typeface="Times New Roman" panose="02020603050405020304" pitchFamily="18" charset="0"/>
              </a:endParaRPr>
            </a:p>
            <a:p>
              <a:pPr algn="ctr">
                <a:spcAft>
                  <a:spcPts val="0"/>
                </a:spcAft>
              </a:pPr>
              <a:r>
                <a:rPr lang="en-IN" sz="1400" kern="1200" dirty="0">
                  <a:solidFill>
                    <a:srgbClr val="000000"/>
                  </a:solidFill>
                  <a:effectLst/>
                  <a:latin typeface="Times New Roman" panose="02020603050405020304" pitchFamily="18" charset="0"/>
                  <a:ea typeface="Times New Roman" panose="02020603050405020304" pitchFamily="18" charset="0"/>
                </a:rPr>
                <a:t> </a:t>
              </a:r>
              <a:endParaRPr lang="en-IN" sz="1200" dirty="0">
                <a:effectLst/>
                <a:latin typeface="Times New Roman" panose="02020603050405020304" pitchFamily="18" charset="0"/>
                <a:ea typeface="Times New Roman" panose="02020603050405020304" pitchFamily="18" charset="0"/>
              </a:endParaRPr>
            </a:p>
          </p:txBody>
        </p:sp>
        <p:sp>
          <p:nvSpPr>
            <p:cNvPr id="59" name="Rectangle 58"/>
            <p:cNvSpPr/>
            <p:nvPr/>
          </p:nvSpPr>
          <p:spPr>
            <a:xfrm>
              <a:off x="832501" y="1780622"/>
              <a:ext cx="2232671" cy="627727"/>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spcAft>
                  <a:spcPts val="0"/>
                </a:spcAft>
              </a:pPr>
              <a:r>
                <a:rPr lang="en-IN" sz="1600" b="1" kern="1200" dirty="0" smtClean="0">
                  <a:solidFill>
                    <a:srgbClr val="000000"/>
                  </a:solidFill>
                  <a:effectLst/>
                  <a:latin typeface="Times New Roman" panose="02020603050405020304" pitchFamily="18" charset="0"/>
                  <a:ea typeface="Times New Roman" panose="02020603050405020304" pitchFamily="18" charset="0"/>
                </a:rPr>
                <a:t> LOAD DATASET</a:t>
              </a:r>
              <a:endParaRPr lang="en-IN" sz="1600" b="1" dirty="0">
                <a:effectLst/>
                <a:latin typeface="Times New Roman" panose="02020603050405020304" pitchFamily="18" charset="0"/>
                <a:ea typeface="Times New Roman" panose="02020603050405020304" pitchFamily="18" charset="0"/>
              </a:endParaRPr>
            </a:p>
          </p:txBody>
        </p:sp>
        <p:sp>
          <p:nvSpPr>
            <p:cNvPr id="60" name="Rectangle 59"/>
            <p:cNvSpPr/>
            <p:nvPr/>
          </p:nvSpPr>
          <p:spPr>
            <a:xfrm>
              <a:off x="-262677" y="0"/>
              <a:ext cx="1654866" cy="698799"/>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spcAft>
                  <a:spcPts val="0"/>
                </a:spcAft>
              </a:pPr>
              <a:r>
                <a:rPr lang="en-IN" sz="1600" b="1" kern="1200" dirty="0" smtClean="0">
                  <a:solidFill>
                    <a:srgbClr val="000000"/>
                  </a:solidFill>
                  <a:effectLst/>
                  <a:latin typeface="Times New Roman" panose="02020603050405020304" pitchFamily="18" charset="0"/>
                  <a:ea typeface="Times New Roman" panose="02020603050405020304" pitchFamily="18" charset="0"/>
                </a:rPr>
                <a:t>START</a:t>
              </a:r>
              <a:endParaRPr lang="en-IN" sz="1600" b="1" dirty="0">
                <a:effectLst/>
                <a:latin typeface="Times New Roman" panose="02020603050405020304" pitchFamily="18" charset="0"/>
                <a:ea typeface="Times New Roman" panose="02020603050405020304" pitchFamily="18" charset="0"/>
              </a:endParaRPr>
            </a:p>
          </p:txBody>
        </p:sp>
        <p:sp>
          <p:nvSpPr>
            <p:cNvPr id="61" name="Rectangle 60"/>
            <p:cNvSpPr/>
            <p:nvPr/>
          </p:nvSpPr>
          <p:spPr>
            <a:xfrm>
              <a:off x="538632" y="924176"/>
              <a:ext cx="165281" cy="3285666"/>
            </a:xfrm>
            <a:prstGeom prst="rect">
              <a:avLst/>
            </a:prstGeom>
            <a:ln/>
          </p:spPr>
          <p:style>
            <a:lnRef idx="1">
              <a:schemeClr val="dk1"/>
            </a:lnRef>
            <a:fillRef idx="2">
              <a:schemeClr val="dk1"/>
            </a:fillRef>
            <a:effectRef idx="1">
              <a:schemeClr val="dk1"/>
            </a:effectRef>
            <a:fontRef idx="minor">
              <a:schemeClr val="dk1"/>
            </a:fontRef>
          </p:style>
          <p:txBody>
            <a:bodyPr rtlCol="0" anchor="ctr"/>
            <a:lstStyle/>
            <a:p>
              <a:endParaRPr lang="en-IN"/>
            </a:p>
          </p:txBody>
        </p:sp>
        <p:cxnSp>
          <p:nvCxnSpPr>
            <p:cNvPr id="62" name="Straight Connector 61"/>
            <p:cNvCxnSpPr/>
            <p:nvPr/>
          </p:nvCxnSpPr>
          <p:spPr>
            <a:xfrm>
              <a:off x="621272" y="710127"/>
              <a:ext cx="1" cy="214049"/>
            </a:xfrm>
            <a:prstGeom prst="line">
              <a:avLst/>
            </a:prstGeom>
            <a:ln/>
          </p:spPr>
          <p:style>
            <a:lnRef idx="2">
              <a:schemeClr val="dk1"/>
            </a:lnRef>
            <a:fillRef idx="1">
              <a:schemeClr val="lt1"/>
            </a:fillRef>
            <a:effectRef idx="0">
              <a:schemeClr val="dk1"/>
            </a:effectRef>
            <a:fontRef idx="minor">
              <a:schemeClr val="dk1"/>
            </a:fontRef>
          </p:style>
        </p:cxnSp>
      </p:grpSp>
      <p:sp>
        <p:nvSpPr>
          <p:cNvPr id="35" name="Rectangle 34"/>
          <p:cNvSpPr/>
          <p:nvPr/>
        </p:nvSpPr>
        <p:spPr>
          <a:xfrm>
            <a:off x="7871472" y="3819674"/>
            <a:ext cx="1509979" cy="866735"/>
          </a:xfrm>
          <a:prstGeom prst="rect">
            <a:avLst/>
          </a:prstGeom>
          <a:ln/>
        </p:spPr>
        <p:style>
          <a:lnRef idx="1">
            <a:schemeClr val="accent2"/>
          </a:lnRef>
          <a:fillRef idx="2">
            <a:schemeClr val="accent2"/>
          </a:fillRef>
          <a:effectRef idx="1">
            <a:schemeClr val="accent2"/>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IN" sz="1400" b="1" dirty="0">
                <a:latin typeface="Times New Roman" panose="02020603050405020304" pitchFamily="18" charset="0"/>
                <a:cs typeface="Times New Roman" panose="02020603050405020304" pitchFamily="18" charset="0"/>
              </a:rPr>
              <a:t>PERFORMANCE ANALYSIS </a:t>
            </a:r>
            <a:endParaRPr lang="en-IN" sz="1400" dirty="0">
              <a:latin typeface="Times New Roman" panose="02020603050405020304" pitchFamily="18" charset="0"/>
              <a:cs typeface="Times New Roman" panose="02020603050405020304" pitchFamily="18" charset="0"/>
            </a:endParaRPr>
          </a:p>
        </p:txBody>
      </p:sp>
      <p:cxnSp>
        <p:nvCxnSpPr>
          <p:cNvPr id="36" name="Straight Arrow Connector 35"/>
          <p:cNvCxnSpPr/>
          <p:nvPr/>
        </p:nvCxnSpPr>
        <p:spPr>
          <a:xfrm>
            <a:off x="7587139" y="4213948"/>
            <a:ext cx="24763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 name="Straight Arrow Connector 32"/>
          <p:cNvCxnSpPr/>
          <p:nvPr/>
        </p:nvCxnSpPr>
        <p:spPr>
          <a:xfrm>
            <a:off x="9413839" y="4296323"/>
            <a:ext cx="190487"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 name="Rectangle 44"/>
          <p:cNvSpPr>
            <a:spLocks noChangeArrowheads="1"/>
          </p:cNvSpPr>
          <p:nvPr/>
        </p:nvSpPr>
        <p:spPr bwMode="auto">
          <a:xfrm>
            <a:off x="0" y="4572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63" name="Rectangle 62"/>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3" name="Rectangle 12"/>
          <p:cNvSpPr/>
          <p:nvPr/>
        </p:nvSpPr>
        <p:spPr>
          <a:xfrm>
            <a:off x="553350" y="465770"/>
            <a:ext cx="6096000" cy="646331"/>
          </a:xfrm>
          <a:prstGeom prst="rect">
            <a:avLst/>
          </a:prstGeom>
        </p:spPr>
        <p:txBody>
          <a:bodyPr>
            <a:spAutoFit/>
          </a:bodyPr>
          <a:lstStyle/>
          <a:p>
            <a:r>
              <a:rPr lang="en-IN" sz="3600" b="1" dirty="0">
                <a:latin typeface="Times New Roman" panose="02020603050405020304" pitchFamily="18" charset="0"/>
                <a:cs typeface="Times New Roman" panose="02020603050405020304" pitchFamily="18" charset="0"/>
              </a:rPr>
              <a:t>SEQUENCE DIAGRAM</a:t>
            </a:r>
            <a:endParaRPr lang="en-IN" sz="3600" dirty="0">
              <a:latin typeface="Times New Roman" panose="02020603050405020304" pitchFamily="18" charset="0"/>
              <a:cs typeface="Times New Roman" panose="02020603050405020304" pitchFamily="18" charset="0"/>
            </a:endParaRPr>
          </a:p>
        </p:txBody>
      </p:sp>
      <p:sp>
        <p:nvSpPr>
          <p:cNvPr id="17" name="Rectangle 16"/>
          <p:cNvSpPr/>
          <p:nvPr/>
        </p:nvSpPr>
        <p:spPr>
          <a:xfrm>
            <a:off x="6757392" y="1813425"/>
            <a:ext cx="1883656" cy="338554"/>
          </a:xfrm>
          <a:prstGeom prst="rect">
            <a:avLst/>
          </a:prstGeom>
        </p:spPr>
        <p:txBody>
          <a:bodyPr wrap="none">
            <a:spAutoFit/>
          </a:bodyPr>
          <a:lstStyle/>
          <a:p>
            <a:pPr algn="ctr"/>
            <a:r>
              <a:rPr lang="en-IN" sz="1600" b="1" dirty="0">
                <a:latin typeface="Times New Roman" panose="02020603050405020304" pitchFamily="18" charset="0"/>
                <a:cs typeface="Times New Roman" panose="02020603050405020304" pitchFamily="18" charset="0"/>
              </a:rPr>
              <a:t>DATA SPLIITING </a:t>
            </a:r>
            <a:endParaRPr lang="en-IN" sz="1600" dirty="0">
              <a:latin typeface="Times New Roman" panose="02020603050405020304" pitchFamily="18" charset="0"/>
              <a:cs typeface="Times New Roman" panose="02020603050405020304" pitchFamily="18" charset="0"/>
            </a:endParaRPr>
          </a:p>
        </p:txBody>
      </p:sp>
      <p:cxnSp>
        <p:nvCxnSpPr>
          <p:cNvPr id="21" name="Straight Connector 20"/>
          <p:cNvCxnSpPr>
            <a:stCxn id="50" idx="2"/>
            <a:endCxn id="51" idx="0"/>
          </p:cNvCxnSpPr>
          <p:nvPr/>
        </p:nvCxnSpPr>
        <p:spPr>
          <a:xfrm>
            <a:off x="5120837" y="2287711"/>
            <a:ext cx="1" cy="245119"/>
          </a:xfrm>
          <a:prstGeom prst="line">
            <a:avLst/>
          </a:prstGeom>
        </p:spPr>
        <p:style>
          <a:lnRef idx="1">
            <a:schemeClr val="dk1"/>
          </a:lnRef>
          <a:fillRef idx="0">
            <a:schemeClr val="dk1"/>
          </a:fillRef>
          <a:effectRef idx="0">
            <a:schemeClr val="dk1"/>
          </a:effectRef>
          <a:fontRef idx="minor">
            <a:schemeClr val="tx1"/>
          </a:fontRef>
        </p:style>
      </p:cxnSp>
      <p:cxnSp>
        <p:nvCxnSpPr>
          <p:cNvPr id="67" name="Straight Arrow Connector 66"/>
          <p:cNvCxnSpPr/>
          <p:nvPr/>
        </p:nvCxnSpPr>
        <p:spPr>
          <a:xfrm>
            <a:off x="5218807" y="5434885"/>
            <a:ext cx="2137303" cy="128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40685481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anose="02020603050405020304" pitchFamily="18" charset="0"/>
                <a:cs typeface="Times New Roman" panose="02020603050405020304" pitchFamily="18" charset="0"/>
              </a:rPr>
              <a:t>SYSTEM REQUIREMENT </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lnSpc>
                <a:spcPct val="200000"/>
              </a:lnSpc>
            </a:pPr>
            <a:r>
              <a:rPr lang="en-IN" sz="2000" b="1" u="sng" dirty="0" smtClean="0">
                <a:latin typeface="Times New Roman" panose="02020603050405020304" pitchFamily="18" charset="0"/>
                <a:cs typeface="Times New Roman" panose="02020603050405020304" pitchFamily="18" charset="0"/>
              </a:rPr>
              <a:t>SOFTWARE REQUIREMENTS</a:t>
            </a:r>
            <a:endParaRPr lang="en-IN" sz="1800" u="sng" dirty="0" smtClean="0">
              <a:latin typeface="Times New Roman" panose="02020603050405020304" pitchFamily="18" charset="0"/>
              <a:cs typeface="Times New Roman" panose="02020603050405020304" pitchFamily="18" charset="0"/>
            </a:endParaRPr>
          </a:p>
          <a:p>
            <a:pPr lvl="0" algn="just">
              <a:lnSpc>
                <a:spcPct val="200000"/>
              </a:lnSpc>
            </a:pPr>
            <a:r>
              <a:rPr lang="en-IN" sz="1800" dirty="0">
                <a:latin typeface="Times New Roman" panose="02020603050405020304" pitchFamily="18" charset="0"/>
                <a:cs typeface="Times New Roman" panose="02020603050405020304" pitchFamily="18" charset="0"/>
              </a:rPr>
              <a:t>•	O/S                  	 :  </a:t>
            </a:r>
            <a:r>
              <a:rPr lang="en-IN" sz="1800" dirty="0" smtClean="0">
                <a:latin typeface="Times New Roman" panose="02020603050405020304" pitchFamily="18" charset="0"/>
                <a:cs typeface="Times New Roman" panose="02020603050405020304" pitchFamily="18" charset="0"/>
              </a:rPr>
              <a:t>Windows 10</a:t>
            </a:r>
            <a:endParaRPr lang="en-IN" sz="1800" dirty="0">
              <a:latin typeface="Times New Roman" panose="02020603050405020304" pitchFamily="18" charset="0"/>
              <a:cs typeface="Times New Roman" panose="02020603050405020304" pitchFamily="18" charset="0"/>
            </a:endParaRPr>
          </a:p>
          <a:p>
            <a:pPr lvl="0" algn="just">
              <a:lnSpc>
                <a:spcPct val="200000"/>
              </a:lnSpc>
            </a:pPr>
            <a:r>
              <a:rPr lang="en-IN" sz="1800" dirty="0">
                <a:latin typeface="Times New Roman" panose="02020603050405020304" pitchFamily="18" charset="0"/>
                <a:cs typeface="Times New Roman" panose="02020603050405020304" pitchFamily="18" charset="0"/>
              </a:rPr>
              <a:t>•	Language	      	 :  Python</a:t>
            </a:r>
          </a:p>
          <a:p>
            <a:pPr lvl="0" algn="just">
              <a:lnSpc>
                <a:spcPct val="200000"/>
              </a:lnSpc>
            </a:pPr>
            <a:r>
              <a:rPr lang="en-IN" sz="1800" dirty="0">
                <a:latin typeface="Times New Roman" panose="02020603050405020304" pitchFamily="18" charset="0"/>
                <a:cs typeface="Times New Roman" panose="02020603050405020304" pitchFamily="18" charset="0"/>
              </a:rPr>
              <a:t>•	Front End                : </a:t>
            </a:r>
            <a:r>
              <a:rPr lang="en-IN" sz="1800" dirty="0" err="1" smtClean="0">
                <a:latin typeface="Times New Roman" panose="02020603050405020304" pitchFamily="18" charset="0"/>
                <a:cs typeface="Times New Roman" panose="02020603050405020304" pitchFamily="18" charset="0"/>
              </a:rPr>
              <a:t>Spyder</a:t>
            </a:r>
            <a:r>
              <a:rPr lang="en-IN" sz="1800" dirty="0" smtClean="0">
                <a:latin typeface="Times New Roman" panose="02020603050405020304" pitchFamily="18" charset="0"/>
                <a:cs typeface="Times New Roman" panose="02020603050405020304" pitchFamily="18" charset="0"/>
              </a:rPr>
              <a:t> </a:t>
            </a:r>
            <a:endParaRPr lang="en-IN" sz="1800" dirty="0">
              <a:latin typeface="Times New Roman" panose="02020603050405020304" pitchFamily="18" charset="0"/>
              <a:cs typeface="Times New Roman" panose="02020603050405020304" pitchFamily="18" charset="0"/>
            </a:endParaRPr>
          </a:p>
          <a:p>
            <a:pPr algn="just">
              <a:lnSpc>
                <a:spcPct val="200000"/>
              </a:lnSpc>
            </a:pPr>
            <a:endParaRPr lang="en-IN" sz="1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18209432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smtClean="0">
                <a:latin typeface="Times New Roman" panose="02020603050405020304" pitchFamily="18" charset="0"/>
                <a:cs typeface="Times New Roman" panose="02020603050405020304" pitchFamily="18" charset="0"/>
              </a:rPr>
              <a:t>MODULES</a:t>
            </a:r>
            <a:endParaRPr lang="en-IN"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1463" y="1690688"/>
            <a:ext cx="11658600" cy="4938712"/>
          </a:xfrm>
        </p:spPr>
        <p:txBody>
          <a:bodyPr>
            <a:normAutofit/>
          </a:bodyPr>
          <a:lstStyle/>
          <a:p>
            <a:pPr marL="0" indent="0" algn="just">
              <a:lnSpc>
                <a:spcPct val="150000"/>
              </a:lnSpc>
              <a:buNone/>
            </a:pPr>
            <a:endParaRPr lang="en-IN" sz="1800" dirty="0" smtClean="0">
              <a:latin typeface="Times New Roman" panose="02020603050405020304" pitchFamily="18" charset="0"/>
              <a:cs typeface="Times New Roman" panose="02020603050405020304" pitchFamily="18" charset="0"/>
            </a:endParaRPr>
          </a:p>
          <a:p>
            <a:pPr lvl="0" algn="just">
              <a:lnSpc>
                <a:spcPct val="150000"/>
              </a:lnSpc>
              <a:buFont typeface="Wingdings" panose="05000000000000000000" pitchFamily="2" charset="2"/>
              <a:buChar char="q"/>
            </a:pPr>
            <a:r>
              <a:rPr lang="en-US" sz="1800" dirty="0" smtClean="0">
                <a:latin typeface="Times New Roman" panose="02020603050405020304" pitchFamily="18" charset="0"/>
                <a:cs typeface="Times New Roman" panose="02020603050405020304" pitchFamily="18" charset="0"/>
              </a:rPr>
              <a:t>Image selection and loading</a:t>
            </a:r>
            <a:endParaRPr lang="en-IN" sz="1800" dirty="0" smtClean="0">
              <a:latin typeface="Times New Roman" panose="02020603050405020304" pitchFamily="18" charset="0"/>
              <a:cs typeface="Times New Roman" panose="02020603050405020304" pitchFamily="18" charset="0"/>
            </a:endParaRPr>
          </a:p>
          <a:p>
            <a:pPr lvl="0" algn="just">
              <a:lnSpc>
                <a:spcPct val="150000"/>
              </a:lnSpc>
              <a:buFont typeface="Wingdings" panose="05000000000000000000" pitchFamily="2" charset="2"/>
              <a:buChar char="q"/>
            </a:pPr>
            <a:r>
              <a:rPr lang="en-US" sz="1800" dirty="0" smtClean="0">
                <a:latin typeface="Times New Roman" panose="02020603050405020304" pitchFamily="18" charset="0"/>
                <a:cs typeface="Times New Roman" panose="02020603050405020304" pitchFamily="18" charset="0"/>
              </a:rPr>
              <a:t>Image preprocessing</a:t>
            </a:r>
            <a:endParaRPr lang="en-IN" sz="1800" dirty="0" smtClean="0">
              <a:latin typeface="Times New Roman" panose="02020603050405020304" pitchFamily="18" charset="0"/>
              <a:cs typeface="Times New Roman" panose="02020603050405020304" pitchFamily="18" charset="0"/>
            </a:endParaRPr>
          </a:p>
          <a:p>
            <a:pPr lvl="0" algn="just">
              <a:lnSpc>
                <a:spcPct val="150000"/>
              </a:lnSpc>
              <a:buFont typeface="Wingdings" panose="05000000000000000000" pitchFamily="2" charset="2"/>
              <a:buChar char="q"/>
            </a:pPr>
            <a:r>
              <a:rPr lang="en-US" sz="1800" dirty="0" smtClean="0">
                <a:latin typeface="Times New Roman" panose="02020603050405020304" pitchFamily="18" charset="0"/>
                <a:cs typeface="Times New Roman" panose="02020603050405020304" pitchFamily="18" charset="0"/>
              </a:rPr>
              <a:t>Splitting dataset into train and test data</a:t>
            </a:r>
            <a:endParaRPr lang="en-IN" sz="1800" dirty="0" smtClean="0">
              <a:latin typeface="Times New Roman" panose="02020603050405020304" pitchFamily="18" charset="0"/>
              <a:cs typeface="Times New Roman" panose="02020603050405020304" pitchFamily="18" charset="0"/>
            </a:endParaRPr>
          </a:p>
          <a:p>
            <a:pPr lvl="0" algn="just">
              <a:lnSpc>
                <a:spcPct val="150000"/>
              </a:lnSpc>
              <a:buFont typeface="Wingdings" panose="05000000000000000000" pitchFamily="2" charset="2"/>
              <a:buChar char="q"/>
            </a:pPr>
            <a:r>
              <a:rPr lang="en-IN" sz="1800" dirty="0" smtClean="0">
                <a:latin typeface="Times New Roman" panose="02020603050405020304" pitchFamily="18" charset="0"/>
                <a:cs typeface="Times New Roman" panose="02020603050405020304" pitchFamily="18" charset="0"/>
              </a:rPr>
              <a:t>Classification</a:t>
            </a:r>
          </a:p>
          <a:p>
            <a:pPr lvl="0" algn="just">
              <a:lnSpc>
                <a:spcPct val="150000"/>
              </a:lnSpc>
              <a:buFont typeface="Wingdings" panose="05000000000000000000" pitchFamily="2" charset="2"/>
              <a:buChar char="q"/>
            </a:pPr>
            <a:r>
              <a:rPr lang="en-IN" sz="1800" dirty="0" smtClean="0">
                <a:latin typeface="Times New Roman" panose="02020603050405020304" pitchFamily="18" charset="0"/>
                <a:cs typeface="Times New Roman" panose="02020603050405020304" pitchFamily="18" charset="0"/>
              </a:rPr>
              <a:t>Prediction</a:t>
            </a:r>
          </a:p>
          <a:p>
            <a:pPr lvl="0" algn="just">
              <a:lnSpc>
                <a:spcPct val="150000"/>
              </a:lnSpc>
              <a:buFont typeface="Wingdings" panose="05000000000000000000" pitchFamily="2" charset="2"/>
              <a:buChar char="q"/>
            </a:pPr>
            <a:r>
              <a:rPr lang="en-IN" sz="1800" dirty="0" smtClean="0">
                <a:latin typeface="Times New Roman" panose="02020603050405020304" pitchFamily="18" charset="0"/>
                <a:cs typeface="Times New Roman" panose="02020603050405020304" pitchFamily="18" charset="0"/>
              </a:rPr>
              <a:t>Result generation</a:t>
            </a:r>
            <a:endParaRPr lang="en-IN" sz="1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57420655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3600" b="1" dirty="0" smtClean="0">
                <a:latin typeface="Times New Roman" panose="02020603050405020304" pitchFamily="18" charset="0"/>
                <a:cs typeface="Times New Roman" panose="02020603050405020304" pitchFamily="18" charset="0"/>
              </a:rPr>
              <a:t>IMAGE SELECTION </a:t>
            </a:r>
            <a:r>
              <a:rPr lang="en-US" sz="3600" b="1" dirty="0">
                <a:latin typeface="Times New Roman" panose="02020603050405020304" pitchFamily="18" charset="0"/>
                <a:cs typeface="Times New Roman" panose="02020603050405020304" pitchFamily="18" charset="0"/>
              </a:rPr>
              <a:t>AND LOADING</a:t>
            </a:r>
            <a:r>
              <a:rPr lang="en-IN" sz="3600" dirty="0">
                <a:latin typeface="Times New Roman" panose="02020603050405020304" pitchFamily="18" charset="0"/>
                <a:cs typeface="Times New Roman" panose="02020603050405020304" pitchFamily="18" charset="0"/>
              </a:rPr>
              <a:t/>
            </a:r>
            <a:br>
              <a:rPr lang="en-IN" sz="3600" dirty="0">
                <a:latin typeface="Times New Roman" panose="02020603050405020304" pitchFamily="18" charset="0"/>
                <a:cs typeface="Times New Roman" panose="02020603050405020304" pitchFamily="18" charset="0"/>
              </a:rPr>
            </a:b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lnSpc>
                <a:spcPct val="150000"/>
              </a:lnSpc>
              <a:buFont typeface="Wingdings" pitchFamily="2" charset="2"/>
              <a:buChar char="Ø"/>
            </a:pPr>
            <a:r>
              <a:rPr lang="en-US" sz="1800" dirty="0">
                <a:latin typeface="Times New Roman" pitchFamily="18" charset="0"/>
                <a:cs typeface="Times New Roman" pitchFamily="18" charset="0"/>
              </a:rPr>
              <a:t> The data selection is the process of selecting the data for detecting the attacks.</a:t>
            </a:r>
          </a:p>
          <a:p>
            <a:pPr algn="just">
              <a:lnSpc>
                <a:spcPct val="150000"/>
              </a:lnSpc>
              <a:buFont typeface="Wingdings" pitchFamily="2" charset="2"/>
              <a:buChar char="Ø"/>
            </a:pPr>
            <a:r>
              <a:rPr lang="en-US" sz="1800" dirty="0">
                <a:latin typeface="Times New Roman" pitchFamily="18" charset="0"/>
                <a:cs typeface="Times New Roman" pitchFamily="18" charset="0"/>
              </a:rPr>
              <a:t> In this project, the </a:t>
            </a:r>
            <a:r>
              <a:rPr lang="en-US" sz="1800" dirty="0" smtClean="0">
                <a:latin typeface="Times New Roman" pitchFamily="18" charset="0"/>
                <a:cs typeface="Times New Roman" pitchFamily="18" charset="0"/>
              </a:rPr>
              <a:t>Medicinal plant image </a:t>
            </a:r>
            <a:r>
              <a:rPr lang="en-US" sz="1800" dirty="0">
                <a:latin typeface="Times New Roman" pitchFamily="18" charset="0"/>
                <a:cs typeface="Times New Roman" pitchFamily="18" charset="0"/>
              </a:rPr>
              <a:t>dataset is used for detecting disease. </a:t>
            </a:r>
          </a:p>
          <a:p>
            <a:pPr marL="0" indent="0" algn="just">
              <a:lnSpc>
                <a:spcPct val="150000"/>
              </a:lnSpc>
              <a:buNone/>
            </a:pPr>
            <a:endParaRPr lang="en-US" sz="1800" dirty="0" smtClean="0">
              <a:latin typeface="Times New Roman" pitchFamily="18" charset="0"/>
              <a:cs typeface="Times New Roman" pitchFamily="18" charset="0"/>
            </a:endParaRPr>
          </a:p>
          <a:p>
            <a:pPr marL="0" indent="0" algn="just">
              <a:lnSpc>
                <a:spcPct val="150000"/>
              </a:lnSpc>
              <a:buNone/>
            </a:pPr>
            <a:endParaRPr lang="en-US" sz="1800" dirty="0" smtClean="0">
              <a:latin typeface="Times New Roman" pitchFamily="18" charset="0"/>
              <a:cs typeface="Times New Roman" pitchFamily="18" charset="0"/>
            </a:endParaRPr>
          </a:p>
          <a:p>
            <a:pPr marL="0" indent="0" algn="just">
              <a:lnSpc>
                <a:spcPct val="150000"/>
              </a:lnSpc>
              <a:buNone/>
            </a:pPr>
            <a:endParaRPr lang="en-US" sz="1800" dirty="0" smtClean="0">
              <a:latin typeface="Times New Roman" pitchFamily="18" charset="0"/>
              <a:cs typeface="Times New Roman"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grpSp>
        <p:nvGrpSpPr>
          <p:cNvPr id="6" name="Group 5"/>
          <p:cNvGrpSpPr/>
          <p:nvPr/>
        </p:nvGrpSpPr>
        <p:grpSpPr>
          <a:xfrm>
            <a:off x="1223494" y="3474782"/>
            <a:ext cx="9285666" cy="2057536"/>
            <a:chOff x="2083093" y="3834420"/>
            <a:chExt cx="8192199" cy="2022453"/>
          </a:xfrm>
        </p:grpSpPr>
        <p:sp>
          <p:nvSpPr>
            <p:cNvPr id="33" name="Flowchart: Magnetic Disk 32"/>
            <p:cNvSpPr/>
            <p:nvPr/>
          </p:nvSpPr>
          <p:spPr>
            <a:xfrm>
              <a:off x="8766975" y="3946354"/>
              <a:ext cx="1455817" cy="1232422"/>
            </a:xfrm>
            <a:prstGeom prst="flowChartMagneticDisk">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34" name="Rectangle 33"/>
            <p:cNvSpPr/>
            <p:nvPr/>
          </p:nvSpPr>
          <p:spPr>
            <a:xfrm>
              <a:off x="8744190" y="4237485"/>
              <a:ext cx="1531102" cy="830997"/>
            </a:xfrm>
            <a:prstGeom prst="rect">
              <a:avLst/>
            </a:prstGeom>
          </p:spPr>
          <p:txBody>
            <a:bodyPr wrap="square">
              <a:spAutoFit/>
            </a:bodyPr>
            <a:lstStyle/>
            <a:p>
              <a:pPr algn="ctr"/>
              <a:endParaRPr lang="en-IN" sz="1600" b="1" dirty="0" smtClean="0">
                <a:latin typeface="Times New Roman" panose="02020603050405020304" pitchFamily="18" charset="0"/>
                <a:cs typeface="Times New Roman" panose="02020603050405020304" pitchFamily="18" charset="0"/>
              </a:endParaRPr>
            </a:p>
            <a:p>
              <a:pPr algn="ctr"/>
              <a:r>
                <a:rPr lang="en-IN" sz="1600" b="1" dirty="0" smtClean="0">
                  <a:latin typeface="Times New Roman" panose="02020603050405020304" pitchFamily="18" charset="0"/>
                  <a:cs typeface="Times New Roman" panose="02020603050405020304" pitchFamily="18" charset="0"/>
                </a:rPr>
                <a:t>Image selection </a:t>
              </a:r>
              <a:endParaRPr lang="en-IN" sz="1600" dirty="0" smtClean="0">
                <a:latin typeface="Times New Roman" panose="02020603050405020304" pitchFamily="18" charset="0"/>
                <a:cs typeface="Times New Roman" panose="02020603050405020304" pitchFamily="18" charset="0"/>
              </a:endParaRPr>
            </a:p>
            <a:p>
              <a:endParaRPr lang="en-IN" sz="1600" dirty="0"/>
            </a:p>
          </p:txBody>
        </p:sp>
        <p:sp>
          <p:nvSpPr>
            <p:cNvPr id="35" name="Oval 34"/>
            <p:cNvSpPr/>
            <p:nvPr/>
          </p:nvSpPr>
          <p:spPr>
            <a:xfrm>
              <a:off x="3639151" y="3834420"/>
              <a:ext cx="823174" cy="537917"/>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36" name="Straight Connector 35"/>
            <p:cNvCxnSpPr>
              <a:stCxn id="35" idx="4"/>
            </p:cNvCxnSpPr>
            <p:nvPr/>
          </p:nvCxnSpPr>
          <p:spPr>
            <a:xfrm>
              <a:off x="4050738" y="4372337"/>
              <a:ext cx="0" cy="806439"/>
            </a:xfrm>
            <a:prstGeom prst="line">
              <a:avLst/>
            </a:prstGeom>
            <a:ln w="38100"/>
          </p:spPr>
          <p:style>
            <a:lnRef idx="1">
              <a:schemeClr val="dk1"/>
            </a:lnRef>
            <a:fillRef idx="0">
              <a:schemeClr val="dk1"/>
            </a:fillRef>
            <a:effectRef idx="0">
              <a:schemeClr val="dk1"/>
            </a:effectRef>
            <a:fontRef idx="minor">
              <a:schemeClr val="tx1"/>
            </a:fontRef>
          </p:style>
        </p:cxnSp>
        <p:cxnSp>
          <p:nvCxnSpPr>
            <p:cNvPr id="37" name="Straight Connector 36"/>
            <p:cNvCxnSpPr/>
            <p:nvPr/>
          </p:nvCxnSpPr>
          <p:spPr>
            <a:xfrm>
              <a:off x="3639151" y="4640105"/>
              <a:ext cx="823174"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38" name="Straight Connector 37"/>
            <p:cNvCxnSpPr/>
            <p:nvPr/>
          </p:nvCxnSpPr>
          <p:spPr>
            <a:xfrm flipH="1">
              <a:off x="3768477" y="4652984"/>
              <a:ext cx="282801" cy="324968"/>
            </a:xfrm>
            <a:prstGeom prst="line">
              <a:avLst/>
            </a:prstGeom>
            <a:ln w="38100"/>
          </p:spPr>
          <p:style>
            <a:lnRef idx="1">
              <a:schemeClr val="dk1"/>
            </a:lnRef>
            <a:fillRef idx="0">
              <a:schemeClr val="dk1"/>
            </a:fillRef>
            <a:effectRef idx="0">
              <a:schemeClr val="dk1"/>
            </a:effectRef>
            <a:fontRef idx="minor">
              <a:schemeClr val="tx1"/>
            </a:fontRef>
          </p:style>
        </p:cxnSp>
        <p:cxnSp>
          <p:nvCxnSpPr>
            <p:cNvPr id="39" name="Straight Connector 38"/>
            <p:cNvCxnSpPr/>
            <p:nvPr/>
          </p:nvCxnSpPr>
          <p:spPr>
            <a:xfrm>
              <a:off x="4064154" y="4640105"/>
              <a:ext cx="269385" cy="337847"/>
            </a:xfrm>
            <a:prstGeom prst="line">
              <a:avLst/>
            </a:prstGeom>
            <a:ln w="38100"/>
          </p:spPr>
          <p:style>
            <a:lnRef idx="1">
              <a:schemeClr val="dk1"/>
            </a:lnRef>
            <a:fillRef idx="0">
              <a:schemeClr val="dk1"/>
            </a:fillRef>
            <a:effectRef idx="0">
              <a:schemeClr val="dk1"/>
            </a:effectRef>
            <a:fontRef idx="minor">
              <a:schemeClr val="tx1"/>
            </a:fontRef>
          </p:style>
        </p:cxnSp>
        <p:sp>
          <p:nvSpPr>
            <p:cNvPr id="40" name="Rectangle 39"/>
            <p:cNvSpPr/>
            <p:nvPr/>
          </p:nvSpPr>
          <p:spPr>
            <a:xfrm>
              <a:off x="2083093" y="4276859"/>
              <a:ext cx="1531102" cy="584775"/>
            </a:xfrm>
            <a:prstGeom prst="rect">
              <a:avLst/>
            </a:prstGeom>
          </p:spPr>
          <p:txBody>
            <a:bodyPr wrap="square">
              <a:spAutoFit/>
            </a:bodyPr>
            <a:lstStyle/>
            <a:p>
              <a:pPr algn="ctr"/>
              <a:r>
                <a:rPr lang="en-IN" sz="1600" b="1" dirty="0" smtClean="0">
                  <a:latin typeface="Times New Roman" panose="02020603050405020304" pitchFamily="18" charset="0"/>
                  <a:cs typeface="Times New Roman" panose="02020603050405020304" pitchFamily="18" charset="0"/>
                </a:rPr>
                <a:t>Opencv Package </a:t>
              </a:r>
              <a:endParaRPr lang="en-IN" sz="1600" dirty="0"/>
            </a:p>
          </p:txBody>
        </p:sp>
        <p:sp>
          <p:nvSpPr>
            <p:cNvPr id="14" name="Rectangle 13"/>
            <p:cNvSpPr/>
            <p:nvPr/>
          </p:nvSpPr>
          <p:spPr>
            <a:xfrm>
              <a:off x="5908856" y="4132460"/>
              <a:ext cx="1609224" cy="1724413"/>
            </a:xfrm>
            <a:prstGeom prst="rect">
              <a:avLst/>
            </a:prstGeom>
            <a:ln>
              <a:solidFill>
                <a:schemeClr val="tx1"/>
              </a:solidFill>
            </a:ln>
          </p:spPr>
          <p:txBody>
            <a:bodyPr wrap="square">
              <a:spAutoFit/>
            </a:bodyPr>
            <a:lstStyle/>
            <a:p>
              <a:pPr algn="just">
                <a:lnSpc>
                  <a:spcPct val="150000"/>
                </a:lnSpc>
              </a:pPr>
              <a:r>
                <a:rPr lang="en-US" b="1" dirty="0" smtClean="0">
                  <a:latin typeface="Times New Roman" pitchFamily="18" charset="0"/>
                  <a:cs typeface="Times New Roman" pitchFamily="18" charset="0"/>
                </a:rPr>
                <a:t>Medicinal plant image</a:t>
              </a:r>
              <a:endParaRPr lang="en-US" b="1" dirty="0" smtClean="0">
                <a:latin typeface="Times New Roman" pitchFamily="18" charset="0"/>
                <a:cs typeface="Times New Roman" pitchFamily="18" charset="0"/>
              </a:endParaRPr>
            </a:p>
            <a:p>
              <a:pPr algn="just">
                <a:lnSpc>
                  <a:spcPct val="150000"/>
                </a:lnSpc>
              </a:pPr>
              <a:r>
                <a:rPr lang="en-US" b="1" dirty="0" smtClean="0">
                  <a:latin typeface="Times New Roman" pitchFamily="18" charset="0"/>
                  <a:cs typeface="Times New Roman" pitchFamily="18" charset="0"/>
                </a:rPr>
                <a:t>Normal /Abnormal </a:t>
              </a:r>
              <a:endParaRPr lang="en-IN" b="1" dirty="0">
                <a:latin typeface="Times New Roman" pitchFamily="18" charset="0"/>
                <a:cs typeface="Times New Roman" pitchFamily="18" charset="0"/>
              </a:endParaRPr>
            </a:p>
          </p:txBody>
        </p:sp>
        <p:sp>
          <p:nvSpPr>
            <p:cNvPr id="17" name="Right Arrow 16"/>
            <p:cNvSpPr/>
            <p:nvPr/>
          </p:nvSpPr>
          <p:spPr>
            <a:xfrm>
              <a:off x="4553960" y="4522056"/>
              <a:ext cx="1134474" cy="236097"/>
            </a:xfrm>
            <a:prstGeom prst="rightArrow">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IN"/>
            </a:p>
          </p:txBody>
        </p:sp>
        <p:sp>
          <p:nvSpPr>
            <p:cNvPr id="18" name="Right Arrow 17"/>
            <p:cNvSpPr/>
            <p:nvPr/>
          </p:nvSpPr>
          <p:spPr>
            <a:xfrm>
              <a:off x="7594859" y="4522055"/>
              <a:ext cx="1134474" cy="236097"/>
            </a:xfrm>
            <a:prstGeom prst="rightArrow">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365526733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3600" b="1" dirty="0" smtClean="0">
                <a:latin typeface="Times New Roman" panose="02020603050405020304" pitchFamily="18" charset="0"/>
                <a:cs typeface="Times New Roman" panose="02020603050405020304" pitchFamily="18" charset="0"/>
              </a:rPr>
              <a:t>DATA PREPROCESSING</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66700" y="1574778"/>
            <a:ext cx="11658600" cy="4938711"/>
          </a:xfrm>
        </p:spPr>
        <p:txBody>
          <a:bodyPr>
            <a:normAutofit/>
          </a:bodyPr>
          <a:lstStyle/>
          <a:p>
            <a:pPr algn="just">
              <a:lnSpc>
                <a:spcPct val="150000"/>
              </a:lnSpc>
              <a:buFont typeface="Wingdings" panose="05000000000000000000" pitchFamily="2" charset="2"/>
              <a:buChar char="§"/>
            </a:pPr>
            <a:r>
              <a:rPr lang="en-IN" sz="1800" dirty="0">
                <a:latin typeface="Times New Roman" panose="02020603050405020304" pitchFamily="18" charset="0"/>
                <a:cs typeface="Times New Roman" panose="02020603050405020304" pitchFamily="18" charset="0"/>
              </a:rPr>
              <a:t>Resizing and Cropping: Adjusting the size and dimensions of the image to a standard or desired format. This can be done using techniques like nearest-</a:t>
            </a:r>
            <a:r>
              <a:rPr lang="en-IN" sz="1800" dirty="0" err="1">
                <a:latin typeface="Times New Roman" panose="02020603050405020304" pitchFamily="18" charset="0"/>
                <a:cs typeface="Times New Roman" panose="02020603050405020304" pitchFamily="18" charset="0"/>
              </a:rPr>
              <a:t>neighbor</a:t>
            </a:r>
            <a:r>
              <a:rPr lang="en-IN" sz="1800" dirty="0">
                <a:latin typeface="Times New Roman" panose="02020603050405020304" pitchFamily="18" charset="0"/>
                <a:cs typeface="Times New Roman" panose="02020603050405020304" pitchFamily="18" charset="0"/>
              </a:rPr>
              <a:t>, bilinear, or </a:t>
            </a:r>
            <a:r>
              <a:rPr lang="en-IN" sz="1800" dirty="0" err="1">
                <a:latin typeface="Times New Roman" panose="02020603050405020304" pitchFamily="18" charset="0"/>
                <a:cs typeface="Times New Roman" panose="02020603050405020304" pitchFamily="18" charset="0"/>
              </a:rPr>
              <a:t>bicubic</a:t>
            </a:r>
            <a:r>
              <a:rPr lang="en-IN" sz="1800" dirty="0">
                <a:latin typeface="Times New Roman" panose="02020603050405020304" pitchFamily="18" charset="0"/>
                <a:cs typeface="Times New Roman" panose="02020603050405020304" pitchFamily="18" charset="0"/>
              </a:rPr>
              <a:t> interpolation</a:t>
            </a:r>
            <a:r>
              <a:rPr lang="en-IN" sz="1800" dirty="0" smtClean="0">
                <a:latin typeface="Times New Roman" panose="02020603050405020304" pitchFamily="18" charset="0"/>
                <a:cs typeface="Times New Roman" panose="02020603050405020304" pitchFamily="18" charset="0"/>
              </a:rPr>
              <a:t>.</a:t>
            </a:r>
          </a:p>
          <a:p>
            <a:pPr algn="just">
              <a:lnSpc>
                <a:spcPct val="150000"/>
              </a:lnSpc>
              <a:buFont typeface="Wingdings" panose="05000000000000000000" pitchFamily="2" charset="2"/>
              <a:buChar char="§"/>
            </a:pPr>
            <a:r>
              <a:rPr lang="en-IN" sz="1800" dirty="0" err="1">
                <a:latin typeface="Times New Roman" panose="02020603050405020304" pitchFamily="18" charset="0"/>
                <a:cs typeface="Times New Roman" panose="02020603050405020304" pitchFamily="18" charset="0"/>
              </a:rPr>
              <a:t>Color</a:t>
            </a:r>
            <a:r>
              <a:rPr lang="en-IN" sz="1800" dirty="0">
                <a:latin typeface="Times New Roman" panose="02020603050405020304" pitchFamily="18" charset="0"/>
                <a:cs typeface="Times New Roman" panose="02020603050405020304" pitchFamily="18" charset="0"/>
              </a:rPr>
              <a:t> Space Conversion: Converting the image from one </a:t>
            </a:r>
            <a:r>
              <a:rPr lang="en-IN" sz="1800" dirty="0" err="1">
                <a:latin typeface="Times New Roman" panose="02020603050405020304" pitchFamily="18" charset="0"/>
                <a:cs typeface="Times New Roman" panose="02020603050405020304" pitchFamily="18" charset="0"/>
              </a:rPr>
              <a:t>color</a:t>
            </a:r>
            <a:r>
              <a:rPr lang="en-IN" sz="1800" dirty="0">
                <a:latin typeface="Times New Roman" panose="02020603050405020304" pitchFamily="18" charset="0"/>
                <a:cs typeface="Times New Roman" panose="02020603050405020304" pitchFamily="18" charset="0"/>
              </a:rPr>
              <a:t> space (e.g., RGB, HSV, or CMYK) to another, which can be useful for specific applications or algorithms</a:t>
            </a:r>
            <a:r>
              <a:rPr lang="en-IN" sz="1800" dirty="0" smtClean="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
            </a:pPr>
            <a:r>
              <a:rPr lang="en-IN" sz="1800" dirty="0">
                <a:latin typeface="Times New Roman" panose="02020603050405020304" pitchFamily="18" charset="0"/>
                <a:cs typeface="Times New Roman" panose="02020603050405020304" pitchFamily="18" charset="0"/>
              </a:rPr>
              <a:t>Normalization: Scaling the pixel values to a common range, usually between 0 and 1 or -1 and 1, to ensure consistent input for the subsequent algorithms</a:t>
            </a:r>
            <a:r>
              <a:rPr lang="en-IN" sz="1800" dirty="0" smtClean="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
            </a:pPr>
            <a:r>
              <a:rPr lang="en-IN" sz="1800" dirty="0">
                <a:latin typeface="Times New Roman" panose="02020603050405020304" pitchFamily="18" charset="0"/>
                <a:cs typeface="Times New Roman" panose="02020603050405020304" pitchFamily="18" charset="0"/>
              </a:rPr>
              <a:t>Noise Removal: Applying filters or techniques to reduce or eliminate unwanted noise or </a:t>
            </a:r>
            <a:r>
              <a:rPr lang="en-IN" sz="1800" dirty="0" err="1">
                <a:latin typeface="Times New Roman" panose="02020603050405020304" pitchFamily="18" charset="0"/>
                <a:cs typeface="Times New Roman" panose="02020603050405020304" pitchFamily="18" charset="0"/>
              </a:rPr>
              <a:t>artifacts</a:t>
            </a:r>
            <a:r>
              <a:rPr lang="en-IN" sz="1800" dirty="0">
                <a:latin typeface="Times New Roman" panose="02020603050405020304" pitchFamily="18" charset="0"/>
                <a:cs typeface="Times New Roman" panose="02020603050405020304" pitchFamily="18" charset="0"/>
              </a:rPr>
              <a:t> in the image, such as Gaussian blur, median filtering, or wavelet-based </a:t>
            </a:r>
            <a:r>
              <a:rPr lang="en-IN" sz="1800" dirty="0" err="1">
                <a:latin typeface="Times New Roman" panose="02020603050405020304" pitchFamily="18" charset="0"/>
                <a:cs typeface="Times New Roman" panose="02020603050405020304" pitchFamily="18" charset="0"/>
              </a:rPr>
              <a:t>denoising</a:t>
            </a:r>
            <a:r>
              <a:rPr lang="en-IN" sz="1800" dirty="0">
                <a:latin typeface="Times New Roman" panose="02020603050405020304" pitchFamily="18" charset="0"/>
                <a:cs typeface="Times New Roman" panose="02020603050405020304" pitchFamily="18" charset="0"/>
              </a:rPr>
              <a:t>.</a:t>
            </a: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grpSp>
        <p:nvGrpSpPr>
          <p:cNvPr id="6" name="Group 5"/>
          <p:cNvGrpSpPr/>
          <p:nvPr/>
        </p:nvGrpSpPr>
        <p:grpSpPr>
          <a:xfrm>
            <a:off x="1159099" y="5409129"/>
            <a:ext cx="9381870" cy="1280831"/>
            <a:chOff x="2083093" y="3834420"/>
            <a:chExt cx="8197487" cy="1481429"/>
          </a:xfrm>
        </p:grpSpPr>
        <p:sp>
          <p:nvSpPr>
            <p:cNvPr id="7" name="Flowchart: Magnetic Disk 6"/>
            <p:cNvSpPr/>
            <p:nvPr/>
          </p:nvSpPr>
          <p:spPr>
            <a:xfrm>
              <a:off x="8766975" y="3946354"/>
              <a:ext cx="1455817" cy="1232422"/>
            </a:xfrm>
            <a:prstGeom prst="flowChartMagneticDisk">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8" name="Rectangle 7"/>
            <p:cNvSpPr/>
            <p:nvPr/>
          </p:nvSpPr>
          <p:spPr>
            <a:xfrm>
              <a:off x="8749478" y="4069921"/>
              <a:ext cx="1531102" cy="1245928"/>
            </a:xfrm>
            <a:prstGeom prst="rect">
              <a:avLst/>
            </a:prstGeom>
          </p:spPr>
          <p:txBody>
            <a:bodyPr wrap="square">
              <a:spAutoFit/>
            </a:bodyPr>
            <a:lstStyle/>
            <a:p>
              <a:pPr algn="ctr"/>
              <a:endParaRPr lang="en-IN" sz="1600" b="1" dirty="0" smtClean="0">
                <a:latin typeface="Times New Roman" panose="02020603050405020304" pitchFamily="18" charset="0"/>
                <a:cs typeface="Times New Roman" panose="02020603050405020304" pitchFamily="18" charset="0"/>
              </a:endParaRPr>
            </a:p>
            <a:p>
              <a:pPr algn="ctr"/>
              <a:r>
                <a:rPr lang="en-IN" sz="1600" b="1" dirty="0" smtClean="0">
                  <a:latin typeface="Times New Roman" panose="02020603050405020304" pitchFamily="18" charset="0"/>
                  <a:cs typeface="Times New Roman" panose="02020603050405020304" pitchFamily="18" charset="0"/>
                </a:rPr>
                <a:t>Image Pre-processing </a:t>
              </a:r>
              <a:endParaRPr lang="en-IN" sz="1600" dirty="0" smtClean="0">
                <a:latin typeface="Times New Roman" panose="02020603050405020304" pitchFamily="18" charset="0"/>
                <a:cs typeface="Times New Roman" panose="02020603050405020304" pitchFamily="18" charset="0"/>
              </a:endParaRPr>
            </a:p>
            <a:p>
              <a:endParaRPr lang="en-IN" sz="1600" dirty="0"/>
            </a:p>
          </p:txBody>
        </p:sp>
        <p:sp>
          <p:nvSpPr>
            <p:cNvPr id="9" name="Oval 8"/>
            <p:cNvSpPr/>
            <p:nvPr/>
          </p:nvSpPr>
          <p:spPr>
            <a:xfrm>
              <a:off x="3639151" y="3834420"/>
              <a:ext cx="823174" cy="537917"/>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10" name="Straight Connector 9"/>
            <p:cNvCxnSpPr>
              <a:stCxn id="9" idx="4"/>
            </p:cNvCxnSpPr>
            <p:nvPr/>
          </p:nvCxnSpPr>
          <p:spPr>
            <a:xfrm>
              <a:off x="4050738" y="4372337"/>
              <a:ext cx="0" cy="806439"/>
            </a:xfrm>
            <a:prstGeom prst="line">
              <a:avLst/>
            </a:prstGeom>
            <a:ln w="38100"/>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3639151" y="4640105"/>
              <a:ext cx="823174"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12" name="Straight Connector 11"/>
            <p:cNvCxnSpPr/>
            <p:nvPr/>
          </p:nvCxnSpPr>
          <p:spPr>
            <a:xfrm flipH="1">
              <a:off x="3768477" y="4652984"/>
              <a:ext cx="282801" cy="324968"/>
            </a:xfrm>
            <a:prstGeom prst="line">
              <a:avLst/>
            </a:prstGeom>
            <a:ln w="38100"/>
          </p:spPr>
          <p:style>
            <a:lnRef idx="1">
              <a:schemeClr val="dk1"/>
            </a:lnRef>
            <a:fillRef idx="0">
              <a:schemeClr val="dk1"/>
            </a:fillRef>
            <a:effectRef idx="0">
              <a:schemeClr val="dk1"/>
            </a:effectRef>
            <a:fontRef idx="minor">
              <a:schemeClr val="tx1"/>
            </a:fontRef>
          </p:style>
        </p:cxnSp>
        <p:cxnSp>
          <p:nvCxnSpPr>
            <p:cNvPr id="13" name="Straight Connector 12"/>
            <p:cNvCxnSpPr/>
            <p:nvPr/>
          </p:nvCxnSpPr>
          <p:spPr>
            <a:xfrm>
              <a:off x="4064154" y="4640105"/>
              <a:ext cx="269385" cy="337847"/>
            </a:xfrm>
            <a:prstGeom prst="line">
              <a:avLst/>
            </a:prstGeom>
            <a:ln w="38100"/>
          </p:spPr>
          <p:style>
            <a:lnRef idx="1">
              <a:schemeClr val="dk1"/>
            </a:lnRef>
            <a:fillRef idx="0">
              <a:schemeClr val="dk1"/>
            </a:fillRef>
            <a:effectRef idx="0">
              <a:schemeClr val="dk1"/>
            </a:effectRef>
            <a:fontRef idx="minor">
              <a:schemeClr val="tx1"/>
            </a:fontRef>
          </p:style>
        </p:cxnSp>
        <p:sp>
          <p:nvSpPr>
            <p:cNvPr id="14" name="Rectangle 13"/>
            <p:cNvSpPr/>
            <p:nvPr/>
          </p:nvSpPr>
          <p:spPr>
            <a:xfrm>
              <a:off x="2083093" y="4276859"/>
              <a:ext cx="1531102" cy="584775"/>
            </a:xfrm>
            <a:prstGeom prst="rect">
              <a:avLst/>
            </a:prstGeom>
          </p:spPr>
          <p:txBody>
            <a:bodyPr wrap="square">
              <a:spAutoFit/>
            </a:bodyPr>
            <a:lstStyle/>
            <a:p>
              <a:pPr algn="ctr"/>
              <a:r>
                <a:rPr lang="en-IN" sz="1600" b="1" dirty="0" smtClean="0">
                  <a:latin typeface="Times New Roman" panose="02020603050405020304" pitchFamily="18" charset="0"/>
                  <a:cs typeface="Times New Roman" panose="02020603050405020304" pitchFamily="18" charset="0"/>
                </a:rPr>
                <a:t>Opencv Package </a:t>
              </a:r>
              <a:endParaRPr lang="en-IN" sz="1600" dirty="0"/>
            </a:p>
          </p:txBody>
        </p:sp>
        <p:sp>
          <p:nvSpPr>
            <p:cNvPr id="15" name="Rectangle 14"/>
            <p:cNvSpPr/>
            <p:nvPr/>
          </p:nvSpPr>
          <p:spPr>
            <a:xfrm>
              <a:off x="5692057" y="4132460"/>
              <a:ext cx="1878535" cy="482797"/>
            </a:xfrm>
            <a:prstGeom prst="rect">
              <a:avLst/>
            </a:prstGeom>
            <a:ln>
              <a:solidFill>
                <a:schemeClr val="tx1"/>
              </a:solidFill>
            </a:ln>
          </p:spPr>
          <p:txBody>
            <a:bodyPr wrap="none">
              <a:spAutoFit/>
            </a:bodyPr>
            <a:lstStyle/>
            <a:p>
              <a:pPr algn="just">
                <a:lnSpc>
                  <a:spcPct val="150000"/>
                </a:lnSpc>
              </a:pPr>
              <a:r>
                <a:rPr lang="en-US" sz="1600" b="1" dirty="0" smtClean="0">
                  <a:latin typeface="Times New Roman" pitchFamily="18" charset="0"/>
                  <a:cs typeface="Times New Roman" pitchFamily="18" charset="0"/>
                </a:rPr>
                <a:t>Medicinal plant image</a:t>
              </a:r>
              <a:endParaRPr lang="en-IN" sz="1600" b="1" dirty="0">
                <a:latin typeface="Times New Roman" pitchFamily="18" charset="0"/>
                <a:cs typeface="Times New Roman" pitchFamily="18" charset="0"/>
              </a:endParaRPr>
            </a:p>
          </p:txBody>
        </p:sp>
        <p:sp>
          <p:nvSpPr>
            <p:cNvPr id="16" name="Right Arrow 15"/>
            <p:cNvSpPr/>
            <p:nvPr/>
          </p:nvSpPr>
          <p:spPr>
            <a:xfrm>
              <a:off x="4553960" y="4522056"/>
              <a:ext cx="1134474" cy="236097"/>
            </a:xfrm>
            <a:prstGeom prst="rightArrow">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IN"/>
            </a:p>
          </p:txBody>
        </p:sp>
        <p:sp>
          <p:nvSpPr>
            <p:cNvPr id="17" name="Right Arrow 16"/>
            <p:cNvSpPr/>
            <p:nvPr/>
          </p:nvSpPr>
          <p:spPr>
            <a:xfrm>
              <a:off x="7594859" y="4522055"/>
              <a:ext cx="1134474" cy="236097"/>
            </a:xfrm>
            <a:prstGeom prst="rightArrow">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82589261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3600" b="1" dirty="0">
                <a:latin typeface="Times New Roman" panose="02020603050405020304" pitchFamily="18" charset="0"/>
                <a:cs typeface="Times New Roman" panose="02020603050405020304" pitchFamily="18" charset="0"/>
              </a:rPr>
              <a:t>SPLITTING DATASET INTO TRAIN AND TEST DATA</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1463" y="1825625"/>
            <a:ext cx="11543697" cy="4803775"/>
          </a:xfrm>
        </p:spPr>
        <p:txBody>
          <a:bodyPr>
            <a:normAutofit/>
          </a:bodyPr>
          <a:lstStyle/>
          <a:p>
            <a:pPr lvl="0" algn="just">
              <a:lnSpc>
                <a:spcPct val="150000"/>
              </a:lnSpc>
              <a:buFont typeface="Wingdings" panose="05000000000000000000" pitchFamily="2" charset="2"/>
              <a:buChar char="§"/>
            </a:pPr>
            <a:r>
              <a:rPr lang="en-IN" sz="1800" dirty="0">
                <a:latin typeface="Times New Roman" panose="02020603050405020304" pitchFamily="18" charset="0"/>
                <a:cs typeface="Times New Roman" panose="02020603050405020304" pitchFamily="18" charset="0"/>
              </a:rPr>
              <a:t>Data splitting is the act of partitioning available data into two portions, usually for cross-validator purposes.  </a:t>
            </a:r>
            <a:r>
              <a:rPr lang="en-IN" sz="1800" dirty="0" smtClean="0">
                <a:latin typeface="Times New Roman" panose="02020603050405020304" pitchFamily="18" charset="0"/>
                <a:cs typeface="Times New Roman" panose="02020603050405020304" pitchFamily="18" charset="0"/>
              </a:rPr>
              <a:t> One </a:t>
            </a:r>
            <a:r>
              <a:rPr lang="en-IN" sz="1800" dirty="0">
                <a:latin typeface="Times New Roman" panose="02020603050405020304" pitchFamily="18" charset="0"/>
                <a:cs typeface="Times New Roman" panose="02020603050405020304" pitchFamily="18" charset="0"/>
              </a:rPr>
              <a:t>Portion of the data is used to develop a predictive model and the other to evaluate the model's performance.</a:t>
            </a:r>
          </a:p>
          <a:p>
            <a:pPr lvl="0" algn="just">
              <a:lnSpc>
                <a:spcPct val="150000"/>
              </a:lnSpc>
              <a:buFont typeface="Wingdings" panose="05000000000000000000" pitchFamily="2" charset="2"/>
              <a:buChar char="§"/>
            </a:pPr>
            <a:r>
              <a:rPr lang="en-IN" sz="1800" dirty="0">
                <a:latin typeface="Times New Roman" panose="02020603050405020304" pitchFamily="18" charset="0"/>
                <a:cs typeface="Times New Roman" panose="02020603050405020304" pitchFamily="18" charset="0"/>
              </a:rPr>
              <a:t>Separating data into training and testing sets is an important part of evaluating data mining models. </a:t>
            </a:r>
          </a:p>
          <a:p>
            <a:pPr lvl="0" algn="just">
              <a:lnSpc>
                <a:spcPct val="150000"/>
              </a:lnSpc>
              <a:buFont typeface="Wingdings" panose="05000000000000000000" pitchFamily="2" charset="2"/>
              <a:buChar char="§"/>
            </a:pPr>
            <a:r>
              <a:rPr lang="en-IN" sz="1800" dirty="0">
                <a:latin typeface="Times New Roman" panose="02020603050405020304" pitchFamily="18" charset="0"/>
                <a:cs typeface="Times New Roman" panose="02020603050405020304" pitchFamily="18" charset="0"/>
              </a:rPr>
              <a:t>Typically, when you separate a data set into a training set and testing set, most of the data is used for training, and a smaller portion of the data is used for testing. </a:t>
            </a:r>
          </a:p>
          <a:p>
            <a:pPr lvl="0" algn="just">
              <a:lnSpc>
                <a:spcPct val="150000"/>
              </a:lnSpc>
              <a:buFont typeface="Wingdings" panose="05000000000000000000" pitchFamily="2" charset="2"/>
              <a:buChar char="§"/>
            </a:pPr>
            <a:r>
              <a:rPr lang="en-IN" sz="1800" dirty="0">
                <a:latin typeface="Times New Roman" panose="02020603050405020304" pitchFamily="18" charset="0"/>
                <a:cs typeface="Times New Roman" panose="02020603050405020304" pitchFamily="18" charset="0"/>
              </a:rPr>
              <a:t>To train any machine learning model irrespective what type of dataset is being used you have to split the dataset into training data and testing data.</a:t>
            </a:r>
          </a:p>
          <a:p>
            <a:pPr algn="just">
              <a:lnSpc>
                <a:spcPct val="150000"/>
              </a:lnSpc>
              <a:buFont typeface="Wingdings" panose="05000000000000000000" pitchFamily="2" charset="2"/>
              <a:buChar char="§"/>
            </a:pPr>
            <a:endParaRPr lang="en-IN" sz="1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grpSp>
        <p:nvGrpSpPr>
          <p:cNvPr id="8" name="Group 7"/>
          <p:cNvGrpSpPr/>
          <p:nvPr/>
        </p:nvGrpSpPr>
        <p:grpSpPr>
          <a:xfrm>
            <a:off x="1197736" y="5164432"/>
            <a:ext cx="9381870" cy="1280831"/>
            <a:chOff x="2083093" y="3834420"/>
            <a:chExt cx="8197487" cy="1481429"/>
          </a:xfrm>
        </p:grpSpPr>
        <p:sp>
          <p:nvSpPr>
            <p:cNvPr id="9" name="Flowchart: Magnetic Disk 8"/>
            <p:cNvSpPr/>
            <p:nvPr/>
          </p:nvSpPr>
          <p:spPr>
            <a:xfrm>
              <a:off x="8766975" y="3946354"/>
              <a:ext cx="1455817" cy="1232422"/>
            </a:xfrm>
            <a:prstGeom prst="flowChartMagneticDisk">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10" name="Rectangle 9"/>
            <p:cNvSpPr/>
            <p:nvPr/>
          </p:nvSpPr>
          <p:spPr>
            <a:xfrm>
              <a:off x="8749478" y="4069921"/>
              <a:ext cx="1531102" cy="1245927"/>
            </a:xfrm>
            <a:prstGeom prst="rect">
              <a:avLst/>
            </a:prstGeom>
          </p:spPr>
          <p:txBody>
            <a:bodyPr wrap="square">
              <a:spAutoFit/>
            </a:bodyPr>
            <a:lstStyle/>
            <a:p>
              <a:pPr algn="ctr"/>
              <a:endParaRPr lang="en-IN" sz="1600" b="1" dirty="0" smtClean="0">
                <a:latin typeface="Times New Roman" panose="02020603050405020304" pitchFamily="18" charset="0"/>
                <a:cs typeface="Times New Roman" panose="02020603050405020304" pitchFamily="18" charset="0"/>
              </a:endParaRPr>
            </a:p>
            <a:p>
              <a:pPr algn="ctr"/>
              <a:r>
                <a:rPr lang="en-IN" sz="1600" b="1" dirty="0" smtClean="0">
                  <a:latin typeface="Times New Roman" panose="02020603050405020304" pitchFamily="18" charset="0"/>
                  <a:cs typeface="Times New Roman" panose="02020603050405020304" pitchFamily="18" charset="0"/>
                </a:rPr>
                <a:t>Train Image </a:t>
              </a:r>
            </a:p>
            <a:p>
              <a:pPr algn="ctr"/>
              <a:r>
                <a:rPr lang="en-US" sz="1600" b="1" dirty="0" smtClean="0">
                  <a:latin typeface="Times New Roman" panose="02020603050405020304" pitchFamily="18" charset="0"/>
                  <a:cs typeface="Times New Roman" panose="02020603050405020304" pitchFamily="18" charset="0"/>
                </a:rPr>
                <a:t>Test Image </a:t>
              </a:r>
              <a:endParaRPr lang="en-IN" sz="1600" dirty="0" smtClean="0">
                <a:latin typeface="Times New Roman" panose="02020603050405020304" pitchFamily="18" charset="0"/>
                <a:cs typeface="Times New Roman" panose="02020603050405020304" pitchFamily="18" charset="0"/>
              </a:endParaRPr>
            </a:p>
            <a:p>
              <a:endParaRPr lang="en-IN" sz="1600" dirty="0"/>
            </a:p>
          </p:txBody>
        </p:sp>
        <p:sp>
          <p:nvSpPr>
            <p:cNvPr id="11" name="Oval 10"/>
            <p:cNvSpPr/>
            <p:nvPr/>
          </p:nvSpPr>
          <p:spPr>
            <a:xfrm>
              <a:off x="3639151" y="3834420"/>
              <a:ext cx="823174" cy="537917"/>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12" name="Straight Connector 11"/>
            <p:cNvCxnSpPr>
              <a:stCxn id="11" idx="4"/>
            </p:cNvCxnSpPr>
            <p:nvPr/>
          </p:nvCxnSpPr>
          <p:spPr>
            <a:xfrm>
              <a:off x="4050738" y="4372337"/>
              <a:ext cx="0" cy="806439"/>
            </a:xfrm>
            <a:prstGeom prst="line">
              <a:avLst/>
            </a:prstGeom>
            <a:ln w="38100"/>
          </p:spPr>
          <p:style>
            <a:lnRef idx="1">
              <a:schemeClr val="dk1"/>
            </a:lnRef>
            <a:fillRef idx="0">
              <a:schemeClr val="dk1"/>
            </a:fillRef>
            <a:effectRef idx="0">
              <a:schemeClr val="dk1"/>
            </a:effectRef>
            <a:fontRef idx="minor">
              <a:schemeClr val="tx1"/>
            </a:fontRef>
          </p:style>
        </p:cxnSp>
        <p:cxnSp>
          <p:nvCxnSpPr>
            <p:cNvPr id="13" name="Straight Connector 12"/>
            <p:cNvCxnSpPr/>
            <p:nvPr/>
          </p:nvCxnSpPr>
          <p:spPr>
            <a:xfrm>
              <a:off x="3639151" y="4640105"/>
              <a:ext cx="823174"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14" name="Straight Connector 13"/>
            <p:cNvCxnSpPr/>
            <p:nvPr/>
          </p:nvCxnSpPr>
          <p:spPr>
            <a:xfrm flipH="1">
              <a:off x="3768477" y="4652984"/>
              <a:ext cx="282801" cy="324968"/>
            </a:xfrm>
            <a:prstGeom prst="line">
              <a:avLst/>
            </a:prstGeom>
            <a:ln w="38100"/>
          </p:spPr>
          <p:style>
            <a:lnRef idx="1">
              <a:schemeClr val="dk1"/>
            </a:lnRef>
            <a:fillRef idx="0">
              <a:schemeClr val="dk1"/>
            </a:fillRef>
            <a:effectRef idx="0">
              <a:schemeClr val="dk1"/>
            </a:effectRef>
            <a:fontRef idx="minor">
              <a:schemeClr val="tx1"/>
            </a:fontRef>
          </p:style>
        </p:cxnSp>
        <p:cxnSp>
          <p:nvCxnSpPr>
            <p:cNvPr id="15" name="Straight Connector 14"/>
            <p:cNvCxnSpPr/>
            <p:nvPr/>
          </p:nvCxnSpPr>
          <p:spPr>
            <a:xfrm>
              <a:off x="4064154" y="4640105"/>
              <a:ext cx="269385" cy="337847"/>
            </a:xfrm>
            <a:prstGeom prst="line">
              <a:avLst/>
            </a:prstGeom>
            <a:ln w="38100"/>
          </p:spPr>
          <p:style>
            <a:lnRef idx="1">
              <a:schemeClr val="dk1"/>
            </a:lnRef>
            <a:fillRef idx="0">
              <a:schemeClr val="dk1"/>
            </a:fillRef>
            <a:effectRef idx="0">
              <a:schemeClr val="dk1"/>
            </a:effectRef>
            <a:fontRef idx="minor">
              <a:schemeClr val="tx1"/>
            </a:fontRef>
          </p:style>
        </p:cxnSp>
        <p:sp>
          <p:nvSpPr>
            <p:cNvPr id="16" name="Rectangle 15"/>
            <p:cNvSpPr/>
            <p:nvPr/>
          </p:nvSpPr>
          <p:spPr>
            <a:xfrm>
              <a:off x="2083093" y="4276859"/>
              <a:ext cx="1531102" cy="676360"/>
            </a:xfrm>
            <a:prstGeom prst="rect">
              <a:avLst/>
            </a:prstGeom>
          </p:spPr>
          <p:txBody>
            <a:bodyPr wrap="square">
              <a:spAutoFit/>
            </a:bodyPr>
            <a:lstStyle/>
            <a:p>
              <a:pPr algn="ctr"/>
              <a:r>
                <a:rPr lang="en-IN" sz="1600" b="1" dirty="0">
                  <a:latin typeface="Times New Roman" panose="02020603050405020304" pitchFamily="18" charset="0"/>
                  <a:cs typeface="Times New Roman" panose="02020603050405020304" pitchFamily="18" charset="0"/>
                </a:rPr>
                <a:t>t</a:t>
              </a:r>
              <a:r>
                <a:rPr lang="en-IN" sz="1600" b="1" dirty="0" smtClean="0">
                  <a:latin typeface="Times New Roman" panose="02020603050405020304" pitchFamily="18" charset="0"/>
                  <a:cs typeface="Times New Roman" panose="02020603050405020304" pitchFamily="18" charset="0"/>
                </a:rPr>
                <a:t>raintestsplit Package </a:t>
              </a:r>
              <a:endParaRPr lang="en-IN" sz="1600" dirty="0"/>
            </a:p>
          </p:txBody>
        </p:sp>
        <p:sp>
          <p:nvSpPr>
            <p:cNvPr id="17" name="Rectangle 16"/>
            <p:cNvSpPr/>
            <p:nvPr/>
          </p:nvSpPr>
          <p:spPr>
            <a:xfrm>
              <a:off x="5701860" y="3927530"/>
              <a:ext cx="1892999" cy="1388319"/>
            </a:xfrm>
            <a:prstGeom prst="rect">
              <a:avLst/>
            </a:prstGeom>
            <a:ln>
              <a:solidFill>
                <a:schemeClr val="tx1"/>
              </a:solidFill>
            </a:ln>
          </p:spPr>
          <p:txBody>
            <a:bodyPr wrap="square">
              <a:spAutoFit/>
            </a:bodyPr>
            <a:lstStyle/>
            <a:p>
              <a:pPr algn="just">
                <a:lnSpc>
                  <a:spcPct val="150000"/>
                </a:lnSpc>
              </a:pPr>
              <a:r>
                <a:rPr lang="en-US" sz="1600" b="1" dirty="0" smtClean="0">
                  <a:latin typeface="Times New Roman" pitchFamily="18" charset="0"/>
                  <a:cs typeface="Times New Roman" pitchFamily="18" charset="0"/>
                </a:rPr>
                <a:t>Medicinal plant </a:t>
              </a:r>
              <a:r>
                <a:rPr lang="en-US" sz="1600" b="1" dirty="0" smtClean="0">
                  <a:latin typeface="Times New Roman" pitchFamily="18" charset="0"/>
                  <a:cs typeface="Times New Roman" pitchFamily="18" charset="0"/>
                </a:rPr>
                <a:t>preprocessing </a:t>
              </a:r>
            </a:p>
            <a:p>
              <a:pPr algn="just">
                <a:lnSpc>
                  <a:spcPct val="150000"/>
                </a:lnSpc>
              </a:pPr>
              <a:r>
                <a:rPr lang="en-US" sz="1600" b="1" dirty="0" smtClean="0">
                  <a:latin typeface="Times New Roman" pitchFamily="18" charset="0"/>
                  <a:cs typeface="Times New Roman" pitchFamily="18" charset="0"/>
                </a:rPr>
                <a:t> image</a:t>
              </a:r>
              <a:endParaRPr lang="en-IN" sz="1600" b="1" dirty="0">
                <a:latin typeface="Times New Roman" pitchFamily="18" charset="0"/>
                <a:cs typeface="Times New Roman" pitchFamily="18" charset="0"/>
              </a:endParaRPr>
            </a:p>
          </p:txBody>
        </p:sp>
        <p:sp>
          <p:nvSpPr>
            <p:cNvPr id="18" name="Right Arrow 17"/>
            <p:cNvSpPr/>
            <p:nvPr/>
          </p:nvSpPr>
          <p:spPr>
            <a:xfrm>
              <a:off x="4553960" y="4522056"/>
              <a:ext cx="1134474" cy="236097"/>
            </a:xfrm>
            <a:prstGeom prst="rightArrow">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IN"/>
            </a:p>
          </p:txBody>
        </p:sp>
        <p:sp>
          <p:nvSpPr>
            <p:cNvPr id="19" name="Right Arrow 18"/>
            <p:cNvSpPr/>
            <p:nvPr/>
          </p:nvSpPr>
          <p:spPr>
            <a:xfrm>
              <a:off x="7594859" y="4522055"/>
              <a:ext cx="1134474" cy="236097"/>
            </a:xfrm>
            <a:prstGeom prst="rightArrow">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128392436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IN" sz="3600" b="1" dirty="0">
                <a:latin typeface="Times New Roman" panose="02020603050405020304" pitchFamily="18" charset="0"/>
                <a:cs typeface="Times New Roman" panose="02020603050405020304" pitchFamily="18" charset="0"/>
              </a:rPr>
              <a:t>CLASSIFICATION</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61937" y="1477896"/>
            <a:ext cx="11668126" cy="5151504"/>
          </a:xfrm>
        </p:spPr>
        <p:txBody>
          <a:bodyPr>
            <a:normAutofit/>
          </a:bodyPr>
          <a:lstStyle/>
          <a:p>
            <a:pPr algn="just">
              <a:lnSpc>
                <a:spcPct val="150000"/>
              </a:lnSpc>
              <a:buFont typeface="Wingdings" panose="05000000000000000000" pitchFamily="2" charset="2"/>
              <a:buChar char="q"/>
            </a:pPr>
            <a:r>
              <a:rPr lang="en-IN" sz="1800" b="1" dirty="0" smtClean="0">
                <a:latin typeface="Times New Roman" panose="02020603050405020304" pitchFamily="18" charset="0"/>
                <a:cs typeface="Times New Roman" panose="02020603050405020304" pitchFamily="18" charset="0"/>
              </a:rPr>
              <a:t>Classification is the problem of identifying to which of a set of categories, a new observation belongs to, on the basis of a training set of data containing observations and whose categories membership is known</a:t>
            </a:r>
            <a:r>
              <a:rPr lang="en-IN" sz="1800" dirty="0" smtClean="0">
                <a:latin typeface="Times New Roman" panose="02020603050405020304" pitchFamily="18" charset="0"/>
                <a:cs typeface="Times New Roman" panose="02020603050405020304" pitchFamily="18" charset="0"/>
              </a:rPr>
              <a:t>.</a:t>
            </a:r>
          </a:p>
          <a:p>
            <a:pPr algn="just">
              <a:lnSpc>
                <a:spcPct val="150000"/>
              </a:lnSpc>
              <a:buFont typeface="Wingdings" panose="05000000000000000000" pitchFamily="2" charset="2"/>
              <a:buChar char="q"/>
            </a:pPr>
            <a:r>
              <a:rPr lang="en-IN" sz="1800" dirty="0">
                <a:latin typeface="Times New Roman" pitchFamily="18" charset="0"/>
                <a:cs typeface="Times New Roman" pitchFamily="18" charset="0"/>
              </a:rPr>
              <a:t>The method of detecting driver fatigue based on cascaded MTCNN and EM-CNN is expected to play an important role in preventing car accidents caused by driving fatigue. For face detection and feature point location, we use the MTCNN architecture of a hierarchical convolutional network, which outputs the facial bounding box and the five feature points of the left and right eyes, nose, and the left and right mouth corners. Then, the ROI of the driver image is extracted using the feature points. To evaluate the state of the eyes and mouth, this paper has proposed the EM-CNN-based detection method. In an experimental evaluation, the proposed method demonstrated high accuracy</a:t>
            </a:r>
          </a:p>
          <a:p>
            <a:pPr algn="just">
              <a:lnSpc>
                <a:spcPct val="150000"/>
              </a:lnSpc>
              <a:buFont typeface="Wingdings" panose="05000000000000000000" pitchFamily="2" charset="2"/>
              <a:buChar char="q"/>
            </a:pPr>
            <a:endParaRPr lang="en-IN" sz="1800" dirty="0" smtClean="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endParaRPr lang="en-IN" sz="1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grpSp>
        <p:nvGrpSpPr>
          <p:cNvPr id="8" name="Group 7"/>
          <p:cNvGrpSpPr/>
          <p:nvPr/>
        </p:nvGrpSpPr>
        <p:grpSpPr>
          <a:xfrm>
            <a:off x="1159100" y="5164432"/>
            <a:ext cx="9358812" cy="1280831"/>
            <a:chOff x="2083093" y="3834420"/>
            <a:chExt cx="8177340" cy="1481429"/>
          </a:xfrm>
        </p:grpSpPr>
        <p:sp>
          <p:nvSpPr>
            <p:cNvPr id="9" name="Flowchart: Magnetic Disk 8"/>
            <p:cNvSpPr/>
            <p:nvPr/>
          </p:nvSpPr>
          <p:spPr>
            <a:xfrm>
              <a:off x="8766975" y="3946354"/>
              <a:ext cx="1455817" cy="1232422"/>
            </a:xfrm>
            <a:prstGeom prst="flowChartMagneticDisk">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10" name="Rectangle 9"/>
            <p:cNvSpPr/>
            <p:nvPr/>
          </p:nvSpPr>
          <p:spPr>
            <a:xfrm>
              <a:off x="8729331" y="4224384"/>
              <a:ext cx="1531102" cy="676360"/>
            </a:xfrm>
            <a:prstGeom prst="rect">
              <a:avLst/>
            </a:prstGeom>
          </p:spPr>
          <p:txBody>
            <a:bodyPr wrap="square">
              <a:spAutoFit/>
            </a:bodyPr>
            <a:lstStyle/>
            <a:p>
              <a:pPr algn="ctr"/>
              <a:endParaRPr lang="en-IN" sz="1600" b="1" dirty="0" smtClean="0">
                <a:latin typeface="Times New Roman" panose="02020603050405020304" pitchFamily="18" charset="0"/>
                <a:cs typeface="Times New Roman" panose="02020603050405020304" pitchFamily="18" charset="0"/>
              </a:endParaRPr>
            </a:p>
            <a:p>
              <a:pPr algn="ctr"/>
              <a:r>
                <a:rPr lang="en-IN" sz="1600" b="1" dirty="0" smtClean="0">
                  <a:latin typeface="Times New Roman" panose="02020603050405020304" pitchFamily="18" charset="0"/>
                  <a:cs typeface="Times New Roman" panose="02020603050405020304" pitchFamily="18" charset="0"/>
                </a:rPr>
                <a:t>Model .h5</a:t>
              </a:r>
              <a:endParaRPr lang="en-IN" sz="1600" dirty="0"/>
            </a:p>
          </p:txBody>
        </p:sp>
        <p:sp>
          <p:nvSpPr>
            <p:cNvPr id="11" name="Oval 10"/>
            <p:cNvSpPr/>
            <p:nvPr/>
          </p:nvSpPr>
          <p:spPr>
            <a:xfrm>
              <a:off x="3639151" y="3834420"/>
              <a:ext cx="823174" cy="537917"/>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12" name="Straight Connector 11"/>
            <p:cNvCxnSpPr>
              <a:stCxn id="11" idx="4"/>
            </p:cNvCxnSpPr>
            <p:nvPr/>
          </p:nvCxnSpPr>
          <p:spPr>
            <a:xfrm>
              <a:off x="4050738" y="4372337"/>
              <a:ext cx="0" cy="806439"/>
            </a:xfrm>
            <a:prstGeom prst="line">
              <a:avLst/>
            </a:prstGeom>
            <a:ln w="38100"/>
          </p:spPr>
          <p:style>
            <a:lnRef idx="1">
              <a:schemeClr val="dk1"/>
            </a:lnRef>
            <a:fillRef idx="0">
              <a:schemeClr val="dk1"/>
            </a:fillRef>
            <a:effectRef idx="0">
              <a:schemeClr val="dk1"/>
            </a:effectRef>
            <a:fontRef idx="minor">
              <a:schemeClr val="tx1"/>
            </a:fontRef>
          </p:style>
        </p:cxnSp>
        <p:cxnSp>
          <p:nvCxnSpPr>
            <p:cNvPr id="13" name="Straight Connector 12"/>
            <p:cNvCxnSpPr/>
            <p:nvPr/>
          </p:nvCxnSpPr>
          <p:spPr>
            <a:xfrm>
              <a:off x="3639151" y="4640105"/>
              <a:ext cx="823174"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14" name="Straight Connector 13"/>
            <p:cNvCxnSpPr/>
            <p:nvPr/>
          </p:nvCxnSpPr>
          <p:spPr>
            <a:xfrm flipH="1">
              <a:off x="3768477" y="4652984"/>
              <a:ext cx="282801" cy="324968"/>
            </a:xfrm>
            <a:prstGeom prst="line">
              <a:avLst/>
            </a:prstGeom>
            <a:ln w="38100"/>
          </p:spPr>
          <p:style>
            <a:lnRef idx="1">
              <a:schemeClr val="dk1"/>
            </a:lnRef>
            <a:fillRef idx="0">
              <a:schemeClr val="dk1"/>
            </a:fillRef>
            <a:effectRef idx="0">
              <a:schemeClr val="dk1"/>
            </a:effectRef>
            <a:fontRef idx="minor">
              <a:schemeClr val="tx1"/>
            </a:fontRef>
          </p:style>
        </p:cxnSp>
        <p:cxnSp>
          <p:nvCxnSpPr>
            <p:cNvPr id="15" name="Straight Connector 14"/>
            <p:cNvCxnSpPr/>
            <p:nvPr/>
          </p:nvCxnSpPr>
          <p:spPr>
            <a:xfrm>
              <a:off x="4064154" y="4640105"/>
              <a:ext cx="269385" cy="337847"/>
            </a:xfrm>
            <a:prstGeom prst="line">
              <a:avLst/>
            </a:prstGeom>
            <a:ln w="38100"/>
          </p:spPr>
          <p:style>
            <a:lnRef idx="1">
              <a:schemeClr val="dk1"/>
            </a:lnRef>
            <a:fillRef idx="0">
              <a:schemeClr val="dk1"/>
            </a:fillRef>
            <a:effectRef idx="0">
              <a:schemeClr val="dk1"/>
            </a:effectRef>
            <a:fontRef idx="minor">
              <a:schemeClr val="tx1"/>
            </a:fontRef>
          </p:style>
        </p:cxnSp>
        <p:sp>
          <p:nvSpPr>
            <p:cNvPr id="16" name="Rectangle 15"/>
            <p:cNvSpPr/>
            <p:nvPr/>
          </p:nvSpPr>
          <p:spPr>
            <a:xfrm>
              <a:off x="2083093" y="4276859"/>
              <a:ext cx="1531102" cy="676360"/>
            </a:xfrm>
            <a:prstGeom prst="rect">
              <a:avLst/>
            </a:prstGeom>
          </p:spPr>
          <p:txBody>
            <a:bodyPr wrap="square">
              <a:spAutoFit/>
            </a:bodyPr>
            <a:lstStyle/>
            <a:p>
              <a:pPr algn="ctr"/>
              <a:r>
                <a:rPr lang="en-IN" sz="1600" b="1" dirty="0" smtClean="0">
                  <a:latin typeface="Times New Roman" panose="02020603050405020304" pitchFamily="18" charset="0"/>
                  <a:cs typeface="Times New Roman" panose="02020603050405020304" pitchFamily="18" charset="0"/>
                </a:rPr>
                <a:t>Tensor flow and  Keras </a:t>
              </a:r>
              <a:endParaRPr lang="en-IN" sz="1600" dirty="0"/>
            </a:p>
          </p:txBody>
        </p:sp>
        <p:sp>
          <p:nvSpPr>
            <p:cNvPr id="17" name="Rectangle 16"/>
            <p:cNvSpPr/>
            <p:nvPr/>
          </p:nvSpPr>
          <p:spPr>
            <a:xfrm>
              <a:off x="5701860" y="3927530"/>
              <a:ext cx="1892999" cy="1388319"/>
            </a:xfrm>
            <a:prstGeom prst="rect">
              <a:avLst/>
            </a:prstGeom>
            <a:ln>
              <a:solidFill>
                <a:schemeClr val="tx1"/>
              </a:solidFill>
            </a:ln>
          </p:spPr>
          <p:txBody>
            <a:bodyPr wrap="square">
              <a:spAutoFit/>
            </a:bodyPr>
            <a:lstStyle/>
            <a:p>
              <a:pPr algn="just">
                <a:lnSpc>
                  <a:spcPct val="150000"/>
                </a:lnSpc>
              </a:pPr>
              <a:r>
                <a:rPr lang="en-US" sz="1600" b="1" dirty="0" smtClean="0">
                  <a:latin typeface="Times New Roman" pitchFamily="18" charset="0"/>
                  <a:cs typeface="Times New Roman" pitchFamily="18" charset="0"/>
                </a:rPr>
                <a:t>CNN Model </a:t>
              </a:r>
              <a:r>
                <a:rPr lang="en-US" sz="1600" b="1" dirty="0" err="1" smtClean="0">
                  <a:latin typeface="Times New Roman" pitchFamily="18" charset="0"/>
                  <a:cs typeface="Times New Roman" pitchFamily="18" charset="0"/>
                </a:rPr>
                <a:t>CNNAlgorithm</a:t>
              </a:r>
              <a:r>
                <a:rPr lang="en-US" sz="1600" b="1" dirty="0" smtClean="0">
                  <a:latin typeface="Times New Roman" pitchFamily="18" charset="0"/>
                  <a:cs typeface="Times New Roman" pitchFamily="18" charset="0"/>
                </a:rPr>
                <a:t> </a:t>
              </a:r>
              <a:r>
                <a:rPr lang="en-US" sz="1600" b="1" dirty="0" smtClean="0">
                  <a:latin typeface="Times New Roman" pitchFamily="18" charset="0"/>
                  <a:cs typeface="Times New Roman" pitchFamily="18" charset="0"/>
                </a:rPr>
                <a:t>Train</a:t>
              </a:r>
            </a:p>
            <a:p>
              <a:pPr algn="just">
                <a:lnSpc>
                  <a:spcPct val="150000"/>
                </a:lnSpc>
              </a:pPr>
              <a:r>
                <a:rPr lang="en-US" sz="1600" b="1" dirty="0" smtClean="0">
                  <a:latin typeface="Times New Roman" pitchFamily="18" charset="0"/>
                  <a:cs typeface="Times New Roman" pitchFamily="18" charset="0"/>
                </a:rPr>
                <a:t>Image Dataset  Model </a:t>
              </a:r>
              <a:endParaRPr lang="en-IN" sz="1600" b="1" dirty="0">
                <a:latin typeface="Times New Roman" pitchFamily="18" charset="0"/>
                <a:cs typeface="Times New Roman" pitchFamily="18" charset="0"/>
              </a:endParaRPr>
            </a:p>
          </p:txBody>
        </p:sp>
        <p:sp>
          <p:nvSpPr>
            <p:cNvPr id="18" name="Right Arrow 17"/>
            <p:cNvSpPr/>
            <p:nvPr/>
          </p:nvSpPr>
          <p:spPr>
            <a:xfrm>
              <a:off x="4553960" y="4522056"/>
              <a:ext cx="1134474" cy="236097"/>
            </a:xfrm>
            <a:prstGeom prst="rightArrow">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IN"/>
            </a:p>
          </p:txBody>
        </p:sp>
        <p:sp>
          <p:nvSpPr>
            <p:cNvPr id="19" name="Right Arrow 18"/>
            <p:cNvSpPr/>
            <p:nvPr/>
          </p:nvSpPr>
          <p:spPr>
            <a:xfrm>
              <a:off x="7594859" y="4522055"/>
              <a:ext cx="1134474" cy="236097"/>
            </a:xfrm>
            <a:prstGeom prst="rightArrow">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5526135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1463" y="272800"/>
            <a:ext cx="10515600" cy="1325563"/>
          </a:xfrm>
        </p:spPr>
        <p:txBody>
          <a:bodyPr/>
          <a:lstStyle/>
          <a:p>
            <a:pPr algn="ctr"/>
            <a:r>
              <a:rPr lang="en-US" b="1" dirty="0" smtClean="0">
                <a:latin typeface="Times New Roman" panose="02020603050405020304" pitchFamily="18" charset="0"/>
                <a:cs typeface="Times New Roman" panose="02020603050405020304" pitchFamily="18" charset="0"/>
              </a:rPr>
              <a:t>CNNALGORITHM </a:t>
            </a:r>
            <a:endParaRPr lang="en-IN" b="1" dirty="0">
              <a:latin typeface="Times New Roman" panose="02020603050405020304" pitchFamily="18" charset="0"/>
              <a:cs typeface="Times New Roman" panose="02020603050405020304" pitchFamily="18" charset="0"/>
            </a:endParaRPr>
          </a:p>
        </p:txBody>
      </p:sp>
      <p:sp>
        <p:nvSpPr>
          <p:cNvPr id="5" name="Rectangle 4"/>
          <p:cNvSpPr/>
          <p:nvPr/>
        </p:nvSpPr>
        <p:spPr>
          <a:xfrm>
            <a:off x="341484" y="170896"/>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7" name="Rectangle 6"/>
          <p:cNvSpPr/>
          <p:nvPr/>
        </p:nvSpPr>
        <p:spPr>
          <a:xfrm>
            <a:off x="2318197" y="2034863"/>
            <a:ext cx="1751527" cy="1926934"/>
          </a:xfrm>
          <a:prstGeom prst="rect">
            <a:avLst/>
          </a:prstGeom>
          <a:ln w="57150"/>
        </p:spPr>
        <p:style>
          <a:lnRef idx="2">
            <a:schemeClr val="dk1"/>
          </a:lnRef>
          <a:fillRef idx="1">
            <a:schemeClr val="lt1"/>
          </a:fillRef>
          <a:effectRef idx="0">
            <a:schemeClr val="dk1"/>
          </a:effectRef>
          <a:fontRef idx="minor">
            <a:schemeClr val="dk1"/>
          </a:fontRef>
        </p:style>
        <p:txBody>
          <a:bodyPr rtlCol="0" anchor="ctr"/>
          <a:lstStyle/>
          <a:p>
            <a:pPr algn="ctr"/>
            <a:r>
              <a:rPr lang="en-US" b="1" dirty="0" smtClean="0">
                <a:latin typeface="Times New Roman" panose="02020603050405020304" pitchFamily="18" charset="0"/>
                <a:cs typeface="Times New Roman" panose="02020603050405020304" pitchFamily="18" charset="0"/>
              </a:rPr>
              <a:t>Input Image 256*256*3</a:t>
            </a:r>
            <a:endParaRPr lang="en-IN" b="1" dirty="0">
              <a:latin typeface="Times New Roman" panose="02020603050405020304" pitchFamily="18" charset="0"/>
              <a:cs typeface="Times New Roman" panose="02020603050405020304" pitchFamily="18" charset="0"/>
            </a:endParaRPr>
          </a:p>
        </p:txBody>
      </p:sp>
      <p:sp>
        <p:nvSpPr>
          <p:cNvPr id="8" name="Right Arrow 7"/>
          <p:cNvSpPr/>
          <p:nvPr/>
        </p:nvSpPr>
        <p:spPr>
          <a:xfrm>
            <a:off x="1970468" y="3000777"/>
            <a:ext cx="347729" cy="203613"/>
          </a:xfrm>
          <a:prstGeom prst="rightArrow">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IN"/>
          </a:p>
        </p:txBody>
      </p:sp>
      <p:sp>
        <p:nvSpPr>
          <p:cNvPr id="9" name="Rectangle 8"/>
          <p:cNvSpPr/>
          <p:nvPr/>
        </p:nvSpPr>
        <p:spPr>
          <a:xfrm>
            <a:off x="3490175" y="2202287"/>
            <a:ext cx="373487" cy="334851"/>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grpSp>
        <p:nvGrpSpPr>
          <p:cNvPr id="16" name="Group 15"/>
          <p:cNvGrpSpPr/>
          <p:nvPr/>
        </p:nvGrpSpPr>
        <p:grpSpPr>
          <a:xfrm>
            <a:off x="4443948" y="2034863"/>
            <a:ext cx="2807594" cy="2590195"/>
            <a:chOff x="4443948" y="2034863"/>
            <a:chExt cx="2807594" cy="2590195"/>
          </a:xfrm>
        </p:grpSpPr>
        <p:sp>
          <p:nvSpPr>
            <p:cNvPr id="10" name="Rectangle 9"/>
            <p:cNvSpPr/>
            <p:nvPr/>
          </p:nvSpPr>
          <p:spPr>
            <a:xfrm>
              <a:off x="4443948" y="2034863"/>
              <a:ext cx="2019504" cy="19730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1" name="Rectangle 10"/>
            <p:cNvSpPr/>
            <p:nvPr/>
          </p:nvSpPr>
          <p:spPr>
            <a:xfrm>
              <a:off x="4696966" y="2198483"/>
              <a:ext cx="2019504" cy="19730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2" name="Rectangle 11"/>
            <p:cNvSpPr/>
            <p:nvPr/>
          </p:nvSpPr>
          <p:spPr>
            <a:xfrm>
              <a:off x="4949984" y="2460504"/>
              <a:ext cx="2019504" cy="19730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3" name="Rectangle 12"/>
            <p:cNvSpPr/>
            <p:nvPr/>
          </p:nvSpPr>
          <p:spPr>
            <a:xfrm>
              <a:off x="5232038" y="2651996"/>
              <a:ext cx="2019504" cy="19730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smtClean="0">
                  <a:latin typeface="Times New Roman" panose="02020603050405020304" pitchFamily="18" charset="0"/>
                  <a:cs typeface="Times New Roman" panose="02020603050405020304" pitchFamily="18" charset="0"/>
                </a:rPr>
                <a:t>Convolutional Layer </a:t>
              </a:r>
              <a:endParaRPr lang="en-IN" b="1" dirty="0">
                <a:latin typeface="Times New Roman" panose="02020603050405020304" pitchFamily="18" charset="0"/>
                <a:cs typeface="Times New Roman" panose="02020603050405020304" pitchFamily="18" charset="0"/>
              </a:endParaRPr>
            </a:p>
          </p:txBody>
        </p:sp>
      </p:grpSp>
      <p:sp>
        <p:nvSpPr>
          <p:cNvPr id="15" name="Right Arrow 14"/>
          <p:cNvSpPr/>
          <p:nvPr/>
        </p:nvSpPr>
        <p:spPr>
          <a:xfrm>
            <a:off x="4096219" y="2896523"/>
            <a:ext cx="347729" cy="203613"/>
          </a:xfrm>
          <a:prstGeom prst="rightArrow">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IN"/>
          </a:p>
        </p:txBody>
      </p:sp>
      <p:sp>
        <p:nvSpPr>
          <p:cNvPr id="17" name="Right Arrow 16"/>
          <p:cNvSpPr/>
          <p:nvPr/>
        </p:nvSpPr>
        <p:spPr>
          <a:xfrm>
            <a:off x="7256439" y="2896523"/>
            <a:ext cx="347729" cy="203613"/>
          </a:xfrm>
          <a:prstGeom prst="rightArrow">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IN"/>
          </a:p>
        </p:txBody>
      </p:sp>
      <p:grpSp>
        <p:nvGrpSpPr>
          <p:cNvPr id="27" name="Group 26"/>
          <p:cNvGrpSpPr/>
          <p:nvPr/>
        </p:nvGrpSpPr>
        <p:grpSpPr>
          <a:xfrm>
            <a:off x="7601384" y="2434107"/>
            <a:ext cx="1511121" cy="1471260"/>
            <a:chOff x="7753082" y="2034863"/>
            <a:chExt cx="1511121" cy="1471260"/>
          </a:xfrm>
        </p:grpSpPr>
        <p:sp>
          <p:nvSpPr>
            <p:cNvPr id="18" name="Rectangle 17"/>
            <p:cNvSpPr/>
            <p:nvPr/>
          </p:nvSpPr>
          <p:spPr>
            <a:xfrm>
              <a:off x="7753082" y="2034863"/>
              <a:ext cx="901521" cy="86166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2" name="Rectangle 21"/>
            <p:cNvSpPr/>
            <p:nvPr/>
          </p:nvSpPr>
          <p:spPr>
            <a:xfrm>
              <a:off x="7905482" y="2187263"/>
              <a:ext cx="901521" cy="86166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3" name="Rectangle 22"/>
            <p:cNvSpPr/>
            <p:nvPr/>
          </p:nvSpPr>
          <p:spPr>
            <a:xfrm>
              <a:off x="8057882" y="2339663"/>
              <a:ext cx="901521" cy="86166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4" name="Rectangle 23"/>
            <p:cNvSpPr/>
            <p:nvPr/>
          </p:nvSpPr>
          <p:spPr>
            <a:xfrm>
              <a:off x="8210282" y="2492063"/>
              <a:ext cx="901521" cy="86166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5" name="Rectangle 24"/>
            <p:cNvSpPr/>
            <p:nvPr/>
          </p:nvSpPr>
          <p:spPr>
            <a:xfrm>
              <a:off x="8362682" y="2644463"/>
              <a:ext cx="901521" cy="86166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b="1" dirty="0" smtClean="0">
                  <a:latin typeface="Times New Roman" panose="02020603050405020304" pitchFamily="18" charset="0"/>
                  <a:cs typeface="Times New Roman" panose="02020603050405020304" pitchFamily="18" charset="0"/>
                </a:rPr>
                <a:t>Pooling layer </a:t>
              </a:r>
              <a:endParaRPr lang="en-IN" sz="1600" dirty="0"/>
            </a:p>
          </p:txBody>
        </p:sp>
      </p:grpSp>
      <p:grpSp>
        <p:nvGrpSpPr>
          <p:cNvPr id="35" name="Group 34"/>
          <p:cNvGrpSpPr/>
          <p:nvPr/>
        </p:nvGrpSpPr>
        <p:grpSpPr>
          <a:xfrm>
            <a:off x="9860875" y="1975369"/>
            <a:ext cx="464331" cy="3859995"/>
            <a:chOff x="9888018" y="2034863"/>
            <a:chExt cx="464331" cy="3859995"/>
          </a:xfrm>
        </p:grpSpPr>
        <p:sp>
          <p:nvSpPr>
            <p:cNvPr id="28" name="Oval 27"/>
            <p:cNvSpPr/>
            <p:nvPr/>
          </p:nvSpPr>
          <p:spPr>
            <a:xfrm>
              <a:off x="9888018" y="2034863"/>
              <a:ext cx="450760" cy="52803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9" name="Oval 28"/>
            <p:cNvSpPr/>
            <p:nvPr/>
          </p:nvSpPr>
          <p:spPr>
            <a:xfrm>
              <a:off x="9888018" y="2846096"/>
              <a:ext cx="450760" cy="52803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0" name="Oval 29"/>
            <p:cNvSpPr/>
            <p:nvPr/>
          </p:nvSpPr>
          <p:spPr>
            <a:xfrm>
              <a:off x="9901589" y="3600409"/>
              <a:ext cx="450760" cy="52803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1" name="Oval 30"/>
            <p:cNvSpPr/>
            <p:nvPr/>
          </p:nvSpPr>
          <p:spPr>
            <a:xfrm>
              <a:off x="9896978" y="4386799"/>
              <a:ext cx="450760" cy="52803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2" name="Oval 31"/>
            <p:cNvSpPr/>
            <p:nvPr/>
          </p:nvSpPr>
          <p:spPr>
            <a:xfrm>
              <a:off x="9896978" y="5366825"/>
              <a:ext cx="450760" cy="52803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grpSp>
      <p:grpSp>
        <p:nvGrpSpPr>
          <p:cNvPr id="36" name="Group 35"/>
          <p:cNvGrpSpPr/>
          <p:nvPr/>
        </p:nvGrpSpPr>
        <p:grpSpPr>
          <a:xfrm>
            <a:off x="10656867" y="3100136"/>
            <a:ext cx="464331" cy="1282346"/>
            <a:chOff x="10670089" y="3189062"/>
            <a:chExt cx="464331" cy="1282346"/>
          </a:xfrm>
        </p:grpSpPr>
        <p:sp>
          <p:nvSpPr>
            <p:cNvPr id="33" name="Oval 32"/>
            <p:cNvSpPr/>
            <p:nvPr/>
          </p:nvSpPr>
          <p:spPr>
            <a:xfrm>
              <a:off x="10670089" y="3189062"/>
              <a:ext cx="450760" cy="52803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4" name="Oval 33"/>
            <p:cNvSpPr/>
            <p:nvPr/>
          </p:nvSpPr>
          <p:spPr>
            <a:xfrm>
              <a:off x="10683660" y="3943375"/>
              <a:ext cx="450760" cy="52803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grpSp>
      <p:cxnSp>
        <p:nvCxnSpPr>
          <p:cNvPr id="38" name="Straight Arrow Connector 37"/>
          <p:cNvCxnSpPr>
            <a:stCxn id="25" idx="3"/>
            <a:endCxn id="28" idx="2"/>
          </p:cNvCxnSpPr>
          <p:nvPr/>
        </p:nvCxnSpPr>
        <p:spPr>
          <a:xfrm flipV="1">
            <a:off x="9112505" y="2239386"/>
            <a:ext cx="748370" cy="1235151"/>
          </a:xfrm>
          <a:prstGeom prst="straightConnector1">
            <a:avLst/>
          </a:prstGeom>
          <a:ln>
            <a:prstDash val="lgDash"/>
            <a:tailEnd type="triangle"/>
          </a:ln>
        </p:spPr>
        <p:style>
          <a:lnRef idx="3">
            <a:schemeClr val="dk1"/>
          </a:lnRef>
          <a:fillRef idx="0">
            <a:schemeClr val="dk1"/>
          </a:fillRef>
          <a:effectRef idx="2">
            <a:schemeClr val="dk1"/>
          </a:effectRef>
          <a:fontRef idx="minor">
            <a:schemeClr val="tx1"/>
          </a:fontRef>
        </p:style>
      </p:cxnSp>
      <p:cxnSp>
        <p:nvCxnSpPr>
          <p:cNvPr id="39" name="Straight Arrow Connector 38"/>
          <p:cNvCxnSpPr>
            <a:stCxn id="25" idx="3"/>
            <a:endCxn id="29" idx="2"/>
          </p:cNvCxnSpPr>
          <p:nvPr/>
        </p:nvCxnSpPr>
        <p:spPr>
          <a:xfrm flipV="1">
            <a:off x="9112505" y="3050619"/>
            <a:ext cx="748370" cy="423918"/>
          </a:xfrm>
          <a:prstGeom prst="straightConnector1">
            <a:avLst/>
          </a:prstGeom>
          <a:ln>
            <a:prstDash val="lgDash"/>
            <a:tailEnd type="triangle"/>
          </a:ln>
        </p:spPr>
        <p:style>
          <a:lnRef idx="3">
            <a:schemeClr val="dk1"/>
          </a:lnRef>
          <a:fillRef idx="0">
            <a:schemeClr val="dk1"/>
          </a:fillRef>
          <a:effectRef idx="2">
            <a:schemeClr val="dk1"/>
          </a:effectRef>
          <a:fontRef idx="minor">
            <a:schemeClr val="tx1"/>
          </a:fontRef>
        </p:style>
      </p:cxnSp>
      <p:cxnSp>
        <p:nvCxnSpPr>
          <p:cNvPr id="42" name="Straight Arrow Connector 41"/>
          <p:cNvCxnSpPr>
            <a:stCxn id="25" idx="3"/>
            <a:endCxn id="30" idx="2"/>
          </p:cNvCxnSpPr>
          <p:nvPr/>
        </p:nvCxnSpPr>
        <p:spPr>
          <a:xfrm>
            <a:off x="9112505" y="3474537"/>
            <a:ext cx="761941" cy="330395"/>
          </a:xfrm>
          <a:prstGeom prst="straightConnector1">
            <a:avLst/>
          </a:prstGeom>
          <a:ln>
            <a:prstDash val="lgDash"/>
            <a:tailEnd type="triangle"/>
          </a:ln>
        </p:spPr>
        <p:style>
          <a:lnRef idx="3">
            <a:schemeClr val="dk1"/>
          </a:lnRef>
          <a:fillRef idx="0">
            <a:schemeClr val="dk1"/>
          </a:fillRef>
          <a:effectRef idx="2">
            <a:schemeClr val="dk1"/>
          </a:effectRef>
          <a:fontRef idx="minor">
            <a:schemeClr val="tx1"/>
          </a:fontRef>
        </p:style>
      </p:cxnSp>
      <p:cxnSp>
        <p:nvCxnSpPr>
          <p:cNvPr id="45" name="Straight Arrow Connector 44"/>
          <p:cNvCxnSpPr>
            <a:endCxn id="31" idx="2"/>
          </p:cNvCxnSpPr>
          <p:nvPr/>
        </p:nvCxnSpPr>
        <p:spPr>
          <a:xfrm>
            <a:off x="9122745" y="3472726"/>
            <a:ext cx="747090" cy="1118596"/>
          </a:xfrm>
          <a:prstGeom prst="straightConnector1">
            <a:avLst/>
          </a:prstGeom>
          <a:ln>
            <a:prstDash val="lgDash"/>
            <a:tailEnd type="triangle"/>
          </a:ln>
        </p:spPr>
        <p:style>
          <a:lnRef idx="3">
            <a:schemeClr val="dk1"/>
          </a:lnRef>
          <a:fillRef idx="0">
            <a:schemeClr val="dk1"/>
          </a:fillRef>
          <a:effectRef idx="2">
            <a:schemeClr val="dk1"/>
          </a:effectRef>
          <a:fontRef idx="minor">
            <a:schemeClr val="tx1"/>
          </a:fontRef>
        </p:style>
      </p:cxnSp>
      <p:cxnSp>
        <p:nvCxnSpPr>
          <p:cNvPr id="47" name="Straight Arrow Connector 46"/>
          <p:cNvCxnSpPr>
            <a:stCxn id="25" idx="3"/>
            <a:endCxn id="32" idx="2"/>
          </p:cNvCxnSpPr>
          <p:nvPr/>
        </p:nvCxnSpPr>
        <p:spPr>
          <a:xfrm>
            <a:off x="9112505" y="3474537"/>
            <a:ext cx="757330" cy="2096811"/>
          </a:xfrm>
          <a:prstGeom prst="straightConnector1">
            <a:avLst/>
          </a:prstGeom>
          <a:ln>
            <a:prstDash val="lgDash"/>
            <a:tailEnd type="triangle"/>
          </a:ln>
        </p:spPr>
        <p:style>
          <a:lnRef idx="3">
            <a:schemeClr val="dk1"/>
          </a:lnRef>
          <a:fillRef idx="0">
            <a:schemeClr val="dk1"/>
          </a:fillRef>
          <a:effectRef idx="2">
            <a:schemeClr val="dk1"/>
          </a:effectRef>
          <a:fontRef idx="minor">
            <a:schemeClr val="tx1"/>
          </a:fontRef>
        </p:style>
      </p:cxnSp>
      <p:sp>
        <p:nvSpPr>
          <p:cNvPr id="50" name="Rectangle 49"/>
          <p:cNvSpPr/>
          <p:nvPr/>
        </p:nvSpPr>
        <p:spPr>
          <a:xfrm>
            <a:off x="9444355" y="1481886"/>
            <a:ext cx="1270541" cy="369332"/>
          </a:xfrm>
          <a:prstGeom prst="rect">
            <a:avLst/>
          </a:prstGeom>
        </p:spPr>
        <p:txBody>
          <a:bodyPr wrap="none">
            <a:spAutoFit/>
          </a:bodyPr>
          <a:lstStyle/>
          <a:p>
            <a:pPr algn="ctr"/>
            <a:r>
              <a:rPr lang="en-US" b="1" dirty="0" smtClean="0">
                <a:latin typeface="Times New Roman" panose="02020603050405020304" pitchFamily="18" charset="0"/>
                <a:cs typeface="Times New Roman" panose="02020603050405020304" pitchFamily="18" charset="0"/>
              </a:rPr>
              <a:t>FCN layer </a:t>
            </a:r>
            <a:endParaRPr lang="en-IN" dirty="0"/>
          </a:p>
        </p:txBody>
      </p:sp>
      <p:cxnSp>
        <p:nvCxnSpPr>
          <p:cNvPr id="58" name="Straight Arrow Connector 57"/>
          <p:cNvCxnSpPr>
            <a:stCxn id="28" idx="6"/>
            <a:endCxn id="33" idx="1"/>
          </p:cNvCxnSpPr>
          <p:nvPr/>
        </p:nvCxnSpPr>
        <p:spPr>
          <a:xfrm>
            <a:off x="10311635" y="2239386"/>
            <a:ext cx="411244" cy="938079"/>
          </a:xfrm>
          <a:prstGeom prst="straightConnector1">
            <a:avLst/>
          </a:prstGeom>
          <a:ln>
            <a:prstDash val="dashDot"/>
            <a:tailEnd type="triangle"/>
          </a:ln>
        </p:spPr>
        <p:style>
          <a:lnRef idx="3">
            <a:schemeClr val="dk1"/>
          </a:lnRef>
          <a:fillRef idx="0">
            <a:schemeClr val="dk1"/>
          </a:fillRef>
          <a:effectRef idx="2">
            <a:schemeClr val="dk1"/>
          </a:effectRef>
          <a:fontRef idx="minor">
            <a:schemeClr val="tx1"/>
          </a:fontRef>
        </p:style>
      </p:cxnSp>
      <p:cxnSp>
        <p:nvCxnSpPr>
          <p:cNvPr id="59" name="Straight Arrow Connector 58"/>
          <p:cNvCxnSpPr>
            <a:endCxn id="33" idx="1"/>
          </p:cNvCxnSpPr>
          <p:nvPr/>
        </p:nvCxnSpPr>
        <p:spPr>
          <a:xfrm>
            <a:off x="10325180" y="3061048"/>
            <a:ext cx="397699" cy="116417"/>
          </a:xfrm>
          <a:prstGeom prst="straightConnector1">
            <a:avLst/>
          </a:prstGeom>
          <a:ln>
            <a:prstDash val="dashDot"/>
            <a:tailEnd type="triangle"/>
          </a:ln>
        </p:spPr>
        <p:style>
          <a:lnRef idx="3">
            <a:schemeClr val="dk1"/>
          </a:lnRef>
          <a:fillRef idx="0">
            <a:schemeClr val="dk1"/>
          </a:fillRef>
          <a:effectRef idx="2">
            <a:schemeClr val="dk1"/>
          </a:effectRef>
          <a:fontRef idx="minor">
            <a:schemeClr val="tx1"/>
          </a:fontRef>
        </p:style>
      </p:cxnSp>
      <p:cxnSp>
        <p:nvCxnSpPr>
          <p:cNvPr id="61" name="Straight Arrow Connector 60"/>
          <p:cNvCxnSpPr/>
          <p:nvPr/>
        </p:nvCxnSpPr>
        <p:spPr>
          <a:xfrm>
            <a:off x="10309623" y="3912240"/>
            <a:ext cx="397699" cy="116417"/>
          </a:xfrm>
          <a:prstGeom prst="straightConnector1">
            <a:avLst/>
          </a:prstGeom>
          <a:ln>
            <a:prstDash val="dashDot"/>
            <a:tailEnd type="triangle"/>
          </a:ln>
        </p:spPr>
        <p:style>
          <a:lnRef idx="3">
            <a:schemeClr val="dk1"/>
          </a:lnRef>
          <a:fillRef idx="0">
            <a:schemeClr val="dk1"/>
          </a:fillRef>
          <a:effectRef idx="2">
            <a:schemeClr val="dk1"/>
          </a:effectRef>
          <a:fontRef idx="minor">
            <a:schemeClr val="tx1"/>
          </a:fontRef>
        </p:style>
      </p:cxnSp>
      <p:cxnSp>
        <p:nvCxnSpPr>
          <p:cNvPr id="62" name="Straight Arrow Connector 61"/>
          <p:cNvCxnSpPr>
            <a:endCxn id="34" idx="2"/>
          </p:cNvCxnSpPr>
          <p:nvPr/>
        </p:nvCxnSpPr>
        <p:spPr>
          <a:xfrm flipV="1">
            <a:off x="10320268" y="4118466"/>
            <a:ext cx="350170" cy="516744"/>
          </a:xfrm>
          <a:prstGeom prst="straightConnector1">
            <a:avLst/>
          </a:prstGeom>
          <a:ln>
            <a:prstDash val="dashDot"/>
            <a:tailEnd type="triangle"/>
          </a:ln>
        </p:spPr>
        <p:style>
          <a:lnRef idx="3">
            <a:schemeClr val="dk1"/>
          </a:lnRef>
          <a:fillRef idx="0">
            <a:schemeClr val="dk1"/>
          </a:fillRef>
          <a:effectRef idx="2">
            <a:schemeClr val="dk1"/>
          </a:effectRef>
          <a:fontRef idx="minor">
            <a:schemeClr val="tx1"/>
          </a:fontRef>
        </p:style>
      </p:cxnSp>
      <p:cxnSp>
        <p:nvCxnSpPr>
          <p:cNvPr id="64" name="Straight Arrow Connector 63"/>
          <p:cNvCxnSpPr>
            <a:stCxn id="32" idx="7"/>
            <a:endCxn id="34" idx="4"/>
          </p:cNvCxnSpPr>
          <p:nvPr/>
        </p:nvCxnSpPr>
        <p:spPr>
          <a:xfrm flipV="1">
            <a:off x="10254583" y="4382482"/>
            <a:ext cx="641235" cy="1002178"/>
          </a:xfrm>
          <a:prstGeom prst="straightConnector1">
            <a:avLst/>
          </a:prstGeom>
          <a:ln>
            <a:prstDash val="dashDot"/>
            <a:tailEnd type="triangle"/>
          </a:ln>
        </p:spPr>
        <p:style>
          <a:lnRef idx="3">
            <a:schemeClr val="dk1"/>
          </a:lnRef>
          <a:fillRef idx="0">
            <a:schemeClr val="dk1"/>
          </a:fillRef>
          <a:effectRef idx="2">
            <a:schemeClr val="dk1"/>
          </a:effectRef>
          <a:fontRef idx="minor">
            <a:schemeClr val="tx1"/>
          </a:fontRef>
        </p:style>
      </p:cxnSp>
      <p:sp>
        <p:nvSpPr>
          <p:cNvPr id="67" name="Rectangle 66"/>
          <p:cNvSpPr/>
          <p:nvPr/>
        </p:nvSpPr>
        <p:spPr>
          <a:xfrm>
            <a:off x="10918070" y="2786602"/>
            <a:ext cx="300082" cy="369332"/>
          </a:xfrm>
          <a:prstGeom prst="rect">
            <a:avLst/>
          </a:prstGeom>
        </p:spPr>
        <p:txBody>
          <a:bodyPr wrap="none">
            <a:spAutoFit/>
          </a:bodyPr>
          <a:lstStyle/>
          <a:p>
            <a:pPr algn="ctr"/>
            <a:r>
              <a:rPr lang="en-US" b="1" dirty="0" smtClean="0">
                <a:latin typeface="Times New Roman" panose="02020603050405020304" pitchFamily="18" charset="0"/>
                <a:cs typeface="Times New Roman" panose="02020603050405020304" pitchFamily="18" charset="0"/>
              </a:rPr>
              <a:t>0</a:t>
            </a:r>
            <a:endParaRPr lang="en-IN" dirty="0"/>
          </a:p>
        </p:txBody>
      </p:sp>
      <p:sp>
        <p:nvSpPr>
          <p:cNvPr id="69" name="Rectangle 68"/>
          <p:cNvSpPr/>
          <p:nvPr/>
        </p:nvSpPr>
        <p:spPr>
          <a:xfrm>
            <a:off x="11108279" y="3986879"/>
            <a:ext cx="300083" cy="369332"/>
          </a:xfrm>
          <a:prstGeom prst="rect">
            <a:avLst/>
          </a:prstGeom>
        </p:spPr>
        <p:txBody>
          <a:bodyPr wrap="none">
            <a:spAutoFit/>
          </a:bodyPr>
          <a:lstStyle/>
          <a:p>
            <a:pPr algn="ctr"/>
            <a:r>
              <a:rPr lang="en-US" b="1" dirty="0">
                <a:latin typeface="Times New Roman" panose="02020603050405020304" pitchFamily="18" charset="0"/>
                <a:cs typeface="Times New Roman" panose="02020603050405020304" pitchFamily="18" charset="0"/>
              </a:rPr>
              <a:t>1</a:t>
            </a:r>
            <a:endParaRPr lang="en-IN" dirty="0"/>
          </a:p>
        </p:txBody>
      </p:sp>
      <p:cxnSp>
        <p:nvCxnSpPr>
          <p:cNvPr id="71" name="Straight Arrow Connector 70"/>
          <p:cNvCxnSpPr>
            <a:stCxn id="33" idx="6"/>
          </p:cNvCxnSpPr>
          <p:nvPr/>
        </p:nvCxnSpPr>
        <p:spPr>
          <a:xfrm flipV="1">
            <a:off x="11107627" y="3364152"/>
            <a:ext cx="650784"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72" name="Straight Arrow Connector 71"/>
          <p:cNvCxnSpPr/>
          <p:nvPr/>
        </p:nvCxnSpPr>
        <p:spPr>
          <a:xfrm flipV="1">
            <a:off x="11135618" y="4007149"/>
            <a:ext cx="650784" cy="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74" name="Rectangle 73"/>
          <p:cNvSpPr/>
          <p:nvPr/>
        </p:nvSpPr>
        <p:spPr>
          <a:xfrm>
            <a:off x="11111246" y="3019724"/>
            <a:ext cx="998992" cy="369332"/>
          </a:xfrm>
          <a:prstGeom prst="rect">
            <a:avLst/>
          </a:prstGeom>
        </p:spPr>
        <p:txBody>
          <a:bodyPr wrap="none">
            <a:spAutoFit/>
          </a:bodyPr>
          <a:lstStyle/>
          <a:p>
            <a:pPr algn="ctr"/>
            <a:r>
              <a:rPr lang="en-US" b="1" dirty="0" smtClean="0">
                <a:latin typeface="Times New Roman" panose="02020603050405020304" pitchFamily="18" charset="0"/>
                <a:cs typeface="Times New Roman" panose="02020603050405020304" pitchFamily="18" charset="0"/>
              </a:rPr>
              <a:t>Normal </a:t>
            </a:r>
            <a:endParaRPr lang="en-IN" dirty="0"/>
          </a:p>
        </p:txBody>
      </p:sp>
      <p:sp>
        <p:nvSpPr>
          <p:cNvPr id="75" name="Rectangle 74"/>
          <p:cNvSpPr/>
          <p:nvPr/>
        </p:nvSpPr>
        <p:spPr>
          <a:xfrm>
            <a:off x="10961674" y="3610763"/>
            <a:ext cx="1293944" cy="369332"/>
          </a:xfrm>
          <a:prstGeom prst="rect">
            <a:avLst/>
          </a:prstGeom>
        </p:spPr>
        <p:txBody>
          <a:bodyPr wrap="none">
            <a:spAutoFit/>
          </a:bodyPr>
          <a:lstStyle/>
          <a:p>
            <a:pPr algn="ctr"/>
            <a:r>
              <a:rPr lang="en-US" b="1" dirty="0" smtClean="0">
                <a:latin typeface="Times New Roman" panose="02020603050405020304" pitchFamily="18" charset="0"/>
                <a:cs typeface="Times New Roman" panose="02020603050405020304" pitchFamily="18" charset="0"/>
              </a:rPr>
              <a:t>Abnormal </a:t>
            </a:r>
            <a:endParaRPr lang="en-IN" dirty="0"/>
          </a:p>
        </p:txBody>
      </p:sp>
      <p:pic>
        <p:nvPicPr>
          <p:cNvPr id="48" name="Picture 2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8652" y="2622109"/>
            <a:ext cx="904875" cy="904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828371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3600" b="1" dirty="0" smtClean="0">
                <a:latin typeface="Times New Roman" panose="02020603050405020304" pitchFamily="18" charset="0"/>
                <a:cs typeface="Times New Roman" panose="02020603050405020304" pitchFamily="18" charset="0"/>
              </a:rPr>
              <a:t>PREDICTION </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1463" y="1397546"/>
            <a:ext cx="11658600" cy="5231853"/>
          </a:xfrm>
        </p:spPr>
        <p:txBody>
          <a:bodyPr>
            <a:normAutofit/>
          </a:bodyPr>
          <a:lstStyle/>
          <a:p>
            <a:pPr algn="just">
              <a:lnSpc>
                <a:spcPct val="150000"/>
              </a:lnSpc>
              <a:buFont typeface="Wingdings" panose="05000000000000000000" pitchFamily="2" charset="2"/>
              <a:buChar char="§"/>
            </a:pPr>
            <a:r>
              <a:rPr lang="en-IN" sz="1800" dirty="0">
                <a:latin typeface="Times New Roman" panose="02020603050405020304" pitchFamily="18" charset="0"/>
                <a:cs typeface="Times New Roman" panose="02020603050405020304" pitchFamily="18" charset="0"/>
              </a:rPr>
              <a:t> It’s a process of predicting the diseases from the dataset. </a:t>
            </a:r>
          </a:p>
          <a:p>
            <a:pPr algn="just">
              <a:lnSpc>
                <a:spcPct val="150000"/>
              </a:lnSpc>
              <a:buFont typeface="Wingdings" panose="05000000000000000000" pitchFamily="2" charset="2"/>
              <a:buChar char="§"/>
            </a:pPr>
            <a:r>
              <a:rPr lang="en-IN" sz="1800" dirty="0">
                <a:latin typeface="Times New Roman" panose="02020603050405020304" pitchFamily="18" charset="0"/>
                <a:cs typeface="Times New Roman" panose="02020603050405020304" pitchFamily="18" charset="0"/>
              </a:rPr>
              <a:t>This project will effectively predict the data from dataset by enhancing the performance of the overall prediction results.</a:t>
            </a:r>
          </a:p>
          <a:p>
            <a:pPr algn="just">
              <a:lnSpc>
                <a:spcPct val="150000"/>
              </a:lnSpc>
              <a:buFont typeface="Wingdings" panose="05000000000000000000" pitchFamily="2" charset="2"/>
              <a:buChar char="§"/>
            </a:pPr>
            <a:r>
              <a:rPr lang="en-IN" sz="1800" dirty="0">
                <a:latin typeface="Times New Roman" panose="02020603050405020304" pitchFamily="18" charset="0"/>
                <a:cs typeface="Times New Roman" panose="02020603050405020304" pitchFamily="18" charset="0"/>
              </a:rPr>
              <a:t>And also find the accuracy of the prediction for the output.</a:t>
            </a:r>
          </a:p>
          <a:p>
            <a:pPr algn="just">
              <a:lnSpc>
                <a:spcPct val="150000"/>
              </a:lnSpc>
              <a:buFont typeface="Wingdings" panose="05000000000000000000" pitchFamily="2" charset="2"/>
              <a:buChar char="§"/>
            </a:pPr>
            <a:endParaRPr lang="en-IN" sz="1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grpSp>
        <p:nvGrpSpPr>
          <p:cNvPr id="8" name="Group 7"/>
          <p:cNvGrpSpPr/>
          <p:nvPr/>
        </p:nvGrpSpPr>
        <p:grpSpPr>
          <a:xfrm>
            <a:off x="1030312" y="4237152"/>
            <a:ext cx="9358812" cy="1687129"/>
            <a:chOff x="2083093" y="3834420"/>
            <a:chExt cx="8177340" cy="1951360"/>
          </a:xfrm>
        </p:grpSpPr>
        <p:sp>
          <p:nvSpPr>
            <p:cNvPr id="9" name="Flowchart: Magnetic Disk 8"/>
            <p:cNvSpPr/>
            <p:nvPr/>
          </p:nvSpPr>
          <p:spPr>
            <a:xfrm>
              <a:off x="8766975" y="3946354"/>
              <a:ext cx="1455817" cy="1839426"/>
            </a:xfrm>
            <a:prstGeom prst="flowChartMagneticDisk">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sp>
          <p:nvSpPr>
            <p:cNvPr id="10" name="Rectangle 9"/>
            <p:cNvSpPr/>
            <p:nvPr/>
          </p:nvSpPr>
          <p:spPr>
            <a:xfrm>
              <a:off x="8729331" y="4224385"/>
              <a:ext cx="1531102" cy="1245927"/>
            </a:xfrm>
            <a:prstGeom prst="rect">
              <a:avLst/>
            </a:prstGeom>
          </p:spPr>
          <p:txBody>
            <a:bodyPr wrap="square">
              <a:spAutoFit/>
            </a:bodyPr>
            <a:lstStyle/>
            <a:p>
              <a:pPr algn="ctr"/>
              <a:endParaRPr lang="en-IN" sz="1600" b="1" dirty="0" smtClean="0">
                <a:latin typeface="Times New Roman" panose="02020603050405020304" pitchFamily="18" charset="0"/>
                <a:cs typeface="Times New Roman" panose="02020603050405020304" pitchFamily="18" charset="0"/>
              </a:endParaRPr>
            </a:p>
            <a:p>
              <a:pPr algn="ctr"/>
              <a:r>
                <a:rPr lang="en-US" sz="1600" b="1" dirty="0" smtClean="0">
                  <a:latin typeface="Times New Roman" panose="02020603050405020304" pitchFamily="18" charset="0"/>
                  <a:cs typeface="Times New Roman" panose="02020603050405020304" pitchFamily="18" charset="0"/>
                </a:rPr>
                <a:t>Medicinal </a:t>
              </a:r>
              <a:r>
                <a:rPr lang="en-US" sz="1600" b="1" dirty="0" err="1" smtClean="0">
                  <a:latin typeface="Times New Roman" panose="02020603050405020304" pitchFamily="18" charset="0"/>
                  <a:cs typeface="Times New Roman" panose="02020603050405020304" pitchFamily="18" charset="0"/>
                </a:rPr>
                <a:t>plantNormal</a:t>
              </a:r>
              <a:r>
                <a:rPr lang="en-US" sz="1600" b="1" dirty="0" smtClean="0">
                  <a:latin typeface="Times New Roman" panose="02020603050405020304" pitchFamily="18" charset="0"/>
                  <a:cs typeface="Times New Roman" panose="02020603050405020304" pitchFamily="18" charset="0"/>
                </a:rPr>
                <a:t> </a:t>
              </a:r>
              <a:r>
                <a:rPr lang="en-US" sz="1600" b="1" dirty="0" smtClean="0">
                  <a:latin typeface="Times New Roman" panose="02020603050405020304" pitchFamily="18" charset="0"/>
                  <a:cs typeface="Times New Roman" panose="02020603050405020304" pitchFamily="18" charset="0"/>
                </a:rPr>
                <a:t>/Abnormal  </a:t>
              </a:r>
              <a:endParaRPr lang="en-IN" sz="1600" dirty="0"/>
            </a:p>
          </p:txBody>
        </p:sp>
        <p:sp>
          <p:nvSpPr>
            <p:cNvPr id="11" name="Oval 10"/>
            <p:cNvSpPr/>
            <p:nvPr/>
          </p:nvSpPr>
          <p:spPr>
            <a:xfrm>
              <a:off x="3639151" y="3834420"/>
              <a:ext cx="823174" cy="537917"/>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12" name="Straight Connector 11"/>
            <p:cNvCxnSpPr>
              <a:stCxn id="11" idx="4"/>
            </p:cNvCxnSpPr>
            <p:nvPr/>
          </p:nvCxnSpPr>
          <p:spPr>
            <a:xfrm>
              <a:off x="4050738" y="4372337"/>
              <a:ext cx="0" cy="806439"/>
            </a:xfrm>
            <a:prstGeom prst="line">
              <a:avLst/>
            </a:prstGeom>
            <a:ln w="38100"/>
          </p:spPr>
          <p:style>
            <a:lnRef idx="1">
              <a:schemeClr val="dk1"/>
            </a:lnRef>
            <a:fillRef idx="0">
              <a:schemeClr val="dk1"/>
            </a:fillRef>
            <a:effectRef idx="0">
              <a:schemeClr val="dk1"/>
            </a:effectRef>
            <a:fontRef idx="minor">
              <a:schemeClr val="tx1"/>
            </a:fontRef>
          </p:style>
        </p:cxnSp>
        <p:cxnSp>
          <p:nvCxnSpPr>
            <p:cNvPr id="13" name="Straight Connector 12"/>
            <p:cNvCxnSpPr/>
            <p:nvPr/>
          </p:nvCxnSpPr>
          <p:spPr>
            <a:xfrm>
              <a:off x="3639151" y="4640105"/>
              <a:ext cx="823174"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14" name="Straight Connector 13"/>
            <p:cNvCxnSpPr/>
            <p:nvPr/>
          </p:nvCxnSpPr>
          <p:spPr>
            <a:xfrm flipH="1">
              <a:off x="3768477" y="4652984"/>
              <a:ext cx="282801" cy="324968"/>
            </a:xfrm>
            <a:prstGeom prst="line">
              <a:avLst/>
            </a:prstGeom>
            <a:ln w="38100"/>
          </p:spPr>
          <p:style>
            <a:lnRef idx="1">
              <a:schemeClr val="dk1"/>
            </a:lnRef>
            <a:fillRef idx="0">
              <a:schemeClr val="dk1"/>
            </a:fillRef>
            <a:effectRef idx="0">
              <a:schemeClr val="dk1"/>
            </a:effectRef>
            <a:fontRef idx="minor">
              <a:schemeClr val="tx1"/>
            </a:fontRef>
          </p:style>
        </p:cxnSp>
        <p:cxnSp>
          <p:nvCxnSpPr>
            <p:cNvPr id="15" name="Straight Connector 14"/>
            <p:cNvCxnSpPr/>
            <p:nvPr/>
          </p:nvCxnSpPr>
          <p:spPr>
            <a:xfrm>
              <a:off x="4064154" y="4640105"/>
              <a:ext cx="269385" cy="337847"/>
            </a:xfrm>
            <a:prstGeom prst="line">
              <a:avLst/>
            </a:prstGeom>
            <a:ln w="38100"/>
          </p:spPr>
          <p:style>
            <a:lnRef idx="1">
              <a:schemeClr val="dk1"/>
            </a:lnRef>
            <a:fillRef idx="0">
              <a:schemeClr val="dk1"/>
            </a:fillRef>
            <a:effectRef idx="0">
              <a:schemeClr val="dk1"/>
            </a:effectRef>
            <a:fontRef idx="minor">
              <a:schemeClr val="tx1"/>
            </a:fontRef>
          </p:style>
        </p:cxnSp>
        <p:sp>
          <p:nvSpPr>
            <p:cNvPr id="16" name="Rectangle 15"/>
            <p:cNvSpPr/>
            <p:nvPr/>
          </p:nvSpPr>
          <p:spPr>
            <a:xfrm>
              <a:off x="2083093" y="4276859"/>
              <a:ext cx="1531102" cy="391577"/>
            </a:xfrm>
            <a:prstGeom prst="rect">
              <a:avLst/>
            </a:prstGeom>
          </p:spPr>
          <p:txBody>
            <a:bodyPr wrap="square">
              <a:spAutoFit/>
            </a:bodyPr>
            <a:lstStyle/>
            <a:p>
              <a:pPr algn="ctr"/>
              <a:r>
                <a:rPr lang="en-IN" sz="1600" b="1" dirty="0">
                  <a:latin typeface="Times New Roman" panose="02020603050405020304" pitchFamily="18" charset="0"/>
                  <a:cs typeface="Times New Roman" panose="02020603050405020304" pitchFamily="18" charset="0"/>
                </a:rPr>
                <a:t>Model .h5</a:t>
              </a:r>
              <a:endParaRPr lang="en-IN" sz="1600" dirty="0"/>
            </a:p>
          </p:txBody>
        </p:sp>
        <p:sp>
          <p:nvSpPr>
            <p:cNvPr id="17" name="Rectangle 16"/>
            <p:cNvSpPr/>
            <p:nvPr/>
          </p:nvSpPr>
          <p:spPr>
            <a:xfrm>
              <a:off x="5701860" y="3927530"/>
              <a:ext cx="1892999" cy="1388319"/>
            </a:xfrm>
            <a:prstGeom prst="rect">
              <a:avLst/>
            </a:prstGeom>
            <a:ln>
              <a:solidFill>
                <a:schemeClr val="tx1"/>
              </a:solidFill>
            </a:ln>
          </p:spPr>
          <p:txBody>
            <a:bodyPr wrap="square">
              <a:spAutoFit/>
            </a:bodyPr>
            <a:lstStyle/>
            <a:p>
              <a:pPr algn="just">
                <a:lnSpc>
                  <a:spcPct val="150000"/>
                </a:lnSpc>
              </a:pPr>
              <a:r>
                <a:rPr lang="en-US" sz="1600" b="1" dirty="0" smtClean="0">
                  <a:latin typeface="Times New Roman" pitchFamily="18" charset="0"/>
                  <a:cs typeface="Times New Roman" pitchFamily="18" charset="0"/>
                </a:rPr>
                <a:t>Test </a:t>
              </a:r>
              <a:r>
                <a:rPr lang="en-US" sz="1600" b="1" dirty="0">
                  <a:latin typeface="Times New Roman" pitchFamily="18" charset="0"/>
                  <a:cs typeface="Times New Roman" pitchFamily="18" charset="0"/>
                </a:rPr>
                <a:t> </a:t>
              </a:r>
              <a:r>
                <a:rPr lang="en-US" sz="1600" b="1" dirty="0" smtClean="0">
                  <a:latin typeface="Times New Roman" pitchFamily="18" charset="0"/>
                  <a:cs typeface="Times New Roman" pitchFamily="18" charset="0"/>
                </a:rPr>
                <a:t>Image Dataset  Model </a:t>
              </a:r>
            </a:p>
            <a:p>
              <a:pPr algn="just">
                <a:lnSpc>
                  <a:spcPct val="150000"/>
                </a:lnSpc>
              </a:pPr>
              <a:r>
                <a:rPr lang="en-US" sz="1600" b="1" dirty="0" smtClean="0">
                  <a:latin typeface="Times New Roman" pitchFamily="18" charset="0"/>
                  <a:cs typeface="Times New Roman" pitchFamily="18" charset="0"/>
                </a:rPr>
                <a:t>Model. Predict(TI)</a:t>
              </a:r>
              <a:endParaRPr lang="en-IN" sz="1600" b="1" dirty="0">
                <a:latin typeface="Times New Roman" pitchFamily="18" charset="0"/>
                <a:cs typeface="Times New Roman" pitchFamily="18" charset="0"/>
              </a:endParaRPr>
            </a:p>
          </p:txBody>
        </p:sp>
        <p:sp>
          <p:nvSpPr>
            <p:cNvPr id="18" name="Right Arrow 17"/>
            <p:cNvSpPr/>
            <p:nvPr/>
          </p:nvSpPr>
          <p:spPr>
            <a:xfrm>
              <a:off x="4553960" y="4522056"/>
              <a:ext cx="1134474" cy="236097"/>
            </a:xfrm>
            <a:prstGeom prst="rightArrow">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IN"/>
            </a:p>
          </p:txBody>
        </p:sp>
        <p:sp>
          <p:nvSpPr>
            <p:cNvPr id="19" name="Right Arrow 18"/>
            <p:cNvSpPr/>
            <p:nvPr/>
          </p:nvSpPr>
          <p:spPr>
            <a:xfrm>
              <a:off x="7594859" y="4522055"/>
              <a:ext cx="1134474" cy="236097"/>
            </a:xfrm>
            <a:prstGeom prst="rightArrow">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337015689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3600" b="1" dirty="0" smtClean="0">
                <a:latin typeface="Times New Roman" panose="02020603050405020304" pitchFamily="18" charset="0"/>
                <a:cs typeface="Times New Roman" panose="02020603050405020304" pitchFamily="18" charset="0"/>
              </a:rPr>
              <a:t>PERFORMANCE ANALYSIS </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63639" y="1825625"/>
            <a:ext cx="11466424" cy="4803775"/>
          </a:xfrm>
        </p:spPr>
        <p:txBody>
          <a:bodyPr>
            <a:normAutofit/>
          </a:bodyPr>
          <a:lstStyle/>
          <a:p>
            <a:pPr algn="just">
              <a:lnSpc>
                <a:spcPct val="150000"/>
              </a:lnSpc>
              <a:buFont typeface="Wingdings" panose="05000000000000000000" pitchFamily="2" charset="2"/>
              <a:buChar char="q"/>
            </a:pPr>
            <a:r>
              <a:rPr lang="en-IN" sz="1800" dirty="0">
                <a:latin typeface="Times New Roman" panose="02020603050405020304" pitchFamily="18" charset="0"/>
                <a:cs typeface="Times New Roman" panose="02020603050405020304" pitchFamily="18" charset="0"/>
              </a:rPr>
              <a:t> The Final Result will get generated based on the overall classification and prediction. </a:t>
            </a:r>
            <a:endParaRPr lang="en-IN" sz="1800" dirty="0" smtClean="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r>
              <a:rPr lang="en-IN" sz="1800" dirty="0" smtClean="0">
                <a:latin typeface="Times New Roman" panose="02020603050405020304" pitchFamily="18" charset="0"/>
                <a:cs typeface="Times New Roman" panose="02020603050405020304" pitchFamily="18" charset="0"/>
              </a:rPr>
              <a:t>The </a:t>
            </a:r>
            <a:r>
              <a:rPr lang="en-IN" sz="1800" dirty="0">
                <a:latin typeface="Times New Roman" panose="02020603050405020304" pitchFamily="18" charset="0"/>
                <a:cs typeface="Times New Roman" panose="02020603050405020304" pitchFamily="18" charset="0"/>
              </a:rPr>
              <a:t>performance of this proposed approach is evaluated using some measures like</a:t>
            </a:r>
            <a:r>
              <a:rPr lang="en-IN" sz="1800" dirty="0" smtClean="0">
                <a:latin typeface="Times New Roman" panose="02020603050405020304" pitchFamily="18" charset="0"/>
                <a:cs typeface="Times New Roman" panose="02020603050405020304" pitchFamily="18" charset="0"/>
              </a:rPr>
              <a:t>,</a:t>
            </a:r>
          </a:p>
          <a:p>
            <a:pPr marL="0" indent="0" algn="ctr">
              <a:lnSpc>
                <a:spcPct val="150000"/>
              </a:lnSpc>
              <a:buNone/>
            </a:pPr>
            <a:endParaRPr lang="en-IN" sz="1800" dirty="0" smtClean="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5" name="Round Single Corner Rectangle 4"/>
          <p:cNvSpPr/>
          <p:nvPr/>
        </p:nvSpPr>
        <p:spPr>
          <a:xfrm>
            <a:off x="2916975" y="3837905"/>
            <a:ext cx="2440637" cy="963834"/>
          </a:xfrm>
          <a:prstGeom prst="round1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smtClean="0">
                <a:latin typeface="Times New Roman" panose="02020603050405020304" pitchFamily="18" charset="0"/>
                <a:cs typeface="Times New Roman" panose="02020603050405020304" pitchFamily="18" charset="0"/>
              </a:rPr>
              <a:t>PERFORMANCE ANALYSIS </a:t>
            </a:r>
            <a:endParaRPr lang="en-IN" dirty="0">
              <a:latin typeface="Times New Roman" panose="02020603050405020304" pitchFamily="18" charset="0"/>
              <a:cs typeface="Times New Roman" panose="02020603050405020304" pitchFamily="18" charset="0"/>
            </a:endParaRPr>
          </a:p>
        </p:txBody>
      </p:sp>
      <p:sp>
        <p:nvSpPr>
          <p:cNvPr id="6" name="Round Single Corner Rectangle 5"/>
          <p:cNvSpPr/>
          <p:nvPr/>
        </p:nvSpPr>
        <p:spPr>
          <a:xfrm>
            <a:off x="6155944" y="3052292"/>
            <a:ext cx="2148784" cy="3348508"/>
          </a:xfrm>
          <a:prstGeom prst="round1Rect">
            <a:avLst/>
          </a:prstGeom>
        </p:spPr>
        <p:style>
          <a:lnRef idx="1">
            <a:schemeClr val="accent5"/>
          </a:lnRef>
          <a:fillRef idx="2">
            <a:schemeClr val="accent5"/>
          </a:fillRef>
          <a:effectRef idx="1">
            <a:schemeClr val="accent5"/>
          </a:effectRef>
          <a:fontRef idx="minor">
            <a:schemeClr val="dk1"/>
          </a:fontRef>
        </p:style>
        <p:txBody>
          <a:bodyPr rtlCol="0" anchor="ctr"/>
          <a:lstStyle/>
          <a:p>
            <a:pPr lvl="0" algn="ctr">
              <a:lnSpc>
                <a:spcPct val="150000"/>
              </a:lnSpc>
              <a:buFont typeface="Wingdings" panose="05000000000000000000" pitchFamily="2" charset="2"/>
              <a:buChar char="q"/>
            </a:pPr>
            <a:r>
              <a:rPr lang="en-IN" b="1" dirty="0">
                <a:latin typeface="Times New Roman" panose="02020603050405020304" pitchFamily="18" charset="0"/>
                <a:cs typeface="Times New Roman" panose="02020603050405020304" pitchFamily="18" charset="0"/>
              </a:rPr>
              <a:t>Accuracy</a:t>
            </a:r>
          </a:p>
          <a:p>
            <a:pPr lvl="0" algn="ctr">
              <a:lnSpc>
                <a:spcPct val="150000"/>
              </a:lnSpc>
              <a:buFont typeface="Wingdings" panose="05000000000000000000" pitchFamily="2" charset="2"/>
              <a:buChar char="q"/>
            </a:pPr>
            <a:r>
              <a:rPr lang="en-IN" b="1" dirty="0">
                <a:latin typeface="Times New Roman" panose="02020603050405020304" pitchFamily="18" charset="0"/>
                <a:cs typeface="Times New Roman" panose="02020603050405020304" pitchFamily="18" charset="0"/>
              </a:rPr>
              <a:t>Precision</a:t>
            </a:r>
          </a:p>
          <a:p>
            <a:pPr lvl="0" algn="ctr">
              <a:lnSpc>
                <a:spcPct val="150000"/>
              </a:lnSpc>
              <a:buFont typeface="Wingdings" panose="05000000000000000000" pitchFamily="2" charset="2"/>
              <a:buChar char="q"/>
            </a:pPr>
            <a:r>
              <a:rPr lang="en-IN" b="1" dirty="0">
                <a:latin typeface="Times New Roman" panose="02020603050405020304" pitchFamily="18" charset="0"/>
                <a:cs typeface="Times New Roman" panose="02020603050405020304" pitchFamily="18" charset="0"/>
              </a:rPr>
              <a:t>Recall</a:t>
            </a:r>
          </a:p>
          <a:p>
            <a:pPr lvl="0" algn="ctr">
              <a:lnSpc>
                <a:spcPct val="150000"/>
              </a:lnSpc>
              <a:buFont typeface="Wingdings" panose="05000000000000000000" pitchFamily="2" charset="2"/>
              <a:buChar char="q"/>
            </a:pPr>
            <a:r>
              <a:rPr lang="en-IN" b="1" dirty="0">
                <a:latin typeface="Times New Roman" panose="02020603050405020304" pitchFamily="18" charset="0"/>
                <a:cs typeface="Times New Roman" panose="02020603050405020304" pitchFamily="18" charset="0"/>
              </a:rPr>
              <a:t>ROC</a:t>
            </a:r>
          </a:p>
          <a:p>
            <a:pPr lvl="0" algn="ctr">
              <a:lnSpc>
                <a:spcPct val="150000"/>
              </a:lnSpc>
              <a:buFont typeface="Wingdings" panose="05000000000000000000" pitchFamily="2" charset="2"/>
              <a:buChar char="q"/>
            </a:pPr>
            <a:r>
              <a:rPr lang="en-IN" b="1" dirty="0">
                <a:latin typeface="Times New Roman" panose="02020603050405020304" pitchFamily="18" charset="0"/>
                <a:cs typeface="Times New Roman" panose="02020603050405020304" pitchFamily="18" charset="0"/>
              </a:rPr>
              <a:t>Confusion matrix</a:t>
            </a:r>
          </a:p>
          <a:p>
            <a:pPr lvl="0" algn="ctr">
              <a:lnSpc>
                <a:spcPct val="150000"/>
              </a:lnSpc>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Classification report </a:t>
            </a:r>
            <a:endParaRPr lang="en-IN" b="1" dirty="0">
              <a:latin typeface="Times New Roman" panose="02020603050405020304" pitchFamily="18" charset="0"/>
              <a:cs typeface="Times New Roman" panose="02020603050405020304" pitchFamily="18" charset="0"/>
            </a:endParaRPr>
          </a:p>
        </p:txBody>
      </p:sp>
      <p:sp>
        <p:nvSpPr>
          <p:cNvPr id="7" name="Right Arrow 6"/>
          <p:cNvSpPr/>
          <p:nvPr/>
        </p:nvSpPr>
        <p:spPr>
          <a:xfrm>
            <a:off x="5357613" y="4069726"/>
            <a:ext cx="798332" cy="270348"/>
          </a:xfrm>
          <a:prstGeom prst="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30811776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anose="02020603050405020304" pitchFamily="18" charset="0"/>
                <a:cs typeface="Times New Roman" panose="02020603050405020304" pitchFamily="18" charset="0"/>
              </a:rPr>
              <a:t>SYSTEM REQUIREMENT </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25003" y="1690688"/>
            <a:ext cx="11505060" cy="4938712"/>
          </a:xfrm>
        </p:spPr>
        <p:txBody>
          <a:bodyPr>
            <a:normAutofit/>
          </a:bodyPr>
          <a:lstStyle/>
          <a:p>
            <a:pPr marL="0" indent="0" algn="just">
              <a:lnSpc>
                <a:spcPct val="200000"/>
              </a:lnSpc>
              <a:buNone/>
            </a:pPr>
            <a:r>
              <a:rPr lang="en-IN" sz="2000" b="1" u="sng" dirty="0" smtClean="0">
                <a:latin typeface="Times New Roman" panose="02020603050405020304" pitchFamily="18" charset="0"/>
                <a:cs typeface="Times New Roman" panose="02020603050405020304" pitchFamily="18" charset="0"/>
              </a:rPr>
              <a:t>SOFTWARE REQUIREMENTS</a:t>
            </a:r>
            <a:endParaRPr lang="en-IN" sz="1800" u="sng" dirty="0" smtClean="0">
              <a:latin typeface="Times New Roman" panose="02020603050405020304" pitchFamily="18" charset="0"/>
              <a:cs typeface="Times New Roman" panose="02020603050405020304" pitchFamily="18" charset="0"/>
            </a:endParaRPr>
          </a:p>
          <a:p>
            <a:pPr lvl="0" algn="just">
              <a:lnSpc>
                <a:spcPct val="150000"/>
              </a:lnSpc>
              <a:buFont typeface="Wingdings" panose="05000000000000000000" pitchFamily="2" charset="2"/>
              <a:buChar char="q"/>
            </a:pPr>
            <a:r>
              <a:rPr lang="en-IN" sz="1800" dirty="0">
                <a:latin typeface="Times New Roman" panose="02020603050405020304" pitchFamily="18" charset="0"/>
                <a:cs typeface="Times New Roman" panose="02020603050405020304" pitchFamily="18" charset="0"/>
              </a:rPr>
              <a:t>System	        :   Pentium IV 2.4 GHz </a:t>
            </a:r>
          </a:p>
          <a:p>
            <a:pPr lvl="0" algn="just">
              <a:lnSpc>
                <a:spcPct val="150000"/>
              </a:lnSpc>
              <a:buFont typeface="Wingdings" panose="05000000000000000000" pitchFamily="2" charset="2"/>
              <a:buChar char="q"/>
            </a:pPr>
            <a:r>
              <a:rPr lang="en-IN" sz="1800" dirty="0">
                <a:latin typeface="Times New Roman" panose="02020603050405020304" pitchFamily="18" charset="0"/>
                <a:cs typeface="Times New Roman" panose="02020603050405020304" pitchFamily="18" charset="0"/>
              </a:rPr>
              <a:t>Hard Disk     </a:t>
            </a:r>
            <a:r>
              <a:rPr lang="en-IN" sz="1800" dirty="0" smtClean="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200 GB</a:t>
            </a:r>
          </a:p>
          <a:p>
            <a:pPr lvl="0" algn="just">
              <a:lnSpc>
                <a:spcPct val="150000"/>
              </a:lnSpc>
              <a:buFont typeface="Wingdings" panose="05000000000000000000" pitchFamily="2" charset="2"/>
              <a:buChar char="q"/>
            </a:pPr>
            <a:r>
              <a:rPr lang="en-IN" sz="1800" dirty="0">
                <a:latin typeface="Times New Roman" panose="02020603050405020304" pitchFamily="18" charset="0"/>
                <a:cs typeface="Times New Roman" panose="02020603050405020304" pitchFamily="18" charset="0"/>
              </a:rPr>
              <a:t>Mouse	      </a:t>
            </a:r>
            <a:r>
              <a:rPr lang="en-IN" sz="1800" dirty="0" smtClean="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   Logitech.</a:t>
            </a:r>
          </a:p>
          <a:p>
            <a:pPr lvl="0" algn="just">
              <a:lnSpc>
                <a:spcPct val="150000"/>
              </a:lnSpc>
              <a:buFont typeface="Wingdings" panose="05000000000000000000" pitchFamily="2" charset="2"/>
              <a:buChar char="q"/>
            </a:pPr>
            <a:r>
              <a:rPr lang="en-IN" sz="1800" dirty="0" smtClean="0">
                <a:latin typeface="Times New Roman" panose="02020603050405020304" pitchFamily="18" charset="0"/>
                <a:cs typeface="Times New Roman" panose="02020603050405020304" pitchFamily="18" charset="0"/>
              </a:rPr>
              <a:t>Keyboard     </a:t>
            </a:r>
            <a:r>
              <a:rPr lang="en-IN" sz="1800" dirty="0">
                <a:latin typeface="Times New Roman" panose="02020603050405020304" pitchFamily="18" charset="0"/>
                <a:cs typeface="Times New Roman" panose="02020603050405020304" pitchFamily="18" charset="0"/>
              </a:rPr>
              <a:t>:   110 keys enhanced</a:t>
            </a:r>
          </a:p>
          <a:p>
            <a:pPr lvl="0" algn="just">
              <a:lnSpc>
                <a:spcPct val="150000"/>
              </a:lnSpc>
              <a:buFont typeface="Wingdings" panose="05000000000000000000" pitchFamily="2" charset="2"/>
              <a:buChar char="q"/>
            </a:pPr>
            <a:r>
              <a:rPr lang="en-IN" sz="1800" dirty="0">
                <a:latin typeface="Times New Roman" panose="02020603050405020304" pitchFamily="18" charset="0"/>
                <a:cs typeface="Times New Roman" panose="02020603050405020304" pitchFamily="18" charset="0"/>
              </a:rPr>
              <a:t>Ram	         </a:t>
            </a:r>
            <a:r>
              <a:rPr lang="en-IN" sz="1800" dirty="0" smtClean="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4GB</a:t>
            </a:r>
          </a:p>
          <a:p>
            <a:pPr algn="just">
              <a:lnSpc>
                <a:spcPct val="200000"/>
              </a:lnSpc>
            </a:pPr>
            <a:endParaRPr lang="en-IN" sz="1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87884410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600" b="1" dirty="0" smtClean="0">
                <a:latin typeface="Times New Roman" panose="02020603050405020304" pitchFamily="18" charset="0"/>
                <a:cs typeface="Times New Roman" panose="02020603050405020304" pitchFamily="18" charset="0"/>
              </a:rPr>
              <a:t>CONCLUSION </a:t>
            </a:r>
            <a:endParaRPr lang="en-IN"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25003" y="1690688"/>
            <a:ext cx="11505060" cy="4938712"/>
          </a:xfrm>
        </p:spPr>
        <p:txBody>
          <a:bodyPr>
            <a:normAutofit/>
          </a:bodyPr>
          <a:lstStyle/>
          <a:p>
            <a:pPr algn="just">
              <a:lnSpc>
                <a:spcPct val="200000"/>
              </a:lnSpc>
            </a:pPr>
            <a:r>
              <a:rPr lang="en-US" sz="1800" dirty="0">
                <a:latin typeface="Times New Roman" panose="02020603050405020304" pitchFamily="18" charset="0"/>
                <a:cs typeface="Times New Roman" panose="02020603050405020304" pitchFamily="18" charset="0"/>
              </a:rPr>
              <a:t>First the deep CNN are trained with the 90% of the sample and testing has performed with 10% of the samples. The activation function </a:t>
            </a:r>
            <a:r>
              <a:rPr lang="en-US" sz="1800" dirty="0" err="1">
                <a:latin typeface="Times New Roman" panose="02020603050405020304" pitchFamily="18" charset="0"/>
                <a:cs typeface="Times New Roman" panose="02020603050405020304" pitchFamily="18" charset="0"/>
              </a:rPr>
              <a:t>softmax</a:t>
            </a:r>
            <a:r>
              <a:rPr lang="en-US" sz="1800" dirty="0">
                <a:latin typeface="Times New Roman" panose="02020603050405020304" pitchFamily="18" charset="0"/>
                <a:cs typeface="Times New Roman" panose="02020603050405020304" pitchFamily="18" charset="0"/>
              </a:rPr>
              <a:t> was used for 100 epochs with batch size of 40. After that the activation function Adam was used for 100 epochs with a batch size of 40.The batch normalization was applied to minimize the fluctuation of the performance</a:t>
            </a:r>
            <a:endParaRPr lang="en-IN" sz="1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415365786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smtClean="0">
                <a:latin typeface="Times New Roman" panose="02020603050405020304" pitchFamily="18" charset="0"/>
                <a:cs typeface="Times New Roman" panose="02020603050405020304" pitchFamily="18" charset="0"/>
              </a:rPr>
              <a:t>FUTURE ENCHANCEMENT </a:t>
            </a:r>
            <a:endParaRPr lang="en-IN" sz="3600" dirty="0"/>
          </a:p>
        </p:txBody>
      </p:sp>
      <p:sp>
        <p:nvSpPr>
          <p:cNvPr id="3" name="Content Placeholder 2"/>
          <p:cNvSpPr>
            <a:spLocks noGrp="1"/>
          </p:cNvSpPr>
          <p:nvPr>
            <p:ph idx="1"/>
          </p:nvPr>
        </p:nvSpPr>
        <p:spPr/>
        <p:txBody>
          <a:bodyPr/>
          <a:lstStyle/>
          <a:p>
            <a:pPr lvl="0" algn="just">
              <a:lnSpc>
                <a:spcPct val="250000"/>
              </a:lnSpc>
            </a:pPr>
            <a:r>
              <a:rPr lang="en-US" sz="1800" dirty="0">
                <a:latin typeface="Times New Roman" panose="02020603050405020304" pitchFamily="18" charset="0"/>
                <a:cs typeface="Times New Roman" panose="02020603050405020304" pitchFamily="18" charset="0"/>
              </a:rPr>
              <a:t>In future, it is possible to Deep learning Algorithm</a:t>
            </a:r>
            <a:endParaRPr lang="en-IN" sz="1800" dirty="0">
              <a:latin typeface="Times New Roman" panose="02020603050405020304" pitchFamily="18" charset="0"/>
              <a:cs typeface="Times New Roman" panose="02020603050405020304" pitchFamily="18" charset="0"/>
            </a:endParaRPr>
          </a:p>
          <a:p>
            <a:pPr lvl="0" algn="just">
              <a:lnSpc>
                <a:spcPct val="250000"/>
              </a:lnSpc>
            </a:pPr>
            <a:r>
              <a:rPr lang="en-US" sz="1800" dirty="0">
                <a:latin typeface="Times New Roman" panose="02020603050405020304" pitchFamily="18" charset="0"/>
                <a:cs typeface="Times New Roman" panose="02020603050405020304" pitchFamily="18" charset="0"/>
              </a:rPr>
              <a:t>It is based on LSTM algorithm  </a:t>
            </a:r>
            <a:endParaRPr lang="en-IN" sz="1800" dirty="0">
              <a:latin typeface="Times New Roman" panose="02020603050405020304" pitchFamily="18" charset="0"/>
              <a:cs typeface="Times New Roman" panose="02020603050405020304" pitchFamily="18" charset="0"/>
            </a:endParaRPr>
          </a:p>
          <a:p>
            <a:pPr lvl="0" algn="just">
              <a:lnSpc>
                <a:spcPct val="250000"/>
              </a:lnSpc>
            </a:pPr>
            <a:endParaRPr lang="en-IN" sz="18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88831414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smtClean="0">
                <a:latin typeface="Times New Roman" panose="02020603050405020304" pitchFamily="18" charset="0"/>
                <a:cs typeface="Times New Roman" panose="02020603050405020304" pitchFamily="18" charset="0"/>
              </a:rPr>
              <a:t>SAMPLE CODE </a:t>
            </a:r>
            <a:endParaRPr lang="en-IN" sz="3600" dirty="0"/>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pic>
        <p:nvPicPr>
          <p:cNvPr id="5" name="Picture 4"/>
          <p:cNvPicPr>
            <a:picLocks noChangeAspect="1"/>
          </p:cNvPicPr>
          <p:nvPr/>
        </p:nvPicPr>
        <p:blipFill>
          <a:blip r:embed="rId2"/>
          <a:stretch>
            <a:fillRect/>
          </a:stretch>
        </p:blipFill>
        <p:spPr>
          <a:xfrm>
            <a:off x="541382" y="1934783"/>
            <a:ext cx="6086475" cy="4450522"/>
          </a:xfrm>
          <a:prstGeom prst="rect">
            <a:avLst/>
          </a:prstGeom>
          <a:ln w="88900" cap="sq" cmpd="thickThin">
            <a:solidFill>
              <a:srgbClr val="000000"/>
            </a:solidFill>
            <a:prstDash val="solid"/>
            <a:miter lim="800000"/>
          </a:ln>
          <a:effectLst>
            <a:innerShdw blurRad="76200">
              <a:srgbClr val="000000"/>
            </a:innerShdw>
          </a:effectLst>
        </p:spPr>
      </p:pic>
      <p:pic>
        <p:nvPicPr>
          <p:cNvPr id="6" name="Picture 5"/>
          <p:cNvPicPr>
            <a:picLocks noChangeAspect="1"/>
          </p:cNvPicPr>
          <p:nvPr/>
        </p:nvPicPr>
        <p:blipFill>
          <a:blip r:embed="rId3"/>
          <a:stretch>
            <a:fillRect/>
          </a:stretch>
        </p:blipFill>
        <p:spPr>
          <a:xfrm>
            <a:off x="7245506" y="1812925"/>
            <a:ext cx="4456024" cy="4669061"/>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18227845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smtClean="0">
                <a:latin typeface="Times New Roman" panose="02020603050405020304" pitchFamily="18" charset="0"/>
                <a:cs typeface="Times New Roman" panose="02020603050405020304" pitchFamily="18" charset="0"/>
              </a:rPr>
              <a:t>SCREENSHOT 1</a:t>
            </a:r>
            <a:endParaRPr lang="en-IN" sz="3600" dirty="0"/>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 name="Rectangle 2"/>
          <p:cNvSpPr/>
          <p:nvPr/>
        </p:nvSpPr>
        <p:spPr>
          <a:xfrm>
            <a:off x="359669" y="1522783"/>
            <a:ext cx="5538856" cy="461665"/>
          </a:xfrm>
          <a:prstGeom prst="rect">
            <a:avLst/>
          </a:prstGeom>
        </p:spPr>
        <p:txBody>
          <a:bodyPr wrap="square">
            <a:spAutoFit/>
          </a:bodyPr>
          <a:lstStyle/>
          <a:p>
            <a:pPr lvl="0" algn="ctr">
              <a:lnSpc>
                <a:spcPct val="150000"/>
              </a:lnSpc>
              <a:spcAft>
                <a:spcPts val="0"/>
              </a:spcAft>
            </a:pPr>
            <a:r>
              <a:rPr lang="en-US" sz="1600" b="1" dirty="0">
                <a:latin typeface="Times New Roman" panose="02020603050405020304" pitchFamily="18" charset="0"/>
                <a:ea typeface="Times New Roman" panose="02020603050405020304" pitchFamily="18" charset="0"/>
                <a:cs typeface="Times New Roman" panose="02020603050405020304" pitchFamily="18" charset="0"/>
              </a:rPr>
              <a:t>Figure 1: </a:t>
            </a:r>
            <a:r>
              <a:rPr lang="en-US" sz="1600" b="1" dirty="0">
                <a:latin typeface="Times New Roman" panose="02020603050405020304" pitchFamily="18" charset="0"/>
                <a:cs typeface="Times New Roman" panose="02020603050405020304" pitchFamily="18" charset="0"/>
              </a:rPr>
              <a:t>Select a </a:t>
            </a:r>
            <a:r>
              <a:rPr lang="en-US" sz="1600" b="1" dirty="0" smtClean="0">
                <a:latin typeface="Times New Roman" panose="02020603050405020304" pitchFamily="18" charset="0"/>
                <a:cs typeface="Times New Roman" panose="02020603050405020304" pitchFamily="18" charset="0"/>
              </a:rPr>
              <a:t>image </a:t>
            </a:r>
            <a:r>
              <a:rPr lang="en-US" sz="1600" b="1" dirty="0">
                <a:latin typeface="Times New Roman" panose="02020603050405020304" pitchFamily="18" charset="0"/>
                <a:cs typeface="Times New Roman" panose="02020603050405020304" pitchFamily="18" charset="0"/>
              </a:rPr>
              <a:t>based on the </a:t>
            </a:r>
            <a:r>
              <a:rPr lang="en-US" sz="1600" b="1" dirty="0" smtClean="0">
                <a:latin typeface="Times New Roman" panose="02020603050405020304" pitchFamily="18" charset="0"/>
                <a:cs typeface="Times New Roman" panose="02020603050405020304" pitchFamily="18" charset="0"/>
              </a:rPr>
              <a:t>Medicinal plant dataset</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9" name="Rectangle 8"/>
          <p:cNvSpPr/>
          <p:nvPr/>
        </p:nvSpPr>
        <p:spPr>
          <a:xfrm>
            <a:off x="6119049" y="1601651"/>
            <a:ext cx="4507452" cy="584775"/>
          </a:xfrm>
          <a:prstGeom prst="rect">
            <a:avLst/>
          </a:prstGeom>
        </p:spPr>
        <p:txBody>
          <a:bodyPr wrap="none">
            <a:spAutoFit/>
          </a:bodyPr>
          <a:lstStyle/>
          <a:p>
            <a:r>
              <a:rPr lang="en-US" sz="1600" b="1" dirty="0">
                <a:latin typeface="Times New Roman" panose="02020603050405020304" pitchFamily="18" charset="0"/>
                <a:cs typeface="Times New Roman" panose="02020603050405020304" pitchFamily="18" charset="0"/>
              </a:rPr>
              <a:t>Figure </a:t>
            </a:r>
            <a:r>
              <a:rPr lang="en-US" sz="1600" b="1" dirty="0" smtClean="0">
                <a:latin typeface="Times New Roman" panose="02020603050405020304" pitchFamily="18" charset="0"/>
                <a:cs typeface="Times New Roman" panose="02020603050405020304" pitchFamily="18" charset="0"/>
              </a:rPr>
              <a:t>1. </a:t>
            </a:r>
            <a:r>
              <a:rPr lang="en-US" sz="1600" b="1" dirty="0">
                <a:latin typeface="Times New Roman" panose="02020603050405020304" pitchFamily="18" charset="0"/>
                <a:cs typeface="Times New Roman" panose="02020603050405020304" pitchFamily="18" charset="0"/>
              </a:rPr>
              <a:t>Select an </a:t>
            </a:r>
            <a:r>
              <a:rPr lang="en-US" sz="1600" b="1" dirty="0" smtClean="0">
                <a:latin typeface="Times New Roman" panose="02020603050405020304" pitchFamily="18" charset="0"/>
                <a:cs typeface="Times New Roman" panose="02020603050405020304" pitchFamily="18" charset="0"/>
              </a:rPr>
              <a:t>image </a:t>
            </a:r>
            <a:r>
              <a:rPr lang="en-US" sz="1600" b="1" dirty="0">
                <a:latin typeface="Times New Roman" panose="02020603050405020304" pitchFamily="18" charset="0"/>
                <a:cs typeface="Times New Roman" panose="02020603050405020304" pitchFamily="18" charset="0"/>
              </a:rPr>
              <a:t>based on the </a:t>
            </a:r>
            <a:r>
              <a:rPr lang="en-US" sz="1600" b="1" dirty="0" smtClean="0">
                <a:latin typeface="Times New Roman" panose="02020603050405020304" pitchFamily="18" charset="0"/>
                <a:cs typeface="Times New Roman" panose="02020603050405020304" pitchFamily="18" charset="0"/>
              </a:rPr>
              <a:t>Medicinal </a:t>
            </a:r>
          </a:p>
          <a:p>
            <a:r>
              <a:rPr lang="en-US" sz="1600" b="1" dirty="0" smtClean="0">
                <a:latin typeface="Times New Roman" panose="02020603050405020304" pitchFamily="18" charset="0"/>
                <a:cs typeface="Times New Roman" panose="02020603050405020304" pitchFamily="18" charset="0"/>
              </a:rPr>
              <a:t>Plant dataset</a:t>
            </a:r>
            <a:endParaRPr lang="en-IN" sz="1600" dirty="0">
              <a:latin typeface="Times New Roman" panose="02020603050405020304" pitchFamily="18" charset="0"/>
              <a:cs typeface="Times New Roman" panose="02020603050405020304" pitchFamily="18" charset="0"/>
            </a:endParaRPr>
          </a:p>
        </p:txBody>
      </p:sp>
      <p:pic>
        <p:nvPicPr>
          <p:cNvPr id="8" name="Picture 7"/>
          <p:cNvPicPr/>
          <p:nvPr/>
        </p:nvPicPr>
        <p:blipFill>
          <a:blip r:embed="rId2"/>
          <a:stretch>
            <a:fillRect/>
          </a:stretch>
        </p:blipFill>
        <p:spPr>
          <a:xfrm>
            <a:off x="697833" y="2731354"/>
            <a:ext cx="4253865" cy="3301365"/>
          </a:xfrm>
          <a:prstGeom prst="rect">
            <a:avLst/>
          </a:prstGeom>
          <a:ln w="88900" cap="sq" cmpd="thickThin">
            <a:solidFill>
              <a:srgbClr val="000000"/>
            </a:solidFill>
            <a:prstDash val="solid"/>
            <a:miter lim="800000"/>
          </a:ln>
          <a:effectLst>
            <a:innerShdw blurRad="76200">
              <a:srgbClr val="000000"/>
            </a:innerShdw>
          </a:effectLst>
        </p:spPr>
      </p:pic>
      <p:pic>
        <p:nvPicPr>
          <p:cNvPr id="12" name="Picture 11"/>
          <p:cNvPicPr/>
          <p:nvPr/>
        </p:nvPicPr>
        <p:blipFill>
          <a:blip r:embed="rId3"/>
          <a:stretch>
            <a:fillRect/>
          </a:stretch>
        </p:blipFill>
        <p:spPr>
          <a:xfrm>
            <a:off x="6245842" y="2602565"/>
            <a:ext cx="4253865" cy="3301365"/>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75918494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SCREENSHOT 2</a:t>
            </a:r>
            <a:endParaRPr lang="en-IN" sz="3600" dirty="0"/>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 name="Rectangle 2"/>
          <p:cNvSpPr/>
          <p:nvPr/>
        </p:nvSpPr>
        <p:spPr>
          <a:xfrm>
            <a:off x="398305" y="1690688"/>
            <a:ext cx="5538856" cy="830997"/>
          </a:xfrm>
          <a:prstGeom prst="rect">
            <a:avLst/>
          </a:prstGeom>
        </p:spPr>
        <p:txBody>
          <a:bodyPr wrap="square">
            <a:spAutoFit/>
          </a:bodyPr>
          <a:lstStyle/>
          <a:p>
            <a:pPr algn="ctr">
              <a:lnSpc>
                <a:spcPct val="150000"/>
              </a:lnSpc>
            </a:pPr>
            <a:r>
              <a:rPr lang="en-US" sz="1600" b="1" dirty="0">
                <a:latin typeface="Times New Roman" panose="02020603050405020304" pitchFamily="18" charset="0"/>
                <a:cs typeface="Times New Roman" panose="02020603050405020304" pitchFamily="18" charset="0"/>
              </a:rPr>
              <a:t>Figure </a:t>
            </a:r>
            <a:r>
              <a:rPr lang="en-US" sz="1600" b="1" dirty="0" smtClean="0">
                <a:latin typeface="Times New Roman" panose="02020603050405020304" pitchFamily="18" charset="0"/>
                <a:cs typeface="Times New Roman" panose="02020603050405020304" pitchFamily="18" charset="0"/>
              </a:rPr>
              <a:t>2 Resize </a:t>
            </a:r>
            <a:r>
              <a:rPr lang="en-US" sz="1600" b="1" dirty="0">
                <a:latin typeface="Times New Roman" panose="02020603050405020304" pitchFamily="18" charset="0"/>
                <a:cs typeface="Times New Roman" panose="02020603050405020304" pitchFamily="18" charset="0"/>
              </a:rPr>
              <a:t>image based on the </a:t>
            </a:r>
            <a:r>
              <a:rPr lang="en-US" sz="1600" b="1" dirty="0" smtClean="0">
                <a:latin typeface="Times New Roman" panose="02020603050405020304" pitchFamily="18" charset="0"/>
                <a:cs typeface="Times New Roman" panose="02020603050405020304" pitchFamily="18" charset="0"/>
              </a:rPr>
              <a:t>Medicinal </a:t>
            </a:r>
            <a:r>
              <a:rPr lang="en-US" sz="1600" b="1" dirty="0" err="1" smtClean="0">
                <a:latin typeface="Times New Roman" panose="02020603050405020304" pitchFamily="18" charset="0"/>
                <a:cs typeface="Times New Roman" panose="02020603050405020304" pitchFamily="18" charset="0"/>
              </a:rPr>
              <a:t>plantdataset</a:t>
            </a:r>
            <a:endParaRPr lang="en-IN" sz="1600" dirty="0">
              <a:latin typeface="Times New Roman" panose="02020603050405020304" pitchFamily="18" charset="0"/>
              <a:cs typeface="Times New Roman" panose="02020603050405020304" pitchFamily="18" charset="0"/>
            </a:endParaRPr>
          </a:p>
          <a:p>
            <a:pPr algn="ctr">
              <a:lnSpc>
                <a:spcPct val="150000"/>
              </a:lnSpc>
            </a:pPr>
            <a:endParaRPr lang="en-IN" sz="1600" dirty="0">
              <a:latin typeface="Times New Roman" panose="02020603050405020304" pitchFamily="18" charset="0"/>
              <a:cs typeface="Times New Roman" panose="02020603050405020304" pitchFamily="18" charset="0"/>
            </a:endParaRPr>
          </a:p>
        </p:txBody>
      </p:sp>
      <p:pic>
        <p:nvPicPr>
          <p:cNvPr id="7" name="Picture 6"/>
          <p:cNvPicPr/>
          <p:nvPr/>
        </p:nvPicPr>
        <p:blipFill>
          <a:blip r:embed="rId2"/>
          <a:stretch>
            <a:fillRect/>
          </a:stretch>
        </p:blipFill>
        <p:spPr>
          <a:xfrm>
            <a:off x="638000" y="2615444"/>
            <a:ext cx="3987165" cy="3301365"/>
          </a:xfrm>
          <a:prstGeom prst="rect">
            <a:avLst/>
          </a:prstGeom>
          <a:ln w="88900" cap="sq" cmpd="thickThin">
            <a:solidFill>
              <a:srgbClr val="000000"/>
            </a:solidFill>
            <a:prstDash val="solid"/>
            <a:miter lim="800000"/>
          </a:ln>
          <a:effectLst>
            <a:innerShdw blurRad="76200">
              <a:srgbClr val="000000"/>
            </a:innerShdw>
          </a:effectLst>
        </p:spPr>
      </p:pic>
      <p:pic>
        <p:nvPicPr>
          <p:cNvPr id="9" name="Picture 8"/>
          <p:cNvPicPr/>
          <p:nvPr/>
        </p:nvPicPr>
        <p:blipFill>
          <a:blip r:embed="rId3"/>
          <a:stretch>
            <a:fillRect/>
          </a:stretch>
        </p:blipFill>
        <p:spPr>
          <a:xfrm>
            <a:off x="5622290" y="2407759"/>
            <a:ext cx="5731510" cy="3504570"/>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84389645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SCREENSHOT 3</a:t>
            </a:r>
            <a:endParaRPr lang="en-IN" sz="3600" dirty="0"/>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 name="Rectangle 2"/>
          <p:cNvSpPr/>
          <p:nvPr/>
        </p:nvSpPr>
        <p:spPr>
          <a:xfrm>
            <a:off x="838200" y="1643648"/>
            <a:ext cx="10110855" cy="338554"/>
          </a:xfrm>
          <a:prstGeom prst="rect">
            <a:avLst/>
          </a:prstGeom>
        </p:spPr>
        <p:txBody>
          <a:bodyPr wrap="square">
            <a:spAutoFit/>
          </a:bodyPr>
          <a:lstStyle/>
          <a:p>
            <a:r>
              <a:rPr lang="en-US" sz="1600" b="1" dirty="0">
                <a:latin typeface="Times New Roman" panose="02020603050405020304" pitchFamily="18" charset="0"/>
                <a:cs typeface="Times New Roman" panose="02020603050405020304" pitchFamily="18" charset="0"/>
              </a:rPr>
              <a:t>Figure 3 Using the </a:t>
            </a:r>
            <a:r>
              <a:rPr lang="en-US" sz="1600" b="1" dirty="0" smtClean="0">
                <a:latin typeface="Times New Roman" panose="02020603050405020304" pitchFamily="18" charset="0"/>
                <a:cs typeface="Times New Roman" panose="02020603050405020304" pitchFamily="18" charset="0"/>
              </a:rPr>
              <a:t>Medicinal </a:t>
            </a:r>
            <a:r>
              <a:rPr lang="en-US" sz="1600" b="1" dirty="0" err="1" smtClean="0">
                <a:latin typeface="Times New Roman" panose="02020603050405020304" pitchFamily="18" charset="0"/>
                <a:cs typeface="Times New Roman" panose="02020603050405020304" pitchFamily="18" charset="0"/>
              </a:rPr>
              <a:t>plantdataset</a:t>
            </a:r>
            <a:r>
              <a:rPr lang="en-US" sz="1600" b="1" dirty="0">
                <a:latin typeface="Times New Roman" panose="02020603050405020304" pitchFamily="18" charset="0"/>
                <a:cs typeface="Times New Roman" panose="02020603050405020304" pitchFamily="18" charset="0"/>
              </a:rPr>
              <a:t>, split images into </a:t>
            </a:r>
            <a:r>
              <a:rPr lang="en-US" sz="1600" b="1" dirty="0" smtClean="0">
                <a:latin typeface="Times New Roman" panose="02020603050405020304" pitchFamily="18" charset="0"/>
                <a:cs typeface="Times New Roman" panose="02020603050405020304" pitchFamily="18" charset="0"/>
              </a:rPr>
              <a:t>80% training </a:t>
            </a:r>
            <a:r>
              <a:rPr lang="en-US" sz="1600" b="1" dirty="0">
                <a:latin typeface="Times New Roman" panose="02020603050405020304" pitchFamily="18" charset="0"/>
                <a:cs typeface="Times New Roman" panose="02020603050405020304" pitchFamily="18" charset="0"/>
              </a:rPr>
              <a:t>and 20% testing</a:t>
            </a:r>
            <a:endParaRPr lang="en-IN" sz="1600" dirty="0">
              <a:latin typeface="Times New Roman" panose="02020603050405020304" pitchFamily="18" charset="0"/>
              <a:cs typeface="Times New Roman" panose="02020603050405020304" pitchFamily="18" charset="0"/>
            </a:endParaRPr>
          </a:p>
        </p:txBody>
      </p:sp>
      <p:pic>
        <p:nvPicPr>
          <p:cNvPr id="6" name="Picture 5"/>
          <p:cNvPicPr/>
          <p:nvPr/>
        </p:nvPicPr>
        <p:blipFill>
          <a:blip r:embed="rId2"/>
          <a:stretch>
            <a:fillRect/>
          </a:stretch>
        </p:blipFill>
        <p:spPr>
          <a:xfrm>
            <a:off x="3559175" y="2622232"/>
            <a:ext cx="5073650" cy="2941441"/>
          </a:xfrm>
          <a:prstGeom prst="rect">
            <a:avLst/>
          </a:prstGeom>
        </p:spPr>
      </p:pic>
    </p:spTree>
    <p:extLst>
      <p:ext uri="{BB962C8B-B14F-4D97-AF65-F5344CB8AC3E}">
        <p14:creationId xmlns:p14="http://schemas.microsoft.com/office/powerpoint/2010/main" val="46674983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smtClean="0">
                <a:latin typeface="Times New Roman" panose="02020603050405020304" pitchFamily="18" charset="0"/>
                <a:cs typeface="Times New Roman" panose="02020603050405020304" pitchFamily="18" charset="0"/>
              </a:rPr>
              <a:t>SCREENSHOT 4</a:t>
            </a:r>
            <a:endParaRPr lang="en-IN" sz="3600" dirty="0"/>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 name="Rectangle 2"/>
          <p:cNvSpPr/>
          <p:nvPr/>
        </p:nvSpPr>
        <p:spPr>
          <a:xfrm>
            <a:off x="557144" y="1893022"/>
            <a:ext cx="5538856" cy="338554"/>
          </a:xfrm>
          <a:prstGeom prst="rect">
            <a:avLst/>
          </a:prstGeom>
        </p:spPr>
        <p:txBody>
          <a:bodyPr wrap="square">
            <a:spAutoFit/>
          </a:bodyPr>
          <a:lstStyle/>
          <a:p>
            <a:r>
              <a:rPr lang="en-US" sz="1600" b="1" dirty="0">
                <a:latin typeface="Times New Roman" panose="02020603050405020304" pitchFamily="18" charset="0"/>
                <a:cs typeface="Times New Roman" panose="02020603050405020304" pitchFamily="18" charset="0"/>
              </a:rPr>
              <a:t>Figure 4 </a:t>
            </a:r>
            <a:r>
              <a:rPr lang="en-US" sz="1600" b="1" dirty="0" smtClean="0">
                <a:latin typeface="Times New Roman" panose="02020603050405020304" pitchFamily="18" charset="0"/>
                <a:cs typeface="Times New Roman" panose="02020603050405020304" pitchFamily="18" charset="0"/>
              </a:rPr>
              <a:t>CNN Architecture </a:t>
            </a:r>
            <a:r>
              <a:rPr lang="en-US" sz="1600" b="1" dirty="0">
                <a:latin typeface="Times New Roman" panose="02020603050405020304" pitchFamily="18" charset="0"/>
                <a:cs typeface="Times New Roman" panose="02020603050405020304" pitchFamily="18" charset="0"/>
              </a:rPr>
              <a:t>Layer </a:t>
            </a:r>
            <a:endParaRPr lang="en-IN" sz="1600" dirty="0">
              <a:latin typeface="Times New Roman" panose="02020603050405020304" pitchFamily="18" charset="0"/>
              <a:cs typeface="Times New Roman" panose="02020603050405020304" pitchFamily="18" charset="0"/>
            </a:endParaRPr>
          </a:p>
        </p:txBody>
      </p:sp>
      <p:sp>
        <p:nvSpPr>
          <p:cNvPr id="9" name="Rectangle 8"/>
          <p:cNvSpPr/>
          <p:nvPr/>
        </p:nvSpPr>
        <p:spPr>
          <a:xfrm>
            <a:off x="7097447" y="1933799"/>
            <a:ext cx="2356222" cy="338554"/>
          </a:xfrm>
          <a:prstGeom prst="rect">
            <a:avLst/>
          </a:prstGeom>
        </p:spPr>
        <p:txBody>
          <a:bodyPr wrap="none">
            <a:spAutoFit/>
          </a:bodyPr>
          <a:lstStyle/>
          <a:p>
            <a:r>
              <a:rPr lang="en-US" sz="1600" b="1" dirty="0">
                <a:latin typeface="Times New Roman" panose="02020603050405020304" pitchFamily="18" charset="0"/>
                <a:cs typeface="Times New Roman" panose="02020603050405020304" pitchFamily="18" charset="0"/>
              </a:rPr>
              <a:t>Figure 5 </a:t>
            </a:r>
            <a:r>
              <a:rPr lang="en-US" sz="1600" b="1" dirty="0" smtClean="0">
                <a:latin typeface="Times New Roman" panose="02020603050405020304" pitchFamily="18" charset="0"/>
                <a:cs typeface="Times New Roman" panose="02020603050405020304" pitchFamily="18" charset="0"/>
              </a:rPr>
              <a:t>CNN Epochs 10</a:t>
            </a:r>
            <a:endParaRPr lang="en-IN" sz="1600" dirty="0">
              <a:latin typeface="Times New Roman" panose="02020603050405020304" pitchFamily="18" charset="0"/>
              <a:cs typeface="Times New Roman" panose="02020603050405020304" pitchFamily="18" charset="0"/>
            </a:endParaRPr>
          </a:p>
        </p:txBody>
      </p:sp>
      <p:pic>
        <p:nvPicPr>
          <p:cNvPr id="10" name="Picture 9"/>
          <p:cNvPicPr/>
          <p:nvPr/>
        </p:nvPicPr>
        <p:blipFill>
          <a:blip r:embed="rId2"/>
          <a:stretch>
            <a:fillRect/>
          </a:stretch>
        </p:blipFill>
        <p:spPr>
          <a:xfrm>
            <a:off x="557144" y="2353529"/>
            <a:ext cx="4839104" cy="3849594"/>
          </a:xfrm>
          <a:prstGeom prst="rect">
            <a:avLst/>
          </a:prstGeom>
          <a:ln w="88900" cap="sq" cmpd="thickThin">
            <a:solidFill>
              <a:srgbClr val="000000"/>
            </a:solidFill>
            <a:prstDash val="solid"/>
            <a:miter lim="800000"/>
          </a:ln>
          <a:effectLst>
            <a:innerShdw blurRad="76200">
              <a:srgbClr val="000000"/>
            </a:innerShdw>
          </a:effectLst>
        </p:spPr>
      </p:pic>
      <p:pic>
        <p:nvPicPr>
          <p:cNvPr id="11" name="Picture 10"/>
          <p:cNvPicPr/>
          <p:nvPr/>
        </p:nvPicPr>
        <p:blipFill>
          <a:blip r:embed="rId3"/>
          <a:stretch>
            <a:fillRect/>
          </a:stretch>
        </p:blipFill>
        <p:spPr>
          <a:xfrm>
            <a:off x="5976584" y="2474687"/>
            <a:ext cx="5731510" cy="3500265"/>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30762312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SCREENSHOT </a:t>
            </a:r>
            <a:r>
              <a:rPr lang="en-US" sz="3600" b="1" dirty="0" smtClean="0">
                <a:latin typeface="Times New Roman" panose="02020603050405020304" pitchFamily="18" charset="0"/>
                <a:cs typeface="Times New Roman" panose="02020603050405020304" pitchFamily="18" charset="0"/>
              </a:rPr>
              <a:t>5</a:t>
            </a:r>
            <a:endParaRPr lang="en-IN" sz="3600" dirty="0"/>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 name="Rectangle 2"/>
          <p:cNvSpPr/>
          <p:nvPr/>
        </p:nvSpPr>
        <p:spPr>
          <a:xfrm>
            <a:off x="606798" y="1779885"/>
            <a:ext cx="5538856" cy="338554"/>
          </a:xfrm>
          <a:prstGeom prst="rect">
            <a:avLst/>
          </a:prstGeom>
        </p:spPr>
        <p:txBody>
          <a:bodyPr wrap="square">
            <a:spAutoFit/>
          </a:bodyPr>
          <a:lstStyle/>
          <a:p>
            <a:r>
              <a:rPr lang="en-US" sz="1600" b="1" dirty="0">
                <a:latin typeface="Times New Roman" panose="02020603050405020304" pitchFamily="18" charset="0"/>
                <a:cs typeface="Times New Roman" panose="02020603050405020304" pitchFamily="18" charset="0"/>
              </a:rPr>
              <a:t>Figure 6 </a:t>
            </a:r>
            <a:r>
              <a:rPr lang="en-US" sz="1600" b="1" dirty="0" smtClean="0">
                <a:latin typeface="Times New Roman" panose="02020603050405020304" pitchFamily="18" charset="0"/>
                <a:cs typeface="Times New Roman" panose="02020603050405020304" pitchFamily="18" charset="0"/>
              </a:rPr>
              <a:t>CNN based </a:t>
            </a:r>
            <a:r>
              <a:rPr lang="en-US" sz="1600" b="1" dirty="0">
                <a:latin typeface="Times New Roman" panose="02020603050405020304" pitchFamily="18" charset="0"/>
                <a:cs typeface="Times New Roman" panose="02020603050405020304" pitchFamily="18" charset="0"/>
              </a:rPr>
              <a:t>on accuracy and loss plot</a:t>
            </a:r>
            <a:endParaRPr lang="en-IN" sz="1600" dirty="0">
              <a:latin typeface="Times New Roman" panose="02020603050405020304" pitchFamily="18" charset="0"/>
              <a:cs typeface="Times New Roman" panose="02020603050405020304" pitchFamily="18" charset="0"/>
            </a:endParaRPr>
          </a:p>
        </p:txBody>
      </p:sp>
      <p:sp>
        <p:nvSpPr>
          <p:cNvPr id="9" name="Rectangle 8"/>
          <p:cNvSpPr/>
          <p:nvPr/>
        </p:nvSpPr>
        <p:spPr>
          <a:xfrm>
            <a:off x="6708890" y="1810152"/>
            <a:ext cx="4190058" cy="338554"/>
          </a:xfrm>
          <a:prstGeom prst="rect">
            <a:avLst/>
          </a:prstGeom>
        </p:spPr>
        <p:txBody>
          <a:bodyPr wrap="none">
            <a:spAutoFit/>
          </a:bodyPr>
          <a:lstStyle/>
          <a:p>
            <a:r>
              <a:rPr lang="en-US" sz="1600" b="1" dirty="0">
                <a:latin typeface="Times New Roman" panose="02020603050405020304" pitchFamily="18" charset="0"/>
                <a:cs typeface="Times New Roman" panose="02020603050405020304" pitchFamily="18" charset="0"/>
              </a:rPr>
              <a:t>Figure 7 </a:t>
            </a:r>
            <a:r>
              <a:rPr lang="en-US" sz="1600" b="1" dirty="0" smtClean="0">
                <a:latin typeface="Times New Roman" panose="02020603050405020304" pitchFamily="18" charset="0"/>
                <a:cs typeface="Times New Roman" panose="02020603050405020304" pitchFamily="18" charset="0"/>
              </a:rPr>
              <a:t>CNN based </a:t>
            </a:r>
            <a:r>
              <a:rPr lang="en-US" sz="1600" b="1" dirty="0">
                <a:latin typeface="Times New Roman" panose="02020603050405020304" pitchFamily="18" charset="0"/>
                <a:cs typeface="Times New Roman" panose="02020603050405020304" pitchFamily="18" charset="0"/>
              </a:rPr>
              <a:t>on Classification Report </a:t>
            </a:r>
            <a:endParaRPr lang="en-IN" sz="1600" dirty="0">
              <a:latin typeface="Times New Roman" panose="02020603050405020304" pitchFamily="18" charset="0"/>
              <a:cs typeface="Times New Roman" panose="02020603050405020304" pitchFamily="18" charset="0"/>
            </a:endParaRPr>
          </a:p>
        </p:txBody>
      </p:sp>
      <p:pic>
        <p:nvPicPr>
          <p:cNvPr id="10" name="Picture 9"/>
          <p:cNvPicPr/>
          <p:nvPr/>
        </p:nvPicPr>
        <p:blipFill>
          <a:blip r:embed="rId2"/>
          <a:stretch>
            <a:fillRect/>
          </a:stretch>
        </p:blipFill>
        <p:spPr>
          <a:xfrm>
            <a:off x="606798" y="2496324"/>
            <a:ext cx="4723765" cy="3352165"/>
          </a:xfrm>
          <a:prstGeom prst="rect">
            <a:avLst/>
          </a:prstGeom>
          <a:ln w="88900" cap="sq" cmpd="thickThin">
            <a:solidFill>
              <a:srgbClr val="000000"/>
            </a:solidFill>
            <a:prstDash val="solid"/>
            <a:miter lim="800000"/>
          </a:ln>
          <a:effectLst>
            <a:innerShdw blurRad="76200">
              <a:srgbClr val="000000"/>
            </a:innerShdw>
          </a:effectLst>
        </p:spPr>
      </p:pic>
      <p:pic>
        <p:nvPicPr>
          <p:cNvPr id="11" name="Picture 10"/>
          <p:cNvPicPr/>
          <p:nvPr/>
        </p:nvPicPr>
        <p:blipFill>
          <a:blip r:embed="rId3"/>
          <a:stretch>
            <a:fillRect/>
          </a:stretch>
        </p:blipFill>
        <p:spPr>
          <a:xfrm>
            <a:off x="5764558" y="2510976"/>
            <a:ext cx="5731510" cy="3168650"/>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27874490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SCREENSHOT </a:t>
            </a:r>
            <a:r>
              <a:rPr lang="en-US" sz="3600" b="1" dirty="0" smtClean="0">
                <a:latin typeface="Times New Roman" panose="02020603050405020304" pitchFamily="18" charset="0"/>
                <a:cs typeface="Times New Roman" panose="02020603050405020304" pitchFamily="18" charset="0"/>
              </a:rPr>
              <a:t>5</a:t>
            </a:r>
            <a:endParaRPr lang="en-IN" sz="3600" dirty="0"/>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 name="Rectangle 2"/>
          <p:cNvSpPr/>
          <p:nvPr/>
        </p:nvSpPr>
        <p:spPr>
          <a:xfrm>
            <a:off x="606798" y="1779885"/>
            <a:ext cx="5538856" cy="584775"/>
          </a:xfrm>
          <a:prstGeom prst="rect">
            <a:avLst/>
          </a:prstGeom>
        </p:spPr>
        <p:txBody>
          <a:bodyPr wrap="square">
            <a:spAutoFit/>
          </a:bodyPr>
          <a:lstStyle/>
          <a:p>
            <a:r>
              <a:rPr lang="en-US" sz="1600" b="1" dirty="0">
                <a:latin typeface="Times New Roman" panose="02020603050405020304" pitchFamily="18" charset="0"/>
                <a:cs typeface="Times New Roman" panose="02020603050405020304" pitchFamily="18" charset="0"/>
              </a:rPr>
              <a:t>Figure </a:t>
            </a:r>
            <a:r>
              <a:rPr lang="en-US" sz="1600" b="1" dirty="0" smtClean="0">
                <a:latin typeface="Times New Roman" panose="02020603050405020304" pitchFamily="18" charset="0"/>
                <a:cs typeface="Times New Roman" panose="02020603050405020304" pitchFamily="18" charset="0"/>
              </a:rPr>
              <a:t>8 </a:t>
            </a:r>
            <a:r>
              <a:rPr lang="en-US" sz="1600" b="1" dirty="0" smtClean="0">
                <a:latin typeface="Times New Roman" panose="02020603050405020304" pitchFamily="18" charset="0"/>
                <a:cs typeface="Times New Roman" panose="02020603050405020304" pitchFamily="18" charset="0"/>
              </a:rPr>
              <a:t>CNN according </a:t>
            </a:r>
            <a:r>
              <a:rPr lang="en-US" sz="1600" b="1" dirty="0">
                <a:latin typeface="Times New Roman" panose="02020603050405020304" pitchFamily="18" charset="0"/>
                <a:cs typeface="Times New Roman" panose="02020603050405020304" pitchFamily="18" charset="0"/>
              </a:rPr>
              <a:t>to the test image's prediction </a:t>
            </a:r>
            <a:r>
              <a:rPr lang="en-US" sz="1600" b="1" dirty="0" smtClean="0">
                <a:latin typeface="Times New Roman" panose="02020603050405020304" pitchFamily="18" charset="0"/>
                <a:cs typeface="Times New Roman" panose="02020603050405020304" pitchFamily="18" charset="0"/>
              </a:rPr>
              <a:t>on plant</a:t>
            </a:r>
            <a:endParaRPr lang="en-IN" sz="1600" dirty="0">
              <a:latin typeface="Times New Roman" panose="02020603050405020304" pitchFamily="18" charset="0"/>
              <a:cs typeface="Times New Roman" panose="02020603050405020304" pitchFamily="18" charset="0"/>
            </a:endParaRPr>
          </a:p>
        </p:txBody>
      </p:sp>
      <p:sp>
        <p:nvSpPr>
          <p:cNvPr id="9" name="Rectangle 8"/>
          <p:cNvSpPr/>
          <p:nvPr/>
        </p:nvSpPr>
        <p:spPr>
          <a:xfrm>
            <a:off x="6708890" y="1810152"/>
            <a:ext cx="184731" cy="338554"/>
          </a:xfrm>
          <a:prstGeom prst="rect">
            <a:avLst/>
          </a:prstGeom>
        </p:spPr>
        <p:txBody>
          <a:bodyPr wrap="none">
            <a:spAutoFit/>
          </a:bodyPr>
          <a:lstStyle/>
          <a:p>
            <a:endParaRPr lang="en-US" sz="1600" b="1" dirty="0" smtClean="0">
              <a:latin typeface="Times New Roman" panose="02020603050405020304" pitchFamily="18" charset="0"/>
              <a:cs typeface="Times New Roman" panose="02020603050405020304" pitchFamily="18" charset="0"/>
            </a:endParaRPr>
          </a:p>
        </p:txBody>
      </p:sp>
      <p:pic>
        <p:nvPicPr>
          <p:cNvPr id="8" name="Picture 7"/>
          <p:cNvPicPr/>
          <p:nvPr/>
        </p:nvPicPr>
        <p:blipFill>
          <a:blip r:embed="rId2"/>
          <a:stretch>
            <a:fillRect/>
          </a:stretch>
        </p:blipFill>
        <p:spPr>
          <a:xfrm>
            <a:off x="731744" y="2530489"/>
            <a:ext cx="5731510" cy="3769673"/>
          </a:xfrm>
          <a:prstGeom prst="rect">
            <a:avLst/>
          </a:prstGeom>
          <a:ln w="88900" cap="sq" cmpd="thickThin">
            <a:solidFill>
              <a:srgbClr val="000000"/>
            </a:solidFill>
            <a:prstDash val="solid"/>
            <a:miter lim="800000"/>
          </a:ln>
          <a:effectLst>
            <a:innerShdw blurRad="76200">
              <a:srgbClr val="000000"/>
            </a:innerShdw>
          </a:effectLst>
        </p:spPr>
      </p:pic>
      <p:pic>
        <p:nvPicPr>
          <p:cNvPr id="12" name="Picture 11"/>
          <p:cNvPicPr/>
          <p:nvPr/>
        </p:nvPicPr>
        <p:blipFill>
          <a:blip r:embed="rId3"/>
          <a:stretch>
            <a:fillRect/>
          </a:stretch>
        </p:blipFill>
        <p:spPr>
          <a:xfrm>
            <a:off x="6972300" y="2463013"/>
            <a:ext cx="4381500" cy="3837149"/>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45018343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SCREENSHOT 6</a:t>
            </a:r>
            <a:endParaRPr lang="en-IN" sz="3600" dirty="0"/>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 name="Rectangle 2"/>
          <p:cNvSpPr/>
          <p:nvPr/>
        </p:nvSpPr>
        <p:spPr>
          <a:xfrm>
            <a:off x="606798" y="1779885"/>
            <a:ext cx="5538856" cy="338554"/>
          </a:xfrm>
          <a:prstGeom prst="rect">
            <a:avLst/>
          </a:prstGeom>
        </p:spPr>
        <p:txBody>
          <a:bodyPr wrap="square">
            <a:spAutoFit/>
          </a:bodyPr>
          <a:lstStyle/>
          <a:p>
            <a:r>
              <a:rPr lang="en-US" sz="1600" b="1" dirty="0">
                <a:latin typeface="Times New Roman" panose="02020603050405020304" pitchFamily="18" charset="0"/>
                <a:cs typeface="Times New Roman" panose="02020603050405020304" pitchFamily="18" charset="0"/>
              </a:rPr>
              <a:t>Figure </a:t>
            </a:r>
            <a:r>
              <a:rPr lang="en-US" sz="1600" b="1" dirty="0" smtClean="0">
                <a:latin typeface="Times New Roman" panose="02020603050405020304" pitchFamily="18" charset="0"/>
                <a:cs typeface="Times New Roman" panose="02020603050405020304" pitchFamily="18" charset="0"/>
              </a:rPr>
              <a:t>10 </a:t>
            </a:r>
            <a:r>
              <a:rPr lang="en-US" sz="1600" b="1" dirty="0" err="1" smtClean="0">
                <a:latin typeface="Times New Roman" panose="02020603050405020304" pitchFamily="18" charset="0"/>
                <a:cs typeface="Times New Roman" panose="02020603050405020304" pitchFamily="18" charset="0"/>
              </a:rPr>
              <a:t>CNNaccording</a:t>
            </a:r>
            <a:r>
              <a:rPr lang="en-US" sz="1600" b="1" dirty="0" smtClean="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to </a:t>
            </a:r>
            <a:r>
              <a:rPr lang="en-US" sz="1600" b="1" dirty="0" smtClean="0">
                <a:latin typeface="Times New Roman" panose="02020603050405020304" pitchFamily="18" charset="0"/>
                <a:cs typeface="Times New Roman" panose="02020603050405020304" pitchFamily="18" charset="0"/>
              </a:rPr>
              <a:t>Web page </a:t>
            </a:r>
            <a:endParaRPr lang="en-IN" sz="1600" dirty="0">
              <a:latin typeface="Times New Roman" panose="02020603050405020304" pitchFamily="18" charset="0"/>
              <a:cs typeface="Times New Roman" panose="02020603050405020304" pitchFamily="18" charset="0"/>
            </a:endParaRPr>
          </a:p>
        </p:txBody>
      </p:sp>
      <p:pic>
        <p:nvPicPr>
          <p:cNvPr id="6" name="Picture 5"/>
          <p:cNvPicPr/>
          <p:nvPr/>
        </p:nvPicPr>
        <p:blipFill>
          <a:blip r:embed="rId2"/>
          <a:stretch>
            <a:fillRect/>
          </a:stretch>
        </p:blipFill>
        <p:spPr>
          <a:xfrm>
            <a:off x="2601532" y="2403493"/>
            <a:ext cx="7519321" cy="3513102"/>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25373810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SCREENSHOT </a:t>
            </a:r>
            <a:r>
              <a:rPr lang="en-US" sz="3600" b="1" dirty="0" smtClean="0">
                <a:latin typeface="Times New Roman" panose="02020603050405020304" pitchFamily="18" charset="0"/>
                <a:cs typeface="Times New Roman" panose="02020603050405020304" pitchFamily="18" charset="0"/>
              </a:rPr>
              <a:t>7</a:t>
            </a:r>
            <a:endParaRPr lang="en-IN" sz="3600" dirty="0"/>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 name="Rectangle 2"/>
          <p:cNvSpPr/>
          <p:nvPr/>
        </p:nvSpPr>
        <p:spPr>
          <a:xfrm>
            <a:off x="606798" y="1779885"/>
            <a:ext cx="5538856" cy="338554"/>
          </a:xfrm>
          <a:prstGeom prst="rect">
            <a:avLst/>
          </a:prstGeom>
        </p:spPr>
        <p:txBody>
          <a:bodyPr wrap="square">
            <a:spAutoFit/>
          </a:bodyPr>
          <a:lstStyle/>
          <a:p>
            <a:r>
              <a:rPr lang="en-US" sz="1600" b="1" dirty="0">
                <a:latin typeface="Times New Roman" panose="02020603050405020304" pitchFamily="18" charset="0"/>
                <a:cs typeface="Times New Roman" panose="02020603050405020304" pitchFamily="18" charset="0"/>
              </a:rPr>
              <a:t>Figure </a:t>
            </a:r>
            <a:r>
              <a:rPr lang="en-US" sz="1600" b="1" dirty="0" smtClean="0">
                <a:latin typeface="Times New Roman" panose="02020603050405020304" pitchFamily="18" charset="0"/>
                <a:cs typeface="Times New Roman" panose="02020603050405020304" pitchFamily="18" charset="0"/>
              </a:rPr>
              <a:t>10 </a:t>
            </a:r>
            <a:r>
              <a:rPr lang="en-US" sz="1600" b="1" dirty="0" err="1" smtClean="0">
                <a:latin typeface="Times New Roman" panose="02020603050405020304" pitchFamily="18" charset="0"/>
                <a:cs typeface="Times New Roman" panose="02020603050405020304" pitchFamily="18" charset="0"/>
              </a:rPr>
              <a:t>CNNaccording</a:t>
            </a:r>
            <a:r>
              <a:rPr lang="en-US" sz="1600" b="1" dirty="0" smtClean="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to </a:t>
            </a:r>
            <a:r>
              <a:rPr lang="en-US" sz="1600" b="1" dirty="0" smtClean="0">
                <a:latin typeface="Times New Roman" panose="02020603050405020304" pitchFamily="18" charset="0"/>
                <a:cs typeface="Times New Roman" panose="02020603050405020304" pitchFamily="18" charset="0"/>
              </a:rPr>
              <a:t>Web page </a:t>
            </a:r>
            <a:endParaRPr lang="en-IN" sz="1600" dirty="0">
              <a:latin typeface="Times New Roman" panose="02020603050405020304" pitchFamily="18" charset="0"/>
              <a:cs typeface="Times New Roman" panose="02020603050405020304" pitchFamily="18" charset="0"/>
            </a:endParaRPr>
          </a:p>
        </p:txBody>
      </p:sp>
      <p:pic>
        <p:nvPicPr>
          <p:cNvPr id="7" name="Picture 6"/>
          <p:cNvPicPr/>
          <p:nvPr/>
        </p:nvPicPr>
        <p:blipFill>
          <a:blip r:embed="rId2"/>
          <a:stretch>
            <a:fillRect/>
          </a:stretch>
        </p:blipFill>
        <p:spPr>
          <a:xfrm>
            <a:off x="3230245" y="2422811"/>
            <a:ext cx="5731510" cy="3474466"/>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47310591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smtClean="0">
                <a:latin typeface="Times New Roman" panose="02020603050405020304" pitchFamily="18" charset="0"/>
                <a:cs typeface="Times New Roman" panose="02020603050405020304" pitchFamily="18" charset="0"/>
              </a:rPr>
              <a:t>REFERENCE PAPER </a:t>
            </a:r>
            <a:endParaRPr lang="en-IN" sz="3600" dirty="0"/>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 name="Rectangle 2"/>
          <p:cNvSpPr/>
          <p:nvPr/>
        </p:nvSpPr>
        <p:spPr>
          <a:xfrm>
            <a:off x="356349" y="1569857"/>
            <a:ext cx="11479302" cy="5403402"/>
          </a:xfrm>
          <a:prstGeom prst="rect">
            <a:avLst/>
          </a:prstGeom>
        </p:spPr>
        <p:txBody>
          <a:bodyPr wrap="square">
            <a:spAutoFit/>
          </a:bodyPr>
          <a:lstStyle/>
          <a:p>
            <a:pPr marL="342900" lvl="0" indent="-342900" algn="just">
              <a:lnSpc>
                <a:spcPct val="150000"/>
              </a:lnSpc>
              <a:spcAft>
                <a:spcPts val="0"/>
              </a:spcAft>
              <a:buFont typeface="+mj-lt"/>
              <a:buAutoNum type="arabicPeriod"/>
            </a:pPr>
            <a:r>
              <a:rPr lang="en-IN" dirty="0">
                <a:latin typeface="Times New Roman" panose="02020603050405020304" pitchFamily="18" charset="0"/>
                <a:ea typeface="Times New Roman" panose="02020603050405020304" pitchFamily="18" charset="0"/>
              </a:rPr>
              <a:t>Z. Li et al., “Non-invasive plant disease diagnostics enabled by smartphone-based fingerprinting of leaf volatiles,” Nature Plants, vol. 5, no. 8, pp. 856–866, Aug. 2019. </a:t>
            </a:r>
            <a:endParaRPr lang="en-IN" sz="16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Font typeface="+mj-lt"/>
              <a:buAutoNum type="arabicPeriod"/>
            </a:pPr>
            <a:r>
              <a:rPr lang="en-IN" dirty="0">
                <a:latin typeface="Times New Roman" panose="02020603050405020304" pitchFamily="18" charset="0"/>
                <a:ea typeface="Times New Roman" panose="02020603050405020304" pitchFamily="18" charset="0"/>
              </a:rPr>
              <a:t>G. </a:t>
            </a:r>
            <a:r>
              <a:rPr lang="en-IN" dirty="0" err="1">
                <a:latin typeface="Times New Roman" panose="02020603050405020304" pitchFamily="18" charset="0"/>
                <a:ea typeface="Times New Roman" panose="02020603050405020304" pitchFamily="18" charset="0"/>
              </a:rPr>
              <a:t>Litjens</a:t>
            </a:r>
            <a:r>
              <a:rPr lang="en-IN" dirty="0">
                <a:latin typeface="Times New Roman" panose="02020603050405020304" pitchFamily="18" charset="0"/>
                <a:ea typeface="Times New Roman" panose="02020603050405020304" pitchFamily="18" charset="0"/>
              </a:rPr>
              <a:t> et al., “A survey on deep learning in medical image analysis,” Med. Image Anal., vol. 42, pp. 60–88, Dec. 2017. </a:t>
            </a:r>
            <a:endParaRPr lang="en-IN" sz="16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Font typeface="+mj-lt"/>
              <a:buAutoNum type="arabicPeriod"/>
            </a:pPr>
            <a:r>
              <a:rPr lang="en-IN" dirty="0">
                <a:latin typeface="Times New Roman" panose="02020603050405020304" pitchFamily="18" charset="0"/>
                <a:ea typeface="Times New Roman" panose="02020603050405020304" pitchFamily="18" charset="0"/>
              </a:rPr>
              <a:t>W. Min, S. Jiang, L. Liu, Y. </a:t>
            </a:r>
            <a:r>
              <a:rPr lang="en-IN" dirty="0" err="1">
                <a:latin typeface="Times New Roman" panose="02020603050405020304" pitchFamily="18" charset="0"/>
                <a:ea typeface="Times New Roman" panose="02020603050405020304" pitchFamily="18" charset="0"/>
              </a:rPr>
              <a:t>Rui</a:t>
            </a:r>
            <a:r>
              <a:rPr lang="en-IN" dirty="0">
                <a:latin typeface="Times New Roman" panose="02020603050405020304" pitchFamily="18" charset="0"/>
                <a:ea typeface="Times New Roman" panose="02020603050405020304" pitchFamily="18" charset="0"/>
              </a:rPr>
              <a:t>, and R. Jain, “A survey on food computing,” ACM </a:t>
            </a:r>
            <a:r>
              <a:rPr lang="en-IN" dirty="0" err="1">
                <a:latin typeface="Times New Roman" panose="02020603050405020304" pitchFamily="18" charset="0"/>
                <a:ea typeface="Times New Roman" panose="02020603050405020304" pitchFamily="18" charset="0"/>
              </a:rPr>
              <a:t>Comput</a:t>
            </a:r>
            <a:r>
              <a:rPr lang="en-IN" dirty="0">
                <a:latin typeface="Times New Roman" panose="02020603050405020304" pitchFamily="18" charset="0"/>
                <a:ea typeface="Times New Roman" panose="02020603050405020304" pitchFamily="18" charset="0"/>
              </a:rPr>
              <a:t>. </a:t>
            </a:r>
            <a:r>
              <a:rPr lang="en-IN" dirty="0" err="1">
                <a:latin typeface="Times New Roman" panose="02020603050405020304" pitchFamily="18" charset="0"/>
                <a:ea typeface="Times New Roman" panose="02020603050405020304" pitchFamily="18" charset="0"/>
              </a:rPr>
              <a:t>Surv</a:t>
            </a:r>
            <a:r>
              <a:rPr lang="en-IN" dirty="0">
                <a:latin typeface="Times New Roman" panose="02020603050405020304" pitchFamily="18" charset="0"/>
                <a:ea typeface="Times New Roman" panose="02020603050405020304" pitchFamily="18" charset="0"/>
              </a:rPr>
              <a:t>., vol. 52, no. 5, pp. 92:1–92:36, 2019. </a:t>
            </a:r>
            <a:endParaRPr lang="en-IN" sz="16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Font typeface="+mj-lt"/>
              <a:buAutoNum type="arabicPeriod"/>
            </a:pPr>
            <a:r>
              <a:rPr lang="en-IN" dirty="0">
                <a:latin typeface="Times New Roman" panose="02020603050405020304" pitchFamily="18" charset="0"/>
                <a:ea typeface="Times New Roman" panose="02020603050405020304" pitchFamily="18" charset="0"/>
              </a:rPr>
              <a:t>E. Moen, D. </a:t>
            </a:r>
            <a:r>
              <a:rPr lang="en-IN" dirty="0" err="1">
                <a:latin typeface="Times New Roman" panose="02020603050405020304" pitchFamily="18" charset="0"/>
                <a:ea typeface="Times New Roman" panose="02020603050405020304" pitchFamily="18" charset="0"/>
              </a:rPr>
              <a:t>Bannon</a:t>
            </a:r>
            <a:r>
              <a:rPr lang="en-IN" dirty="0">
                <a:latin typeface="Times New Roman" panose="02020603050405020304" pitchFamily="18" charset="0"/>
                <a:ea typeface="Times New Roman" panose="02020603050405020304" pitchFamily="18" charset="0"/>
              </a:rPr>
              <a:t>, T. </a:t>
            </a:r>
            <a:r>
              <a:rPr lang="en-IN" dirty="0" err="1">
                <a:latin typeface="Times New Roman" panose="02020603050405020304" pitchFamily="18" charset="0"/>
                <a:ea typeface="Times New Roman" panose="02020603050405020304" pitchFamily="18" charset="0"/>
              </a:rPr>
              <a:t>Kudo</a:t>
            </a:r>
            <a:r>
              <a:rPr lang="en-IN" dirty="0">
                <a:latin typeface="Times New Roman" panose="02020603050405020304" pitchFamily="18" charset="0"/>
                <a:ea typeface="Times New Roman" panose="02020603050405020304" pitchFamily="18" charset="0"/>
              </a:rPr>
              <a:t>, W. Graf, M. Covert, and D. Van </a:t>
            </a:r>
            <a:r>
              <a:rPr lang="en-IN" dirty="0" err="1">
                <a:latin typeface="Times New Roman" panose="02020603050405020304" pitchFamily="18" charset="0"/>
                <a:ea typeface="Times New Roman" panose="02020603050405020304" pitchFamily="18" charset="0"/>
              </a:rPr>
              <a:t>Valen</a:t>
            </a:r>
            <a:r>
              <a:rPr lang="en-IN" dirty="0">
                <a:latin typeface="Times New Roman" panose="02020603050405020304" pitchFamily="18" charset="0"/>
                <a:ea typeface="Times New Roman" panose="02020603050405020304" pitchFamily="18" charset="0"/>
              </a:rPr>
              <a:t>, “Deep learning for cellular image analysis,” Nature Methods, vol. 16, no. 12, pp. 1233–1246, 2019. </a:t>
            </a:r>
            <a:endParaRPr lang="en-IN" sz="16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Font typeface="+mj-lt"/>
              <a:buAutoNum type="arabicPeriod"/>
            </a:pPr>
            <a:r>
              <a:rPr lang="en-IN" dirty="0">
                <a:latin typeface="Times New Roman" panose="02020603050405020304" pitchFamily="18" charset="0"/>
                <a:ea typeface="Times New Roman" panose="02020603050405020304" pitchFamily="18" charset="0"/>
              </a:rPr>
              <a:t>A. </a:t>
            </a:r>
            <a:r>
              <a:rPr lang="en-IN" dirty="0" err="1">
                <a:latin typeface="Times New Roman" panose="02020603050405020304" pitchFamily="18" charset="0"/>
                <a:ea typeface="Times New Roman" panose="02020603050405020304" pitchFamily="18" charset="0"/>
              </a:rPr>
              <a:t>Krizhevsky</a:t>
            </a:r>
            <a:r>
              <a:rPr lang="en-IN" dirty="0">
                <a:latin typeface="Times New Roman" panose="02020603050405020304" pitchFamily="18" charset="0"/>
                <a:ea typeface="Times New Roman" panose="02020603050405020304" pitchFamily="18" charset="0"/>
              </a:rPr>
              <a:t>, I. </a:t>
            </a:r>
            <a:r>
              <a:rPr lang="en-IN" dirty="0" err="1">
                <a:latin typeface="Times New Roman" panose="02020603050405020304" pitchFamily="18" charset="0"/>
                <a:ea typeface="Times New Roman" panose="02020603050405020304" pitchFamily="18" charset="0"/>
              </a:rPr>
              <a:t>Sutskever</a:t>
            </a:r>
            <a:r>
              <a:rPr lang="en-IN" dirty="0">
                <a:latin typeface="Times New Roman" panose="02020603050405020304" pitchFamily="18" charset="0"/>
                <a:ea typeface="Times New Roman" panose="02020603050405020304" pitchFamily="18" charset="0"/>
              </a:rPr>
              <a:t>, and G. E. Hinton, “</a:t>
            </a:r>
            <a:r>
              <a:rPr lang="en-IN" dirty="0" err="1">
                <a:latin typeface="Times New Roman" panose="02020603050405020304" pitchFamily="18" charset="0"/>
                <a:ea typeface="Times New Roman" panose="02020603050405020304" pitchFamily="18" charset="0"/>
              </a:rPr>
              <a:t>ImageNet</a:t>
            </a:r>
            <a:r>
              <a:rPr lang="en-IN" dirty="0">
                <a:latin typeface="Times New Roman" panose="02020603050405020304" pitchFamily="18" charset="0"/>
                <a:ea typeface="Times New Roman" panose="02020603050405020304" pitchFamily="18" charset="0"/>
              </a:rPr>
              <a:t> classification with deep convolutional neural networks,” in Proc. Neural Inf. Process. Syst., 2012, pp. 1106–1114. </a:t>
            </a:r>
            <a:endParaRPr lang="en-IN" sz="1600" dirty="0">
              <a:latin typeface="Times New Roman" panose="02020603050405020304" pitchFamily="18" charset="0"/>
              <a:ea typeface="Times New Roman" panose="02020603050405020304" pitchFamily="18" charset="0"/>
            </a:endParaRPr>
          </a:p>
          <a:p>
            <a:pPr marL="342900" lvl="0" indent="-342900" algn="just">
              <a:lnSpc>
                <a:spcPct val="150000"/>
              </a:lnSpc>
              <a:spcAft>
                <a:spcPts val="0"/>
              </a:spcAft>
              <a:buFont typeface="+mj-lt"/>
              <a:buAutoNum type="arabicPeriod"/>
            </a:pPr>
            <a:r>
              <a:rPr lang="en-IN" dirty="0">
                <a:latin typeface="Times New Roman" panose="02020603050405020304" pitchFamily="18" charset="0"/>
                <a:ea typeface="Times New Roman" panose="02020603050405020304" pitchFamily="18" charset="0"/>
              </a:rPr>
              <a:t>A. Bauer et al., “Combining computer vision and deep learning to enable ultra-scale aerial </a:t>
            </a:r>
            <a:r>
              <a:rPr lang="en-IN" dirty="0" err="1">
                <a:latin typeface="Times New Roman" panose="02020603050405020304" pitchFamily="18" charset="0"/>
                <a:ea typeface="Times New Roman" panose="02020603050405020304" pitchFamily="18" charset="0"/>
              </a:rPr>
              <a:t>phenotyping</a:t>
            </a:r>
            <a:r>
              <a:rPr lang="en-IN" dirty="0">
                <a:latin typeface="Times New Roman" panose="02020603050405020304" pitchFamily="18" charset="0"/>
                <a:ea typeface="Times New Roman" panose="02020603050405020304" pitchFamily="18" charset="0"/>
              </a:rPr>
              <a:t> and precision agriculture: A case study of lettuce production,” Horticulture Res., vol. 6, no. 1, pp. 1–12, Dec. 2019. </a:t>
            </a:r>
          </a:p>
          <a:p>
            <a:pPr marL="342900" lvl="0" indent="-342900" algn="just">
              <a:lnSpc>
                <a:spcPct val="150000"/>
              </a:lnSpc>
              <a:spcAft>
                <a:spcPts val="0"/>
              </a:spcAft>
              <a:buFont typeface="+mj-lt"/>
              <a:buAutoNum type="arabicPeriod"/>
            </a:pPr>
            <a:endParaRPr lang="en-IN" sz="16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9003800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smtClean="0">
                <a:latin typeface="Times New Roman" panose="02020603050405020304" pitchFamily="18" charset="0"/>
                <a:cs typeface="Times New Roman" panose="02020603050405020304" pitchFamily="18" charset="0"/>
              </a:rPr>
              <a:t>REFERENCE PAPER </a:t>
            </a:r>
            <a:endParaRPr lang="en-IN" sz="3600" dirty="0"/>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6" name="Rectangle 5"/>
          <p:cNvSpPr/>
          <p:nvPr/>
        </p:nvSpPr>
        <p:spPr>
          <a:xfrm>
            <a:off x="374560" y="1555633"/>
            <a:ext cx="11530818" cy="4849404"/>
          </a:xfrm>
          <a:prstGeom prst="rect">
            <a:avLst/>
          </a:prstGeom>
        </p:spPr>
        <p:txBody>
          <a:bodyPr wrap="square">
            <a:spAutoFit/>
          </a:bodyPr>
          <a:lstStyle/>
          <a:p>
            <a:pPr marL="342900" lvl="0" indent="-342900" algn="just">
              <a:lnSpc>
                <a:spcPct val="150000"/>
              </a:lnSpc>
              <a:spcAft>
                <a:spcPts val="0"/>
              </a:spcAft>
              <a:buFont typeface="Wingdings" panose="05000000000000000000" pitchFamily="2" charset="2"/>
              <a:buChar char=""/>
            </a:pPr>
            <a:r>
              <a:rPr lang="en-IN" sz="1600" dirty="0">
                <a:latin typeface="Times New Roman" panose="02020603050405020304" pitchFamily="18" charset="0"/>
                <a:ea typeface="Times New Roman" panose="02020603050405020304" pitchFamily="18" charset="0"/>
              </a:rPr>
              <a:t>S. </a:t>
            </a:r>
            <a:r>
              <a:rPr lang="en-IN" sz="1600" dirty="0" err="1">
                <a:latin typeface="Times New Roman" panose="02020603050405020304" pitchFamily="18" charset="0"/>
                <a:ea typeface="Times New Roman" panose="02020603050405020304" pitchFamily="18" charset="0"/>
              </a:rPr>
              <a:t>Sladojevic</a:t>
            </a:r>
            <a:r>
              <a:rPr lang="en-IN" sz="1600" dirty="0">
                <a:latin typeface="Times New Roman" panose="02020603050405020304" pitchFamily="18" charset="0"/>
                <a:ea typeface="Times New Roman" panose="02020603050405020304" pitchFamily="18" charset="0"/>
              </a:rPr>
              <a:t>, M. </a:t>
            </a:r>
            <a:r>
              <a:rPr lang="en-IN" sz="1600" dirty="0" err="1">
                <a:latin typeface="Times New Roman" panose="02020603050405020304" pitchFamily="18" charset="0"/>
                <a:ea typeface="Times New Roman" panose="02020603050405020304" pitchFamily="18" charset="0"/>
              </a:rPr>
              <a:t>Arsenovic</a:t>
            </a:r>
            <a:r>
              <a:rPr lang="en-IN" sz="1600" dirty="0">
                <a:latin typeface="Times New Roman" panose="02020603050405020304" pitchFamily="18" charset="0"/>
                <a:ea typeface="Times New Roman" panose="02020603050405020304" pitchFamily="18" charset="0"/>
              </a:rPr>
              <a:t>, A. </a:t>
            </a:r>
            <a:r>
              <a:rPr lang="en-IN" sz="1600" dirty="0" err="1">
                <a:latin typeface="Times New Roman" panose="02020603050405020304" pitchFamily="18" charset="0"/>
                <a:ea typeface="Times New Roman" panose="02020603050405020304" pitchFamily="18" charset="0"/>
              </a:rPr>
              <a:t>Anderla</a:t>
            </a:r>
            <a:r>
              <a:rPr lang="en-IN" sz="1600" dirty="0">
                <a:latin typeface="Times New Roman" panose="02020603050405020304" pitchFamily="18" charset="0"/>
                <a:ea typeface="Times New Roman" panose="02020603050405020304" pitchFamily="18" charset="0"/>
              </a:rPr>
              <a:t>, D. </a:t>
            </a:r>
            <a:r>
              <a:rPr lang="en-IN" sz="1600" dirty="0" err="1">
                <a:latin typeface="Times New Roman" panose="02020603050405020304" pitchFamily="18" charset="0"/>
                <a:ea typeface="Times New Roman" panose="02020603050405020304" pitchFamily="18" charset="0"/>
              </a:rPr>
              <a:t>Culibrk</a:t>
            </a:r>
            <a:r>
              <a:rPr lang="en-IN" sz="1600" dirty="0">
                <a:latin typeface="Times New Roman" panose="02020603050405020304" pitchFamily="18" charset="0"/>
                <a:ea typeface="Times New Roman" panose="02020603050405020304" pitchFamily="18" charset="0"/>
              </a:rPr>
              <a:t>, and D. </a:t>
            </a:r>
            <a:r>
              <a:rPr lang="en-IN" sz="1600" dirty="0" err="1">
                <a:latin typeface="Times New Roman" panose="02020603050405020304" pitchFamily="18" charset="0"/>
                <a:ea typeface="Times New Roman" panose="02020603050405020304" pitchFamily="18" charset="0"/>
              </a:rPr>
              <a:t>Stefanovic</a:t>
            </a:r>
            <a:r>
              <a:rPr lang="en-IN" sz="1600" dirty="0">
                <a:latin typeface="Times New Roman" panose="02020603050405020304" pitchFamily="18" charset="0"/>
                <a:ea typeface="Times New Roman" panose="02020603050405020304" pitchFamily="18" charset="0"/>
              </a:rPr>
              <a:t>, “Deep neural networks based recognition of plant diseases by leaf image classification,” </a:t>
            </a:r>
            <a:r>
              <a:rPr lang="en-IN" sz="1600" dirty="0" err="1">
                <a:latin typeface="Times New Roman" panose="02020603050405020304" pitchFamily="18" charset="0"/>
                <a:ea typeface="Times New Roman" panose="02020603050405020304" pitchFamily="18" charset="0"/>
              </a:rPr>
              <a:t>Comput</a:t>
            </a:r>
            <a:r>
              <a:rPr lang="en-IN" sz="1600" dirty="0">
                <a:latin typeface="Times New Roman" panose="02020603050405020304" pitchFamily="18" charset="0"/>
                <a:ea typeface="Times New Roman" panose="02020603050405020304" pitchFamily="18" charset="0"/>
              </a:rPr>
              <a:t>. </a:t>
            </a:r>
            <a:r>
              <a:rPr lang="en-IN" sz="1600" dirty="0" err="1">
                <a:latin typeface="Times New Roman" panose="02020603050405020304" pitchFamily="18" charset="0"/>
                <a:ea typeface="Times New Roman" panose="02020603050405020304" pitchFamily="18" charset="0"/>
              </a:rPr>
              <a:t>Intell</a:t>
            </a:r>
            <a:r>
              <a:rPr lang="en-IN" sz="1600" dirty="0">
                <a:latin typeface="Times New Roman" panose="02020603050405020304" pitchFamily="18" charset="0"/>
                <a:ea typeface="Times New Roman" panose="02020603050405020304" pitchFamily="18" charset="0"/>
              </a:rPr>
              <a:t>. </a:t>
            </a:r>
            <a:r>
              <a:rPr lang="en-IN" sz="1600" dirty="0" err="1">
                <a:latin typeface="Times New Roman" panose="02020603050405020304" pitchFamily="18" charset="0"/>
                <a:ea typeface="Times New Roman" panose="02020603050405020304" pitchFamily="18" charset="0"/>
              </a:rPr>
              <a:t>Neurosci</a:t>
            </a:r>
            <a:r>
              <a:rPr lang="en-IN" sz="1600" dirty="0">
                <a:latin typeface="Times New Roman" panose="02020603050405020304" pitchFamily="18" charset="0"/>
                <a:ea typeface="Times New Roman" panose="02020603050405020304" pitchFamily="18" charset="0"/>
              </a:rPr>
              <a:t>., vol. 2016, pp. 1–11, May 2016. </a:t>
            </a:r>
          </a:p>
          <a:p>
            <a:pPr marL="342900" lvl="0" indent="-342900" algn="just">
              <a:lnSpc>
                <a:spcPct val="150000"/>
              </a:lnSpc>
              <a:spcAft>
                <a:spcPts val="0"/>
              </a:spcAft>
              <a:buFont typeface="Wingdings" panose="05000000000000000000" pitchFamily="2" charset="2"/>
              <a:buChar char=""/>
            </a:pPr>
            <a:r>
              <a:rPr lang="en-IN" sz="1600" dirty="0">
                <a:latin typeface="Times New Roman" panose="02020603050405020304" pitchFamily="18" charset="0"/>
                <a:ea typeface="Times New Roman" panose="02020603050405020304" pitchFamily="18" charset="0"/>
              </a:rPr>
              <a:t>J. Wang, L. Chen, J. Zhang, Y. Yuan, M. Li, and W. Zeng, “CNN transfer learning for automatic image-based classification of crop disease,” in Image and Graphics Technologies and Applications. Beijing, China: Springer, 2018, pp. 319–329. </a:t>
            </a:r>
          </a:p>
          <a:p>
            <a:pPr marL="342900" lvl="0" indent="-342900" algn="just">
              <a:lnSpc>
                <a:spcPct val="150000"/>
              </a:lnSpc>
              <a:spcAft>
                <a:spcPts val="0"/>
              </a:spcAft>
              <a:buFont typeface="Wingdings" panose="05000000000000000000" pitchFamily="2" charset="2"/>
              <a:buChar char=""/>
            </a:pPr>
            <a:r>
              <a:rPr lang="en-IN" sz="1600" dirty="0">
                <a:latin typeface="Times New Roman" panose="02020603050405020304" pitchFamily="18" charset="0"/>
                <a:ea typeface="Times New Roman" panose="02020603050405020304" pitchFamily="18" charset="0"/>
              </a:rPr>
              <a:t>K. P. </a:t>
            </a:r>
            <a:r>
              <a:rPr lang="en-IN" sz="1600" dirty="0" err="1">
                <a:latin typeface="Times New Roman" panose="02020603050405020304" pitchFamily="18" charset="0"/>
                <a:ea typeface="Times New Roman" panose="02020603050405020304" pitchFamily="18" charset="0"/>
              </a:rPr>
              <a:t>Ferentinos</a:t>
            </a:r>
            <a:r>
              <a:rPr lang="en-IN" sz="1600" dirty="0">
                <a:latin typeface="Times New Roman" panose="02020603050405020304" pitchFamily="18" charset="0"/>
                <a:ea typeface="Times New Roman" panose="02020603050405020304" pitchFamily="18" charset="0"/>
              </a:rPr>
              <a:t>, “Deep learning models for plant disease detection and diagnosis,” </a:t>
            </a:r>
            <a:r>
              <a:rPr lang="en-IN" sz="1600" dirty="0" err="1">
                <a:latin typeface="Times New Roman" panose="02020603050405020304" pitchFamily="18" charset="0"/>
                <a:ea typeface="Times New Roman" panose="02020603050405020304" pitchFamily="18" charset="0"/>
              </a:rPr>
              <a:t>Comput</a:t>
            </a:r>
            <a:r>
              <a:rPr lang="en-IN" sz="1600" dirty="0">
                <a:latin typeface="Times New Roman" panose="02020603050405020304" pitchFamily="18" charset="0"/>
                <a:ea typeface="Times New Roman" panose="02020603050405020304" pitchFamily="18" charset="0"/>
              </a:rPr>
              <a:t>. Electron. </a:t>
            </a:r>
            <a:r>
              <a:rPr lang="en-IN" sz="1600" dirty="0" err="1">
                <a:latin typeface="Times New Roman" panose="02020603050405020304" pitchFamily="18" charset="0"/>
                <a:ea typeface="Times New Roman" panose="02020603050405020304" pitchFamily="18" charset="0"/>
              </a:rPr>
              <a:t>Agricult</a:t>
            </a:r>
            <a:r>
              <a:rPr lang="en-IN" sz="1600" dirty="0">
                <a:latin typeface="Times New Roman" panose="02020603050405020304" pitchFamily="18" charset="0"/>
                <a:ea typeface="Times New Roman" panose="02020603050405020304" pitchFamily="18" charset="0"/>
              </a:rPr>
              <a:t>., vol. 145, pp. 311–318, Feb. 2018. </a:t>
            </a:r>
          </a:p>
          <a:p>
            <a:pPr marL="342900" lvl="0" indent="-342900" algn="just">
              <a:lnSpc>
                <a:spcPct val="150000"/>
              </a:lnSpc>
              <a:spcAft>
                <a:spcPts val="0"/>
              </a:spcAft>
              <a:buFont typeface="Wingdings" panose="05000000000000000000" pitchFamily="2" charset="2"/>
              <a:buChar char=""/>
            </a:pPr>
            <a:r>
              <a:rPr lang="en-IN" sz="1600" dirty="0">
                <a:latin typeface="Times New Roman" panose="02020603050405020304" pitchFamily="18" charset="0"/>
                <a:ea typeface="Times New Roman" panose="02020603050405020304" pitchFamily="18" charset="0"/>
              </a:rPr>
              <a:t>G. Wang, Y. Sun, and J. Wang, “Automatic image-based plant disease severity estimation using deep learning,” </a:t>
            </a:r>
            <a:r>
              <a:rPr lang="en-IN" sz="1600" dirty="0" err="1">
                <a:latin typeface="Times New Roman" panose="02020603050405020304" pitchFamily="18" charset="0"/>
                <a:ea typeface="Times New Roman" panose="02020603050405020304" pitchFamily="18" charset="0"/>
              </a:rPr>
              <a:t>Comput</a:t>
            </a:r>
            <a:r>
              <a:rPr lang="en-IN" sz="1600" dirty="0">
                <a:latin typeface="Times New Roman" panose="02020603050405020304" pitchFamily="18" charset="0"/>
                <a:ea typeface="Times New Roman" panose="02020603050405020304" pitchFamily="18" charset="0"/>
              </a:rPr>
              <a:t>. </a:t>
            </a:r>
            <a:r>
              <a:rPr lang="en-IN" sz="1600" dirty="0" err="1">
                <a:latin typeface="Times New Roman" panose="02020603050405020304" pitchFamily="18" charset="0"/>
                <a:ea typeface="Times New Roman" panose="02020603050405020304" pitchFamily="18" charset="0"/>
              </a:rPr>
              <a:t>Intell</a:t>
            </a:r>
            <a:r>
              <a:rPr lang="en-IN" sz="1600" dirty="0">
                <a:latin typeface="Times New Roman" panose="02020603050405020304" pitchFamily="18" charset="0"/>
                <a:ea typeface="Times New Roman" panose="02020603050405020304" pitchFamily="18" charset="0"/>
              </a:rPr>
              <a:t>. </a:t>
            </a:r>
            <a:r>
              <a:rPr lang="en-IN" sz="1600" dirty="0" err="1">
                <a:latin typeface="Times New Roman" panose="02020603050405020304" pitchFamily="18" charset="0"/>
                <a:ea typeface="Times New Roman" panose="02020603050405020304" pitchFamily="18" charset="0"/>
              </a:rPr>
              <a:t>Neurosci</a:t>
            </a:r>
            <a:r>
              <a:rPr lang="en-IN" sz="1600" dirty="0">
                <a:latin typeface="Times New Roman" panose="02020603050405020304" pitchFamily="18" charset="0"/>
                <a:ea typeface="Times New Roman" panose="02020603050405020304" pitchFamily="18" charset="0"/>
              </a:rPr>
              <a:t>., vol. 2017, pp. 1–8, Jul. 2017. </a:t>
            </a:r>
          </a:p>
          <a:p>
            <a:pPr marL="342900" lvl="0" indent="-342900" algn="just">
              <a:lnSpc>
                <a:spcPct val="150000"/>
              </a:lnSpc>
              <a:spcAft>
                <a:spcPts val="0"/>
              </a:spcAft>
              <a:buFont typeface="Wingdings" panose="05000000000000000000" pitchFamily="2" charset="2"/>
              <a:buChar char=""/>
            </a:pPr>
            <a:r>
              <a:rPr lang="en-IN" sz="1600" dirty="0">
                <a:latin typeface="Times New Roman" panose="02020603050405020304" pitchFamily="18" charset="0"/>
                <a:ea typeface="Times New Roman" panose="02020603050405020304" pitchFamily="18" charset="0"/>
              </a:rPr>
              <a:t>M. </a:t>
            </a:r>
            <a:r>
              <a:rPr lang="en-IN" sz="1600" dirty="0" err="1">
                <a:latin typeface="Times New Roman" panose="02020603050405020304" pitchFamily="18" charset="0"/>
                <a:ea typeface="Times New Roman" panose="02020603050405020304" pitchFamily="18" charset="0"/>
              </a:rPr>
              <a:t>RuBwurm</a:t>
            </a:r>
            <a:r>
              <a:rPr lang="en-IN" sz="1600" dirty="0">
                <a:latin typeface="Times New Roman" panose="02020603050405020304" pitchFamily="18" charset="0"/>
                <a:ea typeface="Times New Roman" panose="02020603050405020304" pitchFamily="18" charset="0"/>
              </a:rPr>
              <a:t> and M. </a:t>
            </a:r>
            <a:r>
              <a:rPr lang="en-IN" sz="1600" dirty="0" err="1">
                <a:latin typeface="Times New Roman" panose="02020603050405020304" pitchFamily="18" charset="0"/>
                <a:ea typeface="Times New Roman" panose="02020603050405020304" pitchFamily="18" charset="0"/>
              </a:rPr>
              <a:t>Korner</a:t>
            </a:r>
            <a:r>
              <a:rPr lang="en-IN" sz="1600" dirty="0">
                <a:latin typeface="Times New Roman" panose="02020603050405020304" pitchFamily="18" charset="0"/>
                <a:ea typeface="Times New Roman" panose="02020603050405020304" pitchFamily="18" charset="0"/>
              </a:rPr>
              <a:t>, “Temporal vegetation modelling using long short-term memory networks for crop identification from </a:t>
            </a:r>
            <a:r>
              <a:rPr lang="en-IN" sz="1600" dirty="0" err="1">
                <a:latin typeface="Times New Roman" panose="02020603050405020304" pitchFamily="18" charset="0"/>
                <a:ea typeface="Times New Roman" panose="02020603050405020304" pitchFamily="18" charset="0"/>
              </a:rPr>
              <a:t>mediumresolution</a:t>
            </a:r>
            <a:r>
              <a:rPr lang="en-IN" sz="1600" dirty="0">
                <a:latin typeface="Times New Roman" panose="02020603050405020304" pitchFamily="18" charset="0"/>
                <a:ea typeface="Times New Roman" panose="02020603050405020304" pitchFamily="18" charset="0"/>
              </a:rPr>
              <a:t> multi-spectral satellite images,” in Proc. IEEE Conf. </a:t>
            </a:r>
            <a:r>
              <a:rPr lang="en-IN" sz="1600" dirty="0" err="1">
                <a:latin typeface="Times New Roman" panose="02020603050405020304" pitchFamily="18" charset="0"/>
                <a:ea typeface="Times New Roman" panose="02020603050405020304" pitchFamily="18" charset="0"/>
              </a:rPr>
              <a:t>Comput</a:t>
            </a:r>
            <a:r>
              <a:rPr lang="en-IN" sz="1600" dirty="0">
                <a:latin typeface="Times New Roman" panose="02020603050405020304" pitchFamily="18" charset="0"/>
                <a:ea typeface="Times New Roman" panose="02020603050405020304" pitchFamily="18" charset="0"/>
              </a:rPr>
              <a:t>. Vis. Pattern </a:t>
            </a:r>
            <a:r>
              <a:rPr lang="en-IN" sz="1600" dirty="0" err="1">
                <a:latin typeface="Times New Roman" panose="02020603050405020304" pitchFamily="18" charset="0"/>
                <a:ea typeface="Times New Roman" panose="02020603050405020304" pitchFamily="18" charset="0"/>
              </a:rPr>
              <a:t>Recognit</a:t>
            </a:r>
            <a:r>
              <a:rPr lang="en-IN" sz="1600" dirty="0">
                <a:latin typeface="Times New Roman" panose="02020603050405020304" pitchFamily="18" charset="0"/>
                <a:ea typeface="Times New Roman" panose="02020603050405020304" pitchFamily="18" charset="0"/>
              </a:rPr>
              <a:t>. Workshops (CVPRW), Jul. 2017, pp. 11–19. </a:t>
            </a:r>
          </a:p>
          <a:p>
            <a:pPr marL="342900" lvl="0" indent="-342900" algn="just">
              <a:lnSpc>
                <a:spcPct val="150000"/>
              </a:lnSpc>
              <a:spcAft>
                <a:spcPts val="0"/>
              </a:spcAft>
              <a:buFont typeface="Wingdings" panose="05000000000000000000" pitchFamily="2" charset="2"/>
              <a:buChar char=""/>
            </a:pPr>
            <a:r>
              <a:rPr lang="en-IN" sz="1600" dirty="0">
                <a:latin typeface="Times New Roman" panose="02020603050405020304" pitchFamily="18" charset="0"/>
                <a:ea typeface="Times New Roman" panose="02020603050405020304" pitchFamily="18" charset="0"/>
              </a:rPr>
              <a:t>M. </a:t>
            </a:r>
            <a:r>
              <a:rPr lang="en-IN" sz="1600" dirty="0" err="1">
                <a:latin typeface="Times New Roman" panose="02020603050405020304" pitchFamily="18" charset="0"/>
                <a:ea typeface="Times New Roman" panose="02020603050405020304" pitchFamily="18" charset="0"/>
              </a:rPr>
              <a:t>Brahimi</a:t>
            </a:r>
            <a:r>
              <a:rPr lang="en-IN" sz="1600" dirty="0">
                <a:latin typeface="Times New Roman" panose="02020603050405020304" pitchFamily="18" charset="0"/>
                <a:ea typeface="Times New Roman" panose="02020603050405020304" pitchFamily="18" charset="0"/>
              </a:rPr>
              <a:t>, M. </a:t>
            </a:r>
            <a:r>
              <a:rPr lang="en-IN" sz="1600" dirty="0" err="1">
                <a:latin typeface="Times New Roman" panose="02020603050405020304" pitchFamily="18" charset="0"/>
                <a:ea typeface="Times New Roman" panose="02020603050405020304" pitchFamily="18" charset="0"/>
              </a:rPr>
              <a:t>Arsenovic</a:t>
            </a:r>
            <a:r>
              <a:rPr lang="en-IN" sz="1600" dirty="0">
                <a:latin typeface="Times New Roman" panose="02020603050405020304" pitchFamily="18" charset="0"/>
                <a:ea typeface="Times New Roman" panose="02020603050405020304" pitchFamily="18" charset="0"/>
              </a:rPr>
              <a:t>, S. </a:t>
            </a:r>
            <a:r>
              <a:rPr lang="en-IN" sz="1600" dirty="0" err="1">
                <a:latin typeface="Times New Roman" panose="02020603050405020304" pitchFamily="18" charset="0"/>
                <a:ea typeface="Times New Roman" panose="02020603050405020304" pitchFamily="18" charset="0"/>
              </a:rPr>
              <a:t>Laraba</a:t>
            </a:r>
            <a:r>
              <a:rPr lang="en-IN" sz="1600" dirty="0">
                <a:latin typeface="Times New Roman" panose="02020603050405020304" pitchFamily="18" charset="0"/>
                <a:ea typeface="Times New Roman" panose="02020603050405020304" pitchFamily="18" charset="0"/>
              </a:rPr>
              <a:t>, S. </a:t>
            </a:r>
            <a:r>
              <a:rPr lang="en-IN" sz="1600" dirty="0" err="1">
                <a:latin typeface="Times New Roman" panose="02020603050405020304" pitchFamily="18" charset="0"/>
                <a:ea typeface="Times New Roman" panose="02020603050405020304" pitchFamily="18" charset="0"/>
              </a:rPr>
              <a:t>Sladojevic</a:t>
            </a:r>
            <a:r>
              <a:rPr lang="en-IN" sz="1600" dirty="0">
                <a:latin typeface="Times New Roman" panose="02020603050405020304" pitchFamily="18" charset="0"/>
                <a:ea typeface="Times New Roman" panose="02020603050405020304" pitchFamily="18" charset="0"/>
              </a:rPr>
              <a:t>, K. </a:t>
            </a:r>
            <a:r>
              <a:rPr lang="en-IN" sz="1600" dirty="0" err="1">
                <a:latin typeface="Times New Roman" panose="02020603050405020304" pitchFamily="18" charset="0"/>
                <a:ea typeface="Times New Roman" panose="02020603050405020304" pitchFamily="18" charset="0"/>
              </a:rPr>
              <a:t>Boukhalfa</a:t>
            </a:r>
            <a:r>
              <a:rPr lang="en-IN" sz="1600" dirty="0">
                <a:latin typeface="Times New Roman" panose="02020603050405020304" pitchFamily="18" charset="0"/>
                <a:ea typeface="Times New Roman" panose="02020603050405020304" pitchFamily="18" charset="0"/>
              </a:rPr>
              <a:t>, and A. Moussaoui, “Deep learning for plant diseases: Detection and saliency map visualisation,” in Human and Machine Learning. Cham, Switzerland: Springer, 2018, pp. 93–117. </a:t>
            </a:r>
            <a:endParaRPr lang="en-IN" sz="16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50364370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75731"/>
            <a:ext cx="10515600" cy="1325563"/>
          </a:xfrm>
        </p:spPr>
        <p:txBody>
          <a:bodyPr>
            <a:normAutofit/>
          </a:bodyPr>
          <a:lstStyle/>
          <a:p>
            <a:pPr algn="ctr"/>
            <a:r>
              <a:rPr lang="en-US" sz="5200" b="1" i="1"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Thank You…</a:t>
            </a:r>
            <a:endParaRPr lang="en-IN" sz="52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59763445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1123</TotalTime>
  <Words>3343</Words>
  <Application>Microsoft Office PowerPoint</Application>
  <PresentationFormat>Widescreen</PresentationFormat>
  <Paragraphs>327</Paragraphs>
  <Slides>50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50</vt:i4>
      </vt:variant>
    </vt:vector>
  </HeadingPairs>
  <TitlesOfParts>
    <vt:vector size="57" baseType="lpstr">
      <vt:lpstr>Arial</vt:lpstr>
      <vt:lpstr>Calibri</vt:lpstr>
      <vt:lpstr>Calibri Light</vt:lpstr>
      <vt:lpstr>Tahoma</vt:lpstr>
      <vt:lpstr>Times New Roman</vt:lpstr>
      <vt:lpstr>Wingdings</vt:lpstr>
      <vt:lpstr>Office Theme</vt:lpstr>
      <vt:lpstr>MEDICINAL PLANT IDENTIFICATION USING YOLOV8</vt:lpstr>
      <vt:lpstr>PowerPoint Presentation</vt:lpstr>
      <vt:lpstr>ABSTRACT</vt:lpstr>
      <vt:lpstr>DOMAIN INTRODUCTION </vt:lpstr>
      <vt:lpstr>INTRODUCTION </vt:lpstr>
      <vt:lpstr>OBJECTIVES</vt:lpstr>
      <vt:lpstr>PROBLEM STATEMENT </vt:lpstr>
      <vt:lpstr>SCOPE OF PROJECT </vt:lpstr>
      <vt:lpstr>ALGORITHM </vt:lpstr>
      <vt:lpstr>EXISTING SYSTEM </vt:lpstr>
      <vt:lpstr>DISADVANTAGE </vt:lpstr>
      <vt:lpstr>PROPOSED SYSTEM </vt:lpstr>
      <vt:lpstr>ADVANTAGE </vt:lpstr>
      <vt:lpstr>LITERATURE SURVEY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SYSTEM  ARCHITECTURE </vt:lpstr>
      <vt:lpstr>FLOWCHART</vt:lpstr>
      <vt:lpstr>USECASE- DIAGRAM </vt:lpstr>
      <vt:lpstr>ER ARCHITECTURE </vt:lpstr>
      <vt:lpstr>PowerPoint Presentation</vt:lpstr>
      <vt:lpstr>SYSTEM REQUIREMENT </vt:lpstr>
      <vt:lpstr>MODULES</vt:lpstr>
      <vt:lpstr>IMAGE SELECTION AND LOADING </vt:lpstr>
      <vt:lpstr>DATA PREPROCESSING</vt:lpstr>
      <vt:lpstr>SPLITTING DATASET INTO TRAIN AND TEST DATA</vt:lpstr>
      <vt:lpstr>CLASSIFICATION</vt:lpstr>
      <vt:lpstr>CNNALGORITHM </vt:lpstr>
      <vt:lpstr>PREDICTION </vt:lpstr>
      <vt:lpstr>PERFORMANCE ANALYSIS </vt:lpstr>
      <vt:lpstr>SYSTEM REQUIREMENT </vt:lpstr>
      <vt:lpstr>CONCLUSION </vt:lpstr>
      <vt:lpstr>FUTURE ENCHANCEMENT </vt:lpstr>
      <vt:lpstr>SAMPLE CODE </vt:lpstr>
      <vt:lpstr>SCREENSHOT 1</vt:lpstr>
      <vt:lpstr>SCREENSHOT 2</vt:lpstr>
      <vt:lpstr>SCREENSHOT 3</vt:lpstr>
      <vt:lpstr>SCREENSHOT 4</vt:lpstr>
      <vt:lpstr>SCREENSHOT 5</vt:lpstr>
      <vt:lpstr>SCREENSHOT 5</vt:lpstr>
      <vt:lpstr>SCREENSHOT 6</vt:lpstr>
      <vt:lpstr>SCREENSHOT 7</vt:lpstr>
      <vt:lpstr>REFERENCE PAPER </vt:lpstr>
      <vt:lpstr>REFERENCE PAPER </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new method for flow-based network intrusion detection using the inverse Potts model </dc:title>
  <dc:creator>EGC</dc:creator>
  <cp:lastModifiedBy>Microsoft account</cp:lastModifiedBy>
  <cp:revision>183</cp:revision>
  <dcterms:created xsi:type="dcterms:W3CDTF">2021-12-17T07:36:29Z</dcterms:created>
  <dcterms:modified xsi:type="dcterms:W3CDTF">2024-07-04T07:24:48Z</dcterms:modified>
</cp:coreProperties>
</file>